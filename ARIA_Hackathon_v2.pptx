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id="{cf833bfa-c1c4-f883-1b5a-cceade1d31e2}">
          <p14:sldIdLst>
            <p14:sldId id="256"/>
          </p14:sldIdLst>
        </p14:section>
        <p14:section name="Architecture" id="{185bde9e-03b5-fe69-9ef6-039c8e1c42bc}">
          <p14:sldIdLst>
            <p14:sldId id="257"/>
            <p14:sldId id="258"/>
          </p14:sldIdLst>
        </p14:section>
        <p14:section name="Scenarios" id="{969f7887-a9fd-072f-24cd-dd20d5008612}">
          <p14:sldIdLst>
            <p14:sldId id="259"/>
            <p14:sldId id="260"/>
            <p14:sldId id="261"/>
            <p14:sldId id="262"/>
            <p14:sldId id="263"/>
            <p14:sldId id="264"/>
            <p14:sldId id="265"/>
            <p14:sldId id="266"/>
            <p14:sldId id="267"/>
          </p14:sldIdLst>
        </p14:section>
        <p14:section name="Value" id="{bdcd189c-6b61-b881-3029-c31f1dae4eef}">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diagnosis time, not repair time, dominates many stops. ARIA is a voice copilot: the worker talks, ARIA does the investigative work with real tools and tells them the next safe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GPT-Live handles the conversation and decides when to delegate. Back: ARIA's agent on the OpenAI Agents SDK calls typed tools. Knowledge comes from RAG over manuals and a temporal knowledge base. The right image is the evaluation harness we use to compare ARIA with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work is done by gpt-5.6-terra inside the ARIA agent; the lighter steps use gpt-5.6-luna; GPT-Live handles the voice and delegates.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'Searching manuals' line as it appears. Stress that the answer is cited and grounded in the PDF the plant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OpenAI's temporal agents cookbook: statements are classified and given validity windows, so ARIA can say what is true now and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'yet': the temporal KB knows the bracket was ordered but not fitted. That's the difference between a search index and a memory of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ARIA credible: the language model never invents a test result. A deterministic engine updates beliefs from real tool outputs, chooses the next test, enforces permissions and decides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tool lines as they stream. Then the safety moment: ARIA refuses to restart and offers the safe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cards ARIA can render. They appear only when the worker asks, or when they are part of the work the worker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investigation visual mid-troubleshooting to show hypotheses and the stop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GPT-Live call as lanes, like OpenAI's own diagrams. The backend lane is asynchronous work; audio keeps flowing in both directions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 ARIA mid-investigation on purpose. Show that it acknowledges, keeps working and uses the new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claims honest: quote only numbers from an evaluation run you executed. The value levers are diagnosis time, wasted tests, safety and knowledge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118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lstStyle>
            <a:lvl1pPr indent="0" marL="0">
              <a:buNone/>
              <a:defRPr lang="en-US" sz="1800" dirty="0">
                <a:solidFill>
                  <a:srgbClr val="CBD5E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ARIA · OpenAI hackathon · simulated plant data</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nchor="t"/>
          <a:lstStyle/>
          <a:p>
            <a:pPr algn="l" indent="0" marL="0">
              <a:buNone/>
            </a:pPr>
            <a:r>
              <a:rPr lang="en-US" sz="4000" b="1" dirty="0">
                <a:solidFill>
                  <a:schemeClr val="bg1"/>
                </a:solidFill>
              </a:rPr>
              <a:t>ARIA — the industrial voice copilot</a:t>
            </a: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nchor="t"/>
          <a:lstStyle/>
          <a:p>
            <a:pPr indent="0" marL="0">
              <a:buNone/>
            </a:pPr>
            <a:r>
              <a:rPr lang="en-US" sz="1800" dirty="0">
                <a:solidFill>
                  <a:srgbClr val="CBD5E1"/>
                </a:solidFill>
              </a:rPr>
              <a:t>A worker calls ARIA hands-free. It answers from manuals and line history, and troubleshoots stops live — powered by OpenAI GPT-Live, reasoning and tools.</a:t>
            </a:r>
            <a:endParaRPr lang="en-US" sz="1800" dirty="0"/>
          </a:p>
        </p:txBody>
      </p:sp>
      <p:sp>
        <p:nvSpPr>
          <p:cNvPr id="4" name="card-1"/>
          <p:cNvSpPr/>
          <p:nvPr/>
        </p:nvSpPr>
        <p:spPr>
          <a:xfrm>
            <a:off x="548640" y="2514600"/>
            <a:ext cx="3520440" cy="3017520"/>
          </a:xfrm>
          <a:prstGeom prst="roundRect">
            <a:avLst>
              <a:gd name="adj" fmla="val 3636"/>
            </a:avLst>
          </a:prstGeom>
          <a:solidFill>
            <a:srgbClr val="1F2937"/>
          </a:solidFill>
          <a:ln w="12700">
            <a:solidFill>
              <a:srgbClr val="1F2937"/>
            </a:solidFill>
            <a:prstDash val="solid"/>
          </a:ln>
        </p:spPr>
      </p:sp>
      <p:sp>
        <p:nvSpPr>
          <p:cNvPr id="5" name="dot-2"/>
          <p:cNvSpPr/>
          <p:nvPr/>
        </p:nvSpPr>
        <p:spPr>
          <a:xfrm>
            <a:off x="822960" y="2788920"/>
            <a:ext cx="384048" cy="384048"/>
          </a:xfrm>
          <a:prstGeom prst="ellipse">
            <a:avLst/>
          </a:prstGeom>
          <a:solidFill>
            <a:srgbClr val="F59E0B"/>
          </a:solidFill>
          <a:ln w="12700">
            <a:solidFill>
              <a:srgbClr val="F59E0B"/>
            </a:solidFill>
            <a:prstDash val="solid"/>
          </a:ln>
        </p:spPr>
      </p:sp>
      <p:sp>
        <p:nvSpPr>
          <p:cNvPr id="6" name="text-3"/>
          <p:cNvSpPr txBox="1"/>
          <p:nvPr/>
        </p:nvSpPr>
        <p:spPr>
          <a:xfrm>
            <a:off x="132588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The problem</a:t>
            </a:r>
            <a:endParaRPr lang="en-US" sz="2000" dirty="0"/>
          </a:p>
        </p:txBody>
      </p:sp>
      <p:sp>
        <p:nvSpPr>
          <p:cNvPr id="7" name="text-4"/>
          <p:cNvSpPr txBox="1"/>
          <p:nvPr/>
        </p:nvSpPr>
        <p:spPr>
          <a:xfrm>
            <a:off x="77724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A stopped cell is easy to see and hard to diagnose. Technicians correlate alarms, PLC signals, manuals and old incident notes before touching anything. That search is downtime, and the knowledge sits in a few experts' heads.</a:t>
            </a:r>
            <a:endParaRPr lang="en-US" sz="1400" dirty="0"/>
          </a:p>
        </p:txBody>
      </p:sp>
      <p:sp>
        <p:nvSpPr>
          <p:cNvPr id="8" name="card-5"/>
          <p:cNvSpPr/>
          <p:nvPr/>
        </p:nvSpPr>
        <p:spPr>
          <a:xfrm>
            <a:off x="4297680" y="2514600"/>
            <a:ext cx="3520440" cy="3017520"/>
          </a:xfrm>
          <a:prstGeom prst="roundRect">
            <a:avLst>
              <a:gd name="adj" fmla="val 3636"/>
            </a:avLst>
          </a:prstGeom>
          <a:solidFill>
            <a:srgbClr val="1F2937"/>
          </a:solidFill>
          <a:ln w="12700">
            <a:solidFill>
              <a:srgbClr val="1F2937"/>
            </a:solidFill>
            <a:prstDash val="solid"/>
          </a:ln>
        </p:spPr>
      </p:sp>
      <p:sp>
        <p:nvSpPr>
          <p:cNvPr id="9" name="dot-6"/>
          <p:cNvSpPr/>
          <p:nvPr/>
        </p:nvSpPr>
        <p:spPr>
          <a:xfrm>
            <a:off x="4572000" y="2788920"/>
            <a:ext cx="384048" cy="384048"/>
          </a:xfrm>
          <a:prstGeom prst="ellipse">
            <a:avLst/>
          </a:prstGeom>
          <a:solidFill>
            <a:srgbClr val="2563EB"/>
          </a:solidFill>
          <a:ln w="12700">
            <a:solidFill>
              <a:srgbClr val="2563EB"/>
            </a:solidFill>
            <a:prstDash val="solid"/>
          </a:ln>
        </p:spPr>
      </p:sp>
      <p:sp>
        <p:nvSpPr>
          <p:cNvPr id="10" name="text-7"/>
          <p:cNvSpPr txBox="1"/>
          <p:nvPr/>
        </p:nvSpPr>
        <p:spPr>
          <a:xfrm>
            <a:off x="507492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What ARIA does</a:t>
            </a:r>
            <a:endParaRPr lang="en-US" sz="2000" dirty="0"/>
          </a:p>
        </p:txBody>
      </p:sp>
      <p:sp>
        <p:nvSpPr>
          <p:cNvPr id="11" name="text-8"/>
          <p:cNvSpPr txBox="1"/>
          <p:nvPr/>
        </p:nvSpPr>
        <p:spPr>
          <a:xfrm>
            <a:off x="452628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Answers questions from manuals (RAG) and the line's time-aware incident history. When something breaks, it reads the machine, ranks causes, runs only permitted tests, verifies its report, and speaks the next safe action — while the worker keeps talking.</a:t>
            </a:r>
            <a:endParaRPr lang="en-US" sz="1400" dirty="0"/>
          </a:p>
        </p:txBody>
      </p:sp>
      <p:sp>
        <p:nvSpPr>
          <p:cNvPr id="12" name="card-9"/>
          <p:cNvSpPr/>
          <p:nvPr/>
        </p:nvSpPr>
        <p:spPr>
          <a:xfrm>
            <a:off x="8046720" y="2514600"/>
            <a:ext cx="3520440" cy="3017520"/>
          </a:xfrm>
          <a:prstGeom prst="roundRect">
            <a:avLst>
              <a:gd name="adj" fmla="val 3636"/>
            </a:avLst>
          </a:prstGeom>
          <a:solidFill>
            <a:srgbClr val="1F2937"/>
          </a:solidFill>
          <a:ln w="12700">
            <a:solidFill>
              <a:srgbClr val="1F2937"/>
            </a:solidFill>
            <a:prstDash val="solid"/>
          </a:ln>
        </p:spPr>
      </p:sp>
      <p:sp>
        <p:nvSpPr>
          <p:cNvPr id="13" name="dot-10"/>
          <p:cNvSpPr/>
          <p:nvPr/>
        </p:nvSpPr>
        <p:spPr>
          <a:xfrm>
            <a:off x="8321040" y="2788920"/>
            <a:ext cx="384048" cy="384048"/>
          </a:xfrm>
          <a:prstGeom prst="ellipse">
            <a:avLst/>
          </a:prstGeom>
          <a:solidFill>
            <a:srgbClr val="10B981"/>
          </a:solidFill>
          <a:ln w="12700">
            <a:solidFill>
              <a:srgbClr val="10B981"/>
            </a:solidFill>
            <a:prstDash val="solid"/>
          </a:ln>
        </p:spPr>
      </p:sp>
      <p:sp>
        <p:nvSpPr>
          <p:cNvPr id="14" name="text-11"/>
          <p:cNvSpPr txBox="1"/>
          <p:nvPr/>
        </p:nvSpPr>
        <p:spPr>
          <a:xfrm>
            <a:off x="882396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Business outcome</a:t>
            </a:r>
            <a:endParaRPr lang="en-US" sz="2000" dirty="0"/>
          </a:p>
        </p:txBody>
      </p:sp>
      <p:sp>
        <p:nvSpPr>
          <p:cNvPr id="15" name="text-12"/>
          <p:cNvSpPr txBox="1"/>
          <p:nvPr/>
        </p:nvSpPr>
        <p:spPr>
          <a:xfrm>
            <a:off x="827532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Shorter time to diagnosis, fewer unnecessary tests, no unsafe remote actions, and every fix written back so the next shift starts smarter.</a:t>
            </a:r>
            <a:endParaRPr lang="en-US" sz="1400" dirty="0"/>
          </a:p>
        </p:txBody>
      </p:sp>
      <p:sp>
        <p:nvSpPr>
          <p:cNvPr id="16" name="text-13"/>
          <p:cNvSpPr txBox="1"/>
          <p:nvPr/>
        </p:nvSpPr>
        <p:spPr>
          <a:xfrm>
            <a:off x="548640" y="6035040"/>
            <a:ext cx="11064240" cy="411480"/>
          </a:xfrm>
          <a:prstGeom prst="rect">
            <a:avLst/>
          </a:prstGeom>
          <a:noFill/>
          <a:ln/>
        </p:spPr>
        <p:txBody>
          <a:bodyPr wrap="square" lIns="1016" tIns="1016" rIns="1016" bIns="1016" rtlCol="0" anchor="t"/>
          <a:lstStyle/>
          <a:p>
            <a:pPr algn="l" indent="0" marL="0">
              <a:buNone/>
            </a:pPr>
            <a:r>
              <a:rPr lang="en-US" sz="1200" dirty="0">
                <a:solidFill>
                  <a:srgbClr val="94A3B8"/>
                </a:solidFill>
              </a:rPr>
              <a:t>Use case: end-of-line robotic palletizing cell PAL-01 on a packaging line. Machine data, history and CMMS are simulated; voice, reasoning and tool calls are real.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Built on OpenAI</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GPT-Live in front, a reasoning agent with tools behind</a:t>
            </a:r>
            <a:endParaRPr lang="en-US" sz="3000" dirty="0"/>
          </a:p>
        </p:txBody>
      </p:sp>
      <p:sp>
        <p:nvSpPr>
          <p:cNvPr id="4" name="card-14"/>
          <p:cNvSpPr/>
          <p:nvPr/>
        </p:nvSpPr>
        <p:spPr>
          <a:xfrm>
            <a:off x="548640" y="1554480"/>
            <a:ext cx="5760720" cy="868680"/>
          </a:xfrm>
          <a:prstGeom prst="roundRect">
            <a:avLst>
              <a:gd name="adj" fmla="val 12632"/>
            </a:avLst>
          </a:prstGeom>
          <a:solidFill>
            <a:srgbClr val="FEF3C7"/>
          </a:solidFill>
          <a:ln w="12700">
            <a:solidFill>
              <a:srgbClr val="FEF3C7"/>
            </a:solidFill>
            <a:prstDash val="solid"/>
          </a:ln>
        </p:spPr>
      </p:sp>
      <p:sp>
        <p:nvSpPr>
          <p:cNvPr id="5" name="text-15"/>
          <p:cNvSpPr txBox="1"/>
          <p:nvPr/>
        </p:nvSpPr>
        <p:spPr>
          <a:xfrm>
            <a:off x="731520" y="1627632"/>
            <a:ext cx="5486400" cy="347472"/>
          </a:xfrm>
          <a:prstGeom prst="rect">
            <a:avLst/>
          </a:prstGeom>
          <a:noFill/>
          <a:ln/>
        </p:spPr>
        <p:txBody>
          <a:bodyPr wrap="square" lIns="1016" tIns="1016" rIns="1016" bIns="1016" rtlCol="0" anchor="t"/>
          <a:lstStyle/>
          <a:p>
            <a:pPr algn="l" indent="0" marL="0">
              <a:buNone/>
            </a:pPr>
            <a:r>
              <a:rPr lang="en-US" sz="1500" b="1" dirty="0">
                <a:solidFill>
                  <a:srgbClr val="F59E0B"/>
                </a:solidFill>
              </a:rPr>
              <a:t>Worker</a:t>
            </a:r>
            <a:endParaRPr lang="en-US" sz="1500" dirty="0"/>
          </a:p>
        </p:txBody>
      </p:sp>
      <p:sp>
        <p:nvSpPr>
          <p:cNvPr id="6" name="text-16"/>
          <p:cNvSpPr txBox="1"/>
          <p:nvPr/>
        </p:nvSpPr>
        <p:spPr>
          <a:xfrm>
            <a:off x="731520" y="196596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speaks hands-free on the plant floor</a:t>
            </a:r>
            <a:endParaRPr lang="en-US" sz="1200" dirty="0"/>
          </a:p>
        </p:txBody>
      </p:sp>
      <p:sp>
        <p:nvSpPr>
          <p:cNvPr id="7" name="arrow-17"/>
          <p:cNvSpPr/>
          <p:nvPr/>
        </p:nvSpPr>
        <p:spPr>
          <a:xfrm>
            <a:off x="3429000" y="2423160"/>
            <a:ext cx="0" cy="228600"/>
          </a:xfrm>
          <a:prstGeom prst="line">
            <a:avLst/>
          </a:prstGeom>
          <a:noFill/>
          <a:ln w="19050">
            <a:solidFill>
              <a:srgbClr val="64748B"/>
            </a:solidFill>
            <a:prstDash val="solid"/>
            <a:tailEnd type="triangle"/>
          </a:ln>
        </p:spPr>
      </p:sp>
      <p:sp>
        <p:nvSpPr>
          <p:cNvPr id="8" name="card-18"/>
          <p:cNvSpPr/>
          <p:nvPr/>
        </p:nvSpPr>
        <p:spPr>
          <a:xfrm>
            <a:off x="548640" y="2651760"/>
            <a:ext cx="5760720" cy="868680"/>
          </a:xfrm>
          <a:prstGeom prst="roundRect">
            <a:avLst>
              <a:gd name="adj" fmla="val 12632"/>
            </a:avLst>
          </a:prstGeom>
          <a:solidFill>
            <a:srgbClr val="DBEAFE"/>
          </a:solidFill>
          <a:ln w="12700">
            <a:solidFill>
              <a:srgbClr val="DBEAFE"/>
            </a:solidFill>
            <a:prstDash val="solid"/>
          </a:ln>
        </p:spPr>
      </p:sp>
      <p:sp>
        <p:nvSpPr>
          <p:cNvPr id="9" name="text-19"/>
          <p:cNvSpPr txBox="1"/>
          <p:nvPr/>
        </p:nvSpPr>
        <p:spPr>
          <a:xfrm>
            <a:off x="731520" y="2724912"/>
            <a:ext cx="5486400" cy="347472"/>
          </a:xfrm>
          <a:prstGeom prst="rect">
            <a:avLst/>
          </a:prstGeom>
          <a:noFill/>
          <a:ln/>
        </p:spPr>
        <p:txBody>
          <a:bodyPr wrap="square" lIns="1016" tIns="1016" rIns="1016" bIns="1016" rtlCol="0" anchor="t"/>
          <a:lstStyle/>
          <a:p>
            <a:pPr algn="l" indent="0" marL="0">
              <a:buNone/>
            </a:pPr>
            <a:r>
              <a:rPr lang="en-US" sz="1500" b="1" dirty="0">
                <a:solidFill>
                  <a:srgbClr val="2563EB"/>
                </a:solidFill>
              </a:rPr>
              <a:t>GPT-Live · gpt-live-1</a:t>
            </a:r>
            <a:endParaRPr lang="en-US" sz="1500" dirty="0"/>
          </a:p>
        </p:txBody>
      </p:sp>
      <p:sp>
        <p:nvSpPr>
          <p:cNvPr id="10" name="text-20"/>
          <p:cNvSpPr txBox="1"/>
          <p:nvPr/>
        </p:nvSpPr>
        <p:spPr>
          <a:xfrm>
            <a:off x="731520" y="306324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full-duplex voice, turn-taking, interruptions, client delegation</a:t>
            </a:r>
            <a:endParaRPr lang="en-US" sz="1200" dirty="0"/>
          </a:p>
        </p:txBody>
      </p:sp>
      <p:sp>
        <p:nvSpPr>
          <p:cNvPr id="11" name="arrow-21"/>
          <p:cNvSpPr/>
          <p:nvPr/>
        </p:nvSpPr>
        <p:spPr>
          <a:xfrm>
            <a:off x="3429000" y="3520440"/>
            <a:ext cx="0" cy="228600"/>
          </a:xfrm>
          <a:prstGeom prst="line">
            <a:avLst/>
          </a:prstGeom>
          <a:noFill/>
          <a:ln w="19050">
            <a:solidFill>
              <a:srgbClr val="64748B"/>
            </a:solidFill>
            <a:prstDash val="solid"/>
            <a:tailEnd type="triangle"/>
          </a:ln>
        </p:spPr>
      </p:sp>
      <p:sp>
        <p:nvSpPr>
          <p:cNvPr id="12" name="card-22"/>
          <p:cNvSpPr/>
          <p:nvPr/>
        </p:nvSpPr>
        <p:spPr>
          <a:xfrm>
            <a:off x="548640" y="3749040"/>
            <a:ext cx="5760720" cy="868680"/>
          </a:xfrm>
          <a:prstGeom prst="roundRect">
            <a:avLst>
              <a:gd name="adj" fmla="val 12632"/>
            </a:avLst>
          </a:prstGeom>
          <a:solidFill>
            <a:srgbClr val="EDE9FE"/>
          </a:solidFill>
          <a:ln w="12700">
            <a:solidFill>
              <a:srgbClr val="EDE9FE"/>
            </a:solidFill>
            <a:prstDash val="solid"/>
          </a:ln>
        </p:spPr>
      </p:sp>
      <p:sp>
        <p:nvSpPr>
          <p:cNvPr id="13" name="text-23"/>
          <p:cNvSpPr txBox="1"/>
          <p:nvPr/>
        </p:nvSpPr>
        <p:spPr>
          <a:xfrm>
            <a:off x="731520" y="3822192"/>
            <a:ext cx="5486400" cy="347472"/>
          </a:xfrm>
          <a:prstGeom prst="rect">
            <a:avLst/>
          </a:prstGeom>
          <a:noFill/>
          <a:ln/>
        </p:spPr>
        <p:txBody>
          <a:bodyPr wrap="square" lIns="1016" tIns="1016" rIns="1016" bIns="1016" rtlCol="0" anchor="t"/>
          <a:lstStyle/>
          <a:p>
            <a:pPr algn="l" indent="0" marL="0">
              <a:buNone/>
            </a:pPr>
            <a:r>
              <a:rPr lang="en-US" sz="1500" b="1" dirty="0">
                <a:solidFill>
                  <a:srgbClr val="7C3AED"/>
                </a:solidFill>
              </a:rPr>
              <a:t>ARIA agent · Agents SDK · gpt-5.6-terra</a:t>
            </a:r>
            <a:endParaRPr lang="en-US" sz="1500" dirty="0"/>
          </a:p>
        </p:txBody>
      </p:sp>
      <p:sp>
        <p:nvSpPr>
          <p:cNvPr id="14" name="text-24"/>
          <p:cNvSpPr txBox="1"/>
          <p:nvPr/>
        </p:nvSpPr>
        <p:spPr>
          <a:xfrm>
            <a:off x="731520" y="416052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reasoning loop with strict function tools; results return as commentary.append / thinking.append</a:t>
            </a:r>
            <a:endParaRPr lang="en-US" sz="1200" dirty="0"/>
          </a:p>
        </p:txBody>
      </p:sp>
      <p:sp>
        <p:nvSpPr>
          <p:cNvPr id="15" name="card-25"/>
          <p:cNvSpPr/>
          <p:nvPr/>
        </p:nvSpPr>
        <p:spPr>
          <a:xfrm>
            <a:off x="548640" y="4892040"/>
            <a:ext cx="2834640" cy="658368"/>
          </a:xfrm>
          <a:prstGeom prst="roundRect">
            <a:avLst>
              <a:gd name="adj" fmla="val 16667"/>
            </a:avLst>
          </a:prstGeom>
          <a:solidFill>
            <a:srgbClr val="F9FAFB"/>
          </a:solidFill>
          <a:ln w="12700">
            <a:solidFill>
              <a:srgbClr val="E5E7EB"/>
            </a:solidFill>
            <a:prstDash val="solid"/>
          </a:ln>
        </p:spPr>
      </p:sp>
      <p:sp>
        <p:nvSpPr>
          <p:cNvPr id="16" name="text-26"/>
          <p:cNvSpPr txBox="1"/>
          <p:nvPr/>
        </p:nvSpPr>
        <p:spPr>
          <a:xfrm>
            <a:off x="658368" y="4928616"/>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Manuals RAG</a:t>
            </a:r>
            <a:endParaRPr lang="en-US" sz="1300" dirty="0"/>
          </a:p>
        </p:txBody>
      </p:sp>
      <p:sp>
        <p:nvSpPr>
          <p:cNvPr id="17" name="text-27"/>
          <p:cNvSpPr txBox="1"/>
          <p:nvPr/>
        </p:nvSpPr>
        <p:spPr>
          <a:xfrm>
            <a:off x="658368" y="5202936"/>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text-embedding-3-large · BM25 · RRF · luna rerank</a:t>
            </a:r>
            <a:endParaRPr lang="en-US" sz="1050" dirty="0"/>
          </a:p>
        </p:txBody>
      </p:sp>
      <p:sp>
        <p:nvSpPr>
          <p:cNvPr id="18" name="card-28"/>
          <p:cNvSpPr/>
          <p:nvPr/>
        </p:nvSpPr>
        <p:spPr>
          <a:xfrm>
            <a:off x="3474720" y="4892040"/>
            <a:ext cx="2834640" cy="658368"/>
          </a:xfrm>
          <a:prstGeom prst="roundRect">
            <a:avLst>
              <a:gd name="adj" fmla="val 16667"/>
            </a:avLst>
          </a:prstGeom>
          <a:solidFill>
            <a:srgbClr val="F9FAFB"/>
          </a:solidFill>
          <a:ln w="12700">
            <a:solidFill>
              <a:srgbClr val="E5E7EB"/>
            </a:solidFill>
            <a:prstDash val="solid"/>
          </a:ln>
        </p:spPr>
      </p:sp>
      <p:sp>
        <p:nvSpPr>
          <p:cNvPr id="19" name="text-29"/>
          <p:cNvSpPr txBox="1"/>
          <p:nvPr/>
        </p:nvSpPr>
        <p:spPr>
          <a:xfrm>
            <a:off x="3584448" y="4928616"/>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Temporal KB</a:t>
            </a:r>
            <a:endParaRPr lang="en-US" sz="1300" dirty="0"/>
          </a:p>
        </p:txBody>
      </p:sp>
      <p:sp>
        <p:nvSpPr>
          <p:cNvPr id="20" name="text-30"/>
          <p:cNvSpPr txBox="1"/>
          <p:nvPr/>
        </p:nvSpPr>
        <p:spPr>
          <a:xfrm>
            <a:off x="3584448" y="5202936"/>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incidents, events, facts with validity windows</a:t>
            </a:r>
            <a:endParaRPr lang="en-US" sz="1050" dirty="0"/>
          </a:p>
        </p:txBody>
      </p:sp>
      <p:sp>
        <p:nvSpPr>
          <p:cNvPr id="21" name="card-31"/>
          <p:cNvSpPr/>
          <p:nvPr/>
        </p:nvSpPr>
        <p:spPr>
          <a:xfrm>
            <a:off x="548640" y="5641848"/>
            <a:ext cx="2834640" cy="658368"/>
          </a:xfrm>
          <a:prstGeom prst="roundRect">
            <a:avLst>
              <a:gd name="adj" fmla="val 16667"/>
            </a:avLst>
          </a:prstGeom>
          <a:solidFill>
            <a:srgbClr val="F9FAFB"/>
          </a:solidFill>
          <a:ln w="12700">
            <a:solidFill>
              <a:srgbClr val="E5E7EB"/>
            </a:solidFill>
            <a:prstDash val="solid"/>
          </a:ln>
        </p:spPr>
      </p:sp>
      <p:sp>
        <p:nvSpPr>
          <p:cNvPr id="22" name="text-32"/>
          <p:cNvSpPr txBox="1"/>
          <p:nvPr/>
        </p:nvSpPr>
        <p:spPr>
          <a:xfrm>
            <a:off x="658368" y="5678424"/>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Machine + tests</a:t>
            </a:r>
            <a:endParaRPr lang="en-US" sz="1300" dirty="0"/>
          </a:p>
        </p:txBody>
      </p:sp>
      <p:sp>
        <p:nvSpPr>
          <p:cNvPr id="23" name="text-33"/>
          <p:cNvSpPr txBox="1"/>
          <p:nvPr/>
        </p:nvSpPr>
        <p:spPr>
          <a:xfrm>
            <a:off x="658368" y="5952744"/>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PLC snapshot, alarms, permitted diagnostics</a:t>
            </a:r>
            <a:endParaRPr lang="en-US" sz="1050" dirty="0"/>
          </a:p>
        </p:txBody>
      </p:sp>
      <p:sp>
        <p:nvSpPr>
          <p:cNvPr id="24" name="card-34"/>
          <p:cNvSpPr/>
          <p:nvPr/>
        </p:nvSpPr>
        <p:spPr>
          <a:xfrm>
            <a:off x="3474720" y="5641848"/>
            <a:ext cx="2834640" cy="658368"/>
          </a:xfrm>
          <a:prstGeom prst="roundRect">
            <a:avLst>
              <a:gd name="adj" fmla="val 16667"/>
            </a:avLst>
          </a:prstGeom>
          <a:solidFill>
            <a:srgbClr val="F9FAFB"/>
          </a:solidFill>
          <a:ln w="12700">
            <a:solidFill>
              <a:srgbClr val="E5E7EB"/>
            </a:solidFill>
            <a:prstDash val="solid"/>
          </a:ln>
        </p:spPr>
      </p:sp>
      <p:sp>
        <p:nvSpPr>
          <p:cNvPr id="25" name="text-35"/>
          <p:cNvSpPr txBox="1"/>
          <p:nvPr/>
        </p:nvSpPr>
        <p:spPr>
          <a:xfrm>
            <a:off x="3584448" y="5678424"/>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Engine + report</a:t>
            </a:r>
            <a:endParaRPr lang="en-US" sz="1300" dirty="0"/>
          </a:p>
        </p:txBody>
      </p:sp>
      <p:sp>
        <p:nvSpPr>
          <p:cNvPr id="26" name="text-36"/>
          <p:cNvSpPr txBox="1"/>
          <p:nvPr/>
        </p:nvSpPr>
        <p:spPr>
          <a:xfrm>
            <a:off x="3584448" y="5952744"/>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hypotheses, info-gain tests, verified report</a:t>
            </a:r>
            <a:endParaRPr lang="en-US" sz="1050" dirty="0"/>
          </a:p>
        </p:txBody>
      </p:sp>
      <p:sp>
        <p:nvSpPr>
          <p:cNvPr id="27" name="arrow-37"/>
          <p:cNvSpPr/>
          <p:nvPr/>
        </p:nvSpPr>
        <p:spPr>
          <a:xfrm>
            <a:off x="3429000" y="4617720"/>
            <a:ext cx="0" cy="274320"/>
          </a:xfrm>
          <a:prstGeom prst="line">
            <a:avLst/>
          </a:prstGeom>
          <a:noFill/>
          <a:ln w="19050">
            <a:solidFill>
              <a:srgbClr val="64748B"/>
            </a:solidFill>
            <a:prstDash val="solid"/>
            <a:tailEnd type="triangle"/>
          </a:ln>
        </p:spPr>
      </p:sp>
      <p:pic>
        <p:nvPicPr>
          <p:cNvPr id="28" name="image-simulation" descr="C:\Users\Rahul H P\Desktop\hackthon\mutisimulation_converstion.png">    </p:cNvPr>
          <p:cNvPicPr>
            <a:picLocks noChangeAspect="1"/>
          </p:cNvPicPr>
          <p:nvPr/>
        </p:nvPicPr>
        <p:blipFill>
          <a:blip r:embed="rId1"/>
          <a:stretch>
            <a:fillRect/>
          </a:stretch>
        </p:blipFill>
        <p:spPr>
          <a:xfrm>
            <a:off x="6629400" y="1554480"/>
            <a:ext cx="5029200" cy="3805518"/>
          </a:xfrm>
          <a:prstGeom prst="rect">
            <a:avLst/>
          </a:prstGeom>
        </p:spPr>
      </p:pic>
      <p:sp>
        <p:nvSpPr>
          <p:cNvPr id="29" name="text-38"/>
          <p:cNvSpPr txBox="1"/>
          <p:nvPr/>
        </p:nvSpPr>
        <p:spPr>
          <a:xfrm>
            <a:off x="6629400" y="5440680"/>
            <a:ext cx="5029200" cy="822960"/>
          </a:xfrm>
          <a:prstGeom prst="rect">
            <a:avLst/>
          </a:prstGeom>
          <a:noFill/>
          <a:ln/>
        </p:spPr>
        <p:txBody>
          <a:bodyPr wrap="square" lIns="1016" tIns="1016" rIns="1016" bIns="1016" rtlCol="0" anchor="t"/>
          <a:lstStyle/>
          <a:p>
            <a:pPr algn="l" indent="0" marL="0">
              <a:buNone/>
            </a:pPr>
            <a:r>
              <a:rPr lang="en-US" sz="1200" dirty="0">
                <a:solidFill>
                  <a:schemeClr val="accent6"/>
                </a:solidFill>
              </a:rPr>
              <a:t>Evaluation follows OpenAI's multi-turn pattern: an independent GPT-Live caller talks to ARIA; an observer ends the call; graders score diagnosis, grounding, tool use and safety.</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Models</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Which OpenAI model does what</a:t>
            </a:r>
            <a:endParaRPr lang="en-US" sz="3000" dirty="0"/>
          </a:p>
        </p:txBody>
      </p:sp>
      <p:graphicFrame>
        <p:nvGraphicFramePr>
          <p:cNvPr id="4" name="models-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5120640"/>
                <a:gridCol w="2651760"/>
                <a:gridCol w="3291840"/>
              </a:tblGrid>
              <a:tr h="457200">
                <a:tc>
                  <a:txBody>
                    <a:bodyPr/>
                    <a:lstStyle/>
                    <a:p>
                      <a:pPr indent="0" marL="0">
                        <a:buNone/>
                      </a:pPr>
                      <a:r>
                        <a:rPr lang="en-US" sz="1400" b="1" dirty="0">
                          <a:solidFill>
                            <a:srgbClr val="FFFFFF"/>
                          </a:solidFill>
                        </a:rPr>
                        <a:t>Where</a:t>
                      </a:r>
                      <a:endParaRPr lang="en-US" sz="140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827"/>
                    </a:solidFill>
                  </a:tcPr>
                </a:tc>
                <a:tc>
                  <a:txBody>
                    <a:bodyPr/>
                    <a:lstStyle/>
                    <a:p>
                      <a:pPr indent="0" marL="0">
                        <a:buNone/>
                      </a:pPr>
                      <a:r>
                        <a:rPr lang="en-US" sz="1400" b="1" dirty="0">
                          <a:solidFill>
                            <a:srgbClr val="FFFFFF"/>
                          </a:solidFill>
                        </a:rPr>
                        <a:t>Model</a:t>
                      </a:r>
                      <a:endParaRPr lang="en-US" sz="140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827"/>
                    </a:solidFill>
                  </a:tcPr>
                </a:tc>
                <a:tc>
                  <a:txBody>
                    <a:bodyPr/>
                    <a:lstStyle/>
                    <a:p>
                      <a:pPr indent="0" marL="0">
                        <a:buNone/>
                      </a:pPr>
                      <a:r>
                        <a:rPr lang="en-US" sz="1400" b="1" dirty="0">
                          <a:solidFill>
                            <a:srgbClr val="FFFFFF"/>
                          </a:solidFill>
                        </a:rPr>
                        <a:t>Reasoning effort</a:t>
                      </a:r>
                      <a:endParaRPr lang="en-US" sz="140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11827"/>
                    </a:solidFill>
                  </a:tcPr>
                </a:tc>
              </a:tr>
              <a:tr h="685800">
                <a:tc>
                  <a:txBody>
                    <a:bodyPr/>
                    <a:lstStyle/>
                    <a:p>
                      <a:pPr indent="0" marL="0">
                        <a:buNone/>
                      </a:pPr>
                      <a:r>
                        <a:rPr lang="en-US" sz="1350" b="1" dirty="0">
                          <a:solidFill>
                            <a:srgbClr val="111827"/>
                          </a:solidFill>
                        </a:rPr>
                        <a:t>ARIA agent — investigation, tool calling, answers</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b="1" dirty="0">
                          <a:solidFill>
                            <a:srgbClr val="7C3AED"/>
                          </a:solidFill>
                        </a:rPr>
                        <a:t>gpt-5.6-terra</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111827"/>
                          </a:solidFill>
                        </a:rPr>
                        <a:t>medium · reasoning summaries shown as “Thoughts”</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914400">
                <a:tc>
                  <a:txBody>
                    <a:bodyPr/>
                    <a:lstStyle/>
                    <a:p>
                      <a:pPr indent="0" marL="0">
                        <a:buNone/>
                      </a:pPr>
                      <a:r>
                        <a:rPr lang="en-US" sz="1350" b="1" dirty="0">
                          <a:solidFill>
                            <a:srgbClr val="111827"/>
                          </a:solidFill>
                        </a:rPr>
                        <a:t>Supporting steps — rerank manual passages, plan multi-step retrieval, extract temporal facts, audit report grounding, simulated caller</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b="1" dirty="0">
                          <a:solidFill>
                            <a:srgbClr val="7C3AED"/>
                          </a:solidFill>
                        </a:rPr>
                        <a:t>gpt-5.6-luna</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111827"/>
                          </a:solidFill>
                        </a:rPr>
                        <a:t>low</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685800">
                <a:tc>
                  <a:txBody>
                    <a:bodyPr/>
                    <a:lstStyle/>
                    <a:p>
                      <a:pPr indent="0" marL="0">
                        <a:buNone/>
                      </a:pPr>
                      <a:r>
                        <a:rPr lang="en-US" sz="1350" b="1" dirty="0">
                          <a:solidFill>
                            <a:srgbClr val="111827"/>
                          </a:solidFill>
                        </a:rPr>
                        <a:t>Evaluation — judge and completion observer</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b="1" dirty="0">
                          <a:solidFill>
                            <a:srgbClr val="7C3AED"/>
                          </a:solidFill>
                        </a:rPr>
                        <a:t>gpt-5.6-terra</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111827"/>
                          </a:solidFill>
                        </a:rPr>
                        <a:t>medium (judge) · low (observer)</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685800">
                <a:tc>
                  <a:txBody>
                    <a:bodyPr/>
                    <a:lstStyle/>
                    <a:p>
                      <a:pPr indent="0" marL="0">
                        <a:buNone/>
                      </a:pPr>
                      <a:r>
                        <a:rPr lang="en-US" sz="1350" b="1" dirty="0">
                          <a:solidFill>
                            <a:srgbClr val="111827"/>
                          </a:solidFill>
                        </a:rPr>
                        <a:t>Voice — full-duplex conversation</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b="1" dirty="0">
                          <a:solidFill>
                            <a:srgbClr val="2563EB"/>
                          </a:solidFill>
                        </a:rPr>
                        <a:t>gpt-live-1</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111827"/>
                          </a:solidFill>
                        </a:rPr>
                        <a:t>not a reasoning model · delegates work to the ARIA agent</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685800">
                <a:tc>
                  <a:txBody>
                    <a:bodyPr/>
                    <a:lstStyle/>
                    <a:p>
                      <a:pPr indent="0" marL="0">
                        <a:buNone/>
                      </a:pPr>
                      <a:r>
                        <a:rPr lang="en-US" sz="1350" b="1" dirty="0">
                          <a:solidFill>
                            <a:srgbClr val="111827"/>
                          </a:solidFill>
                        </a:rPr>
                        <a:t>Embeddings — manuals and incident search</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b="1" dirty="0">
                          <a:solidFill>
                            <a:srgbClr val="2563EB"/>
                          </a:solidFill>
                        </a:rPr>
                        <a:t>text-embedding-3-large</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50" dirty="0">
                          <a:solidFill>
                            <a:srgbClr val="111827"/>
                          </a:solidFill>
                        </a:rPr>
                        <a:t>—</a:t>
                      </a:r>
                      <a:endParaRPr lang="en-US" sz="1350" dirty="0"/>
                    </a:p>
                  </a:txBody>
                  <a:tcPr marL="91440" marR="91440" marT="91440" marB="9144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text-39"/>
          <p:cNvSpPr txBox="1"/>
          <p:nvPr/>
        </p:nvSpPr>
        <p:spPr>
          <a:xfrm>
            <a:off x="548640" y="5897880"/>
            <a:ext cx="11064240" cy="411480"/>
          </a:xfrm>
          <a:prstGeom prst="rect">
            <a:avLst/>
          </a:prstGeom>
          <a:noFill/>
          <a:ln/>
        </p:spPr>
        <p:txBody>
          <a:bodyPr wrap="square" lIns="1016" tIns="1016" rIns="1016" bIns="1016" rtlCol="0" anchor="t"/>
          <a:lstStyle/>
          <a:p>
            <a:pPr algn="l" indent="0" marL="0">
              <a:buNone/>
            </a:pPr>
            <a:r>
              <a:rPr lang="en-US" sz="1200" dirty="0">
                <a:solidFill>
                  <a:schemeClr val="accent6"/>
                </a:solidFill>
              </a:rPr>
              <a:t>All model names are set in backend/.env (AGENT_MODEL, FAST_MODEL, JUDGE_MODEL, LIVE_MODEL, EMBEDDING_MODEL) and can be swapped without code changes.</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1 · Knowledge (RAG)</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a question — ARIA answers from the manuals</a:t>
            </a:r>
            <a:endParaRPr lang="en-US" sz="3000" dirty="0"/>
          </a:p>
        </p:txBody>
      </p:sp>
      <p:sp>
        <p:nvSpPr>
          <p:cNvPr id="4" name="card-40"/>
          <p:cNvSpPr/>
          <p:nvPr/>
        </p:nvSpPr>
        <p:spPr>
          <a:xfrm>
            <a:off x="548640" y="1600200"/>
            <a:ext cx="5715000" cy="2011680"/>
          </a:xfrm>
          <a:prstGeom prst="roundRect">
            <a:avLst>
              <a:gd name="adj" fmla="val 5455"/>
            </a:avLst>
          </a:prstGeom>
          <a:solidFill>
            <a:srgbClr val="F3F4F6"/>
          </a:solidFill>
          <a:ln w="12700">
            <a:solidFill>
              <a:srgbClr val="F3F4F6"/>
            </a:solidFill>
            <a:prstDash val="solid"/>
          </a:ln>
        </p:spPr>
      </p:sp>
      <p:sp>
        <p:nvSpPr>
          <p:cNvPr id="5" name="conversation-41"/>
          <p:cNvSpPr txBox="1"/>
          <p:nvPr/>
        </p:nvSpPr>
        <p:spPr>
          <a:xfrm>
            <a:off x="658368" y="1673352"/>
            <a:ext cx="5495544" cy="186537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“What is the A-301 alarm?”</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“Gripper close command on, but closed sensor B21 didn't confirm within 1.5 s. Per the PAL-200 guide the usual cause is B21 misaligned after a finger change.”</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“What gap should B21 be set to?”</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“1.0 mm ± 0.2. Switching distance is 2.0 mm.”</a:t>
            </a:r>
            <a:endParaRPr lang="en-US" sz="1250" dirty="0"/>
          </a:p>
        </p:txBody>
      </p:sp>
      <p:sp>
        <p:nvSpPr>
          <p:cNvPr id="6" name="bullets-42"/>
          <p:cNvSpPr txBox="1"/>
          <p:nvPr/>
        </p:nvSpPr>
        <p:spPr>
          <a:xfrm>
            <a:off x="548640" y="3840480"/>
            <a:ext cx="5715000" cy="242316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Delegation: </a:t>
            </a:r>
            <a:pPr indent="0" marL="0">
              <a:spcAft>
                <a:spcPts val="700"/>
              </a:spcAft>
              <a:buNone/>
            </a:pPr>
            <a:r>
              <a:rPr lang="en-US" sz="1400" dirty="0">
                <a:solidFill>
                  <a:schemeClr val="tx1"/>
                </a:solidFill>
              </a:rPr>
              <a:t>GPT-Live hands the question to the ARIA agent; the work streams into the chat.</a:t>
            </a:r>
            <a:endParaRPr lang="en-US" sz="1400" dirty="0"/>
          </a:p>
          <a:p>
            <a:pPr marL="203200" indent="-203200">
              <a:spcAft>
                <a:spcPts val="700"/>
              </a:spcAft>
              <a:buSzPct val="100000"/>
              <a:buChar char="•"/>
            </a:pPr>
            <a:r>
              <a:rPr lang="en-US" sz="1400" b="1" dirty="0">
                <a:solidFill>
                  <a:schemeClr val="tx1"/>
                </a:solidFill>
              </a:rPr>
              <a:t>Retrieval: </a:t>
            </a:r>
            <a:pPr indent="0" marL="0">
              <a:spcAft>
                <a:spcPts val="700"/>
              </a:spcAft>
              <a:buNone/>
            </a:pPr>
            <a:r>
              <a:rPr lang="en-US" sz="1400" dirty="0">
                <a:solidFill>
                  <a:schemeClr val="tx1"/>
                </a:solidFill>
              </a:rPr>
              <a:t>structure-aware PDF chunks with section headers; BM25 + embeddings fused by RRF, reranked by gpt-5.6-luna.</a:t>
            </a:r>
            <a:endParaRPr lang="en-US" sz="1400" dirty="0"/>
          </a:p>
          <a:p>
            <a:pPr marL="203200" indent="-203200">
              <a:spcAft>
                <a:spcPts val="700"/>
              </a:spcAft>
              <a:buSzPct val="100000"/>
              <a:buChar char="•"/>
            </a:pPr>
            <a:r>
              <a:rPr lang="en-US" sz="1400" b="1" dirty="0">
                <a:solidFill>
                  <a:schemeClr val="tx1"/>
                </a:solidFill>
              </a:rPr>
              <a:t>Grounding: </a:t>
            </a:r>
            <a:pPr indent="0" marL="0">
              <a:spcAft>
                <a:spcPts val="700"/>
              </a:spcAft>
              <a:buNone/>
            </a:pPr>
            <a:r>
              <a:rPr lang="en-US" sz="1400" dirty="0">
                <a:solidFill>
                  <a:schemeClr val="tx1"/>
                </a:solidFill>
              </a:rPr>
              <a:t>answer cites document and section; no relevant passage means ARIA says so.</a:t>
            </a:r>
            <a:endParaRPr lang="en-US" sz="1400" dirty="0"/>
          </a:p>
          <a:p>
            <a:pPr marL="203200" indent="-203200">
              <a:spcAft>
                <a:spcPts val="700"/>
              </a:spcAft>
              <a:buSzPct val="100000"/>
              <a:buChar char="•"/>
            </a:pPr>
            <a:r>
              <a:rPr lang="en-US" sz="1400" b="1" dirty="0">
                <a:solidFill>
                  <a:schemeClr val="tx1"/>
                </a:solidFill>
              </a:rPr>
              <a:t>Voice: </a:t>
            </a:r>
            <a:pPr indent="0" marL="0">
              <a:spcAft>
                <a:spcPts val="700"/>
              </a:spcAft>
              <a:buNone/>
            </a:pPr>
            <a:r>
              <a:rPr lang="en-US" sz="1400" dirty="0">
                <a:solidFill>
                  <a:schemeClr val="tx1"/>
                </a:solidFill>
              </a:rPr>
              <a:t>result injected with commentary.append and spoken.</a:t>
            </a:r>
            <a:endParaRPr lang="en-US" sz="1400" dirty="0"/>
          </a:p>
        </p:txBody>
      </p:sp>
      <p:sp>
        <p:nvSpPr>
          <p:cNvPr id="7" name="video-placeholder-1"/>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43"/>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44"/>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45"/>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1 recording</a:t>
            </a:r>
            <a:endParaRPr lang="en-US" sz="1600" dirty="0"/>
          </a:p>
        </p:txBody>
      </p:sp>
      <p:sp>
        <p:nvSpPr>
          <p:cNvPr id="11" name="text-46"/>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Temporal knowledge base</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Facts carry time: what was true, and what changed since</a:t>
            </a:r>
            <a:endParaRPr lang="en-US" sz="3000" dirty="0"/>
          </a:p>
        </p:txBody>
      </p:sp>
      <p:sp>
        <p:nvSpPr>
          <p:cNvPr id="4" name="card-47"/>
          <p:cNvSpPr/>
          <p:nvPr/>
        </p:nvSpPr>
        <p:spPr>
          <a:xfrm>
            <a:off x="548640" y="1828800"/>
            <a:ext cx="1965960" cy="1188720"/>
          </a:xfrm>
          <a:prstGeom prst="roundRect">
            <a:avLst>
              <a:gd name="adj" fmla="val 9231"/>
            </a:avLst>
          </a:prstGeom>
          <a:solidFill>
            <a:srgbClr val="F3F4F6"/>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48"/>
          <p:cNvSpPr txBox="1"/>
          <p:nvPr/>
        </p:nvSpPr>
        <p:spPr>
          <a:xfrm>
            <a:off x="548640"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Incident record</a:t>
            </a:r>
            <a:endParaRPr lang="en-US" sz="1500" dirty="0"/>
          </a:p>
        </p:txBody>
      </p:sp>
      <p:sp>
        <p:nvSpPr>
          <p:cNvPr id="6" name="text-49"/>
          <p:cNvSpPr txBox="1"/>
          <p:nvPr/>
        </p:nvSpPr>
        <p:spPr>
          <a:xfrm>
            <a:off x="640080"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timestamped events: alarm → test → repair → result</a:t>
            </a:r>
            <a:endParaRPr lang="en-US" sz="1200" dirty="0"/>
          </a:p>
        </p:txBody>
      </p:sp>
      <p:sp>
        <p:nvSpPr>
          <p:cNvPr id="7" name="arrow-50"/>
          <p:cNvSpPr/>
          <p:nvPr/>
        </p:nvSpPr>
        <p:spPr>
          <a:xfrm>
            <a:off x="2514600" y="2423160"/>
            <a:ext cx="292608" cy="0"/>
          </a:xfrm>
          <a:prstGeom prst="line">
            <a:avLst/>
          </a:prstGeom>
          <a:noFill/>
          <a:ln w="19050">
            <a:solidFill>
              <a:srgbClr val="64748B"/>
            </a:solidFill>
            <a:prstDash val="solid"/>
            <a:tailEnd type="triangle"/>
          </a:ln>
        </p:spPr>
      </p:sp>
      <p:sp>
        <p:nvSpPr>
          <p:cNvPr id="8" name="card-51"/>
          <p:cNvSpPr/>
          <p:nvPr/>
        </p:nvSpPr>
        <p:spPr>
          <a:xfrm>
            <a:off x="2807208"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9" name="text-52"/>
          <p:cNvSpPr txBox="1"/>
          <p:nvPr/>
        </p:nvSpPr>
        <p:spPr>
          <a:xfrm>
            <a:off x="2807208"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Statement extraction</a:t>
            </a:r>
            <a:endParaRPr lang="en-US" sz="1500" dirty="0"/>
          </a:p>
        </p:txBody>
      </p:sp>
      <p:sp>
        <p:nvSpPr>
          <p:cNvPr id="10" name="text-53"/>
          <p:cNvSpPr txBox="1"/>
          <p:nvPr/>
        </p:nvSpPr>
        <p:spPr>
          <a:xfrm>
            <a:off x="2898648"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gpt-5.6-luna with structured outputs</a:t>
            </a:r>
            <a:endParaRPr lang="en-US" sz="1200" dirty="0"/>
          </a:p>
        </p:txBody>
      </p:sp>
      <p:sp>
        <p:nvSpPr>
          <p:cNvPr id="11" name="arrow-54"/>
          <p:cNvSpPr/>
          <p:nvPr/>
        </p:nvSpPr>
        <p:spPr>
          <a:xfrm>
            <a:off x="4773168" y="2423160"/>
            <a:ext cx="292608" cy="0"/>
          </a:xfrm>
          <a:prstGeom prst="line">
            <a:avLst/>
          </a:prstGeom>
          <a:noFill/>
          <a:ln w="19050">
            <a:solidFill>
              <a:srgbClr val="64748B"/>
            </a:solidFill>
            <a:prstDash val="solid"/>
            <a:tailEnd type="triangle"/>
          </a:ln>
        </p:spPr>
      </p:sp>
      <p:sp>
        <p:nvSpPr>
          <p:cNvPr id="12" name="card-55"/>
          <p:cNvSpPr/>
          <p:nvPr/>
        </p:nvSpPr>
        <p:spPr>
          <a:xfrm>
            <a:off x="5065776"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3" name="text-56"/>
          <p:cNvSpPr txBox="1"/>
          <p:nvPr/>
        </p:nvSpPr>
        <p:spPr>
          <a:xfrm>
            <a:off x="5065776"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Temporal class</a:t>
            </a:r>
            <a:endParaRPr lang="en-US" sz="1500" dirty="0"/>
          </a:p>
        </p:txBody>
      </p:sp>
      <p:sp>
        <p:nvSpPr>
          <p:cNvPr id="14" name="text-57"/>
          <p:cNvSpPr txBox="1"/>
          <p:nvPr/>
        </p:nvSpPr>
        <p:spPr>
          <a:xfrm>
            <a:off x="5157216"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atemporal · static · dynamic</a:t>
            </a:r>
            <a:endParaRPr lang="en-US" sz="1200" dirty="0"/>
          </a:p>
        </p:txBody>
      </p:sp>
      <p:sp>
        <p:nvSpPr>
          <p:cNvPr id="15" name="arrow-58"/>
          <p:cNvSpPr/>
          <p:nvPr/>
        </p:nvSpPr>
        <p:spPr>
          <a:xfrm>
            <a:off x="7031736" y="2423160"/>
            <a:ext cx="292608" cy="0"/>
          </a:xfrm>
          <a:prstGeom prst="line">
            <a:avLst/>
          </a:prstGeom>
          <a:noFill/>
          <a:ln w="19050">
            <a:solidFill>
              <a:srgbClr val="64748B"/>
            </a:solidFill>
            <a:prstDash val="solid"/>
            <a:tailEnd type="triangle"/>
          </a:ln>
        </p:spPr>
      </p:sp>
      <p:sp>
        <p:nvSpPr>
          <p:cNvPr id="16" name="card-59"/>
          <p:cNvSpPr/>
          <p:nvPr/>
        </p:nvSpPr>
        <p:spPr>
          <a:xfrm>
            <a:off x="7324344"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text-60"/>
          <p:cNvSpPr txBox="1"/>
          <p:nvPr/>
        </p:nvSpPr>
        <p:spPr>
          <a:xfrm>
            <a:off x="7324344"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Validity</a:t>
            </a:r>
            <a:endParaRPr lang="en-US" sz="1500" dirty="0"/>
          </a:p>
        </p:txBody>
      </p:sp>
      <p:sp>
        <p:nvSpPr>
          <p:cNvPr id="18" name="text-61"/>
          <p:cNvSpPr txBox="1"/>
          <p:nvPr/>
        </p:nvSpPr>
        <p:spPr>
          <a:xfrm>
            <a:off x="7415784"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t_valid · t_invalid · invalidated_by</a:t>
            </a:r>
            <a:endParaRPr lang="en-US" sz="1200" dirty="0"/>
          </a:p>
        </p:txBody>
      </p:sp>
      <p:sp>
        <p:nvSpPr>
          <p:cNvPr id="19" name="arrow-62"/>
          <p:cNvSpPr/>
          <p:nvPr/>
        </p:nvSpPr>
        <p:spPr>
          <a:xfrm>
            <a:off x="9290304" y="2423160"/>
            <a:ext cx="292608" cy="0"/>
          </a:xfrm>
          <a:prstGeom prst="line">
            <a:avLst/>
          </a:prstGeom>
          <a:noFill/>
          <a:ln w="19050">
            <a:solidFill>
              <a:srgbClr val="64748B"/>
            </a:solidFill>
            <a:prstDash val="solid"/>
            <a:tailEnd type="triangle"/>
          </a:ln>
        </p:spPr>
      </p:sp>
      <p:sp>
        <p:nvSpPr>
          <p:cNvPr id="20" name="card-63"/>
          <p:cNvSpPr/>
          <p:nvPr/>
        </p:nvSpPr>
        <p:spPr>
          <a:xfrm>
            <a:off x="9582912" y="1828800"/>
            <a:ext cx="1965960" cy="1188720"/>
          </a:xfrm>
          <a:prstGeom prst="roundRect">
            <a:avLst>
              <a:gd name="adj" fmla="val 9231"/>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1" name="text-64"/>
          <p:cNvSpPr txBox="1"/>
          <p:nvPr/>
        </p:nvSpPr>
        <p:spPr>
          <a:xfrm>
            <a:off x="9582912"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Query</a:t>
            </a:r>
            <a:endParaRPr lang="en-US" sz="1500" dirty="0"/>
          </a:p>
        </p:txBody>
      </p:sp>
      <p:sp>
        <p:nvSpPr>
          <p:cNvPr id="22" name="text-65"/>
          <p:cNvSpPr txBox="1"/>
          <p:nvPr/>
        </p:nvSpPr>
        <p:spPr>
          <a:xfrm>
            <a:off x="9674352"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valid-now facts + superseded history</a:t>
            </a:r>
            <a:endParaRPr lang="en-US" sz="1200" dirty="0"/>
          </a:p>
        </p:txBody>
      </p:sp>
      <p:sp>
        <p:nvSpPr>
          <p:cNvPr id="23" name="card-66"/>
          <p:cNvSpPr/>
          <p:nvPr/>
        </p:nvSpPr>
        <p:spPr>
          <a:xfrm>
            <a:off x="548640" y="3794760"/>
            <a:ext cx="11064240" cy="2331720"/>
          </a:xfrm>
          <a:prstGeom prst="roundRect">
            <a:avLst>
              <a:gd name="adj" fmla="val 4706"/>
            </a:avLst>
          </a:prstGeom>
          <a:solidFill>
            <a:srgbClr val="F9FAFB"/>
          </a:solidFill>
          <a:ln w="12700">
            <a:solidFill>
              <a:srgbClr val="E5E7EB"/>
            </a:solidFill>
            <a:prstDash val="solid"/>
          </a:ln>
        </p:spPr>
      </p:sp>
      <p:sp>
        <p:nvSpPr>
          <p:cNvPr id="24" name="text-67"/>
          <p:cNvSpPr txBox="1"/>
          <p:nvPr/>
        </p:nvSpPr>
        <p:spPr>
          <a:xfrm>
            <a:off x="777240" y="3931920"/>
            <a:ext cx="5486400" cy="365760"/>
          </a:xfrm>
          <a:prstGeom prst="rect">
            <a:avLst/>
          </a:prstGeom>
          <a:noFill/>
          <a:ln/>
        </p:spPr>
        <p:txBody>
          <a:bodyPr wrap="square" lIns="1016" tIns="1016" rIns="1016" bIns="1016" rtlCol="0" anchor="t"/>
          <a:lstStyle/>
          <a:p>
            <a:pPr algn="l" indent="0" marL="0">
              <a:buNone/>
            </a:pPr>
            <a:r>
              <a:rPr lang="en-US" sz="1500" b="1" dirty="0">
                <a:solidFill>
                  <a:schemeClr val="tx1"/>
                </a:solidFill>
              </a:rPr>
              <a:t>Example from PAL-01 history</a:t>
            </a:r>
            <a:endParaRPr lang="en-US" sz="1500" dirty="0"/>
          </a:p>
        </p:txBody>
      </p:sp>
      <p:sp>
        <p:nvSpPr>
          <p:cNvPr id="25" name="card-68"/>
          <p:cNvSpPr/>
          <p:nvPr/>
        </p:nvSpPr>
        <p:spPr>
          <a:xfrm>
            <a:off x="777240" y="4434840"/>
            <a:ext cx="1280160" cy="365760"/>
          </a:xfrm>
          <a:prstGeom prst="roundRect">
            <a:avLst>
              <a:gd name="adj" fmla="val 30000"/>
            </a:avLst>
          </a:prstGeom>
          <a:solidFill>
            <a:srgbClr val="D1FAE5"/>
          </a:solidFill>
          <a:ln w="12700">
            <a:solidFill>
              <a:srgbClr val="D1FAE5"/>
            </a:solidFill>
            <a:prstDash val="solid"/>
          </a:ln>
        </p:spPr>
      </p:sp>
      <p:sp>
        <p:nvSpPr>
          <p:cNvPr id="26" name="text-69"/>
          <p:cNvSpPr txBox="1"/>
          <p:nvPr/>
        </p:nvSpPr>
        <p:spPr>
          <a:xfrm>
            <a:off x="777240" y="4434840"/>
            <a:ext cx="1280160" cy="365760"/>
          </a:xfrm>
          <a:prstGeom prst="rect">
            <a:avLst/>
          </a:prstGeom>
          <a:noFill/>
          <a:ln/>
        </p:spPr>
        <p:txBody>
          <a:bodyPr wrap="square" lIns="1016" tIns="1016" rIns="1016" bIns="1016" rtlCol="0" anchor="ctr"/>
          <a:lstStyle/>
          <a:p>
            <a:pPr algn="ctr" indent="0" marL="0">
              <a:buNone/>
            </a:pPr>
            <a:r>
              <a:rPr lang="en-US" sz="1200" b="1" dirty="0">
                <a:solidFill>
                  <a:srgbClr val="10B981"/>
                </a:solidFill>
              </a:rPr>
              <a:t>valid</a:t>
            </a:r>
            <a:endParaRPr lang="en-US" sz="1200" dirty="0"/>
          </a:p>
        </p:txBody>
      </p:sp>
      <p:sp>
        <p:nvSpPr>
          <p:cNvPr id="27" name="text-70"/>
          <p:cNvSpPr txBox="1"/>
          <p:nvPr/>
        </p:nvSpPr>
        <p:spPr>
          <a:xfrm>
            <a:off x="2240280" y="4434840"/>
            <a:ext cx="9052560" cy="365760"/>
          </a:xfrm>
          <a:prstGeom prst="rect">
            <a:avLst/>
          </a:prstGeom>
          <a:noFill/>
          <a:ln/>
        </p:spPr>
        <p:txBody>
          <a:bodyPr wrap="square" lIns="1016" tIns="1016" rIns="1016" bIns="1016" rtlCol="0" anchor="ctr"/>
          <a:lstStyle/>
          <a:p>
            <a:pPr algn="l" indent="0" marL="0">
              <a:buNone/>
            </a:pPr>
            <a:r>
              <a:rPr lang="en-US" sz="1400" dirty="0">
                <a:solidFill>
                  <a:schemeClr val="tx1"/>
                </a:solidFill>
              </a:rPr>
              <a:t>B21 is mounted on the slotted bracket (since INC-2025-118)</a:t>
            </a:r>
            <a:endParaRPr lang="en-US" sz="1400" dirty="0"/>
          </a:p>
        </p:txBody>
      </p:sp>
      <p:sp>
        <p:nvSpPr>
          <p:cNvPr id="28" name="card-71"/>
          <p:cNvSpPr/>
          <p:nvPr/>
        </p:nvSpPr>
        <p:spPr>
          <a:xfrm>
            <a:off x="777240" y="4965192"/>
            <a:ext cx="1280160" cy="365760"/>
          </a:xfrm>
          <a:prstGeom prst="roundRect">
            <a:avLst>
              <a:gd name="adj" fmla="val 30000"/>
            </a:avLst>
          </a:prstGeom>
          <a:solidFill>
            <a:srgbClr val="D1FAE5"/>
          </a:solidFill>
          <a:ln w="12700">
            <a:solidFill>
              <a:srgbClr val="D1FAE5"/>
            </a:solidFill>
            <a:prstDash val="solid"/>
          </a:ln>
        </p:spPr>
      </p:sp>
      <p:sp>
        <p:nvSpPr>
          <p:cNvPr id="29" name="text-72"/>
          <p:cNvSpPr txBox="1"/>
          <p:nvPr/>
        </p:nvSpPr>
        <p:spPr>
          <a:xfrm>
            <a:off x="777240" y="4965192"/>
            <a:ext cx="1280160" cy="365760"/>
          </a:xfrm>
          <a:prstGeom prst="rect">
            <a:avLst/>
          </a:prstGeom>
          <a:noFill/>
          <a:ln/>
        </p:spPr>
        <p:txBody>
          <a:bodyPr wrap="square" lIns="1016" tIns="1016" rIns="1016" bIns="1016" rtlCol="0" anchor="ctr"/>
          <a:lstStyle/>
          <a:p>
            <a:pPr algn="ctr" indent="0" marL="0">
              <a:buNone/>
            </a:pPr>
            <a:r>
              <a:rPr lang="en-US" sz="1200" b="1" dirty="0">
                <a:solidFill>
                  <a:srgbClr val="10B981"/>
                </a:solidFill>
              </a:rPr>
              <a:t>valid</a:t>
            </a:r>
            <a:endParaRPr lang="en-US" sz="1200" dirty="0"/>
          </a:p>
        </p:txBody>
      </p:sp>
      <p:sp>
        <p:nvSpPr>
          <p:cNvPr id="30" name="text-73"/>
          <p:cNvSpPr txBox="1"/>
          <p:nvPr/>
        </p:nvSpPr>
        <p:spPr>
          <a:xfrm>
            <a:off x="2240280" y="4965192"/>
            <a:ext cx="9052560" cy="365760"/>
          </a:xfrm>
          <a:prstGeom prst="rect">
            <a:avLst/>
          </a:prstGeom>
          <a:noFill/>
          <a:ln/>
        </p:spPr>
        <p:txBody>
          <a:bodyPr wrap="square" lIns="1016" tIns="1016" rIns="1016" bIns="1016" rtlCol="0" anchor="ctr"/>
          <a:lstStyle/>
          <a:p>
            <a:pPr algn="l" indent="0" marL="0">
              <a:buNone/>
            </a:pPr>
            <a:r>
              <a:rPr lang="en-US" sz="1400" dirty="0">
                <a:solidFill>
                  <a:schemeClr val="tx1"/>
                </a:solidFill>
              </a:rPr>
              <a:t>Keyed bracket 4471-KB ordered after INC-2026-112 — not yet fitted</a:t>
            </a:r>
            <a:endParaRPr lang="en-US" sz="1400" dirty="0"/>
          </a:p>
        </p:txBody>
      </p:sp>
      <p:sp>
        <p:nvSpPr>
          <p:cNvPr id="31" name="card-74"/>
          <p:cNvSpPr/>
          <p:nvPr/>
        </p:nvSpPr>
        <p:spPr>
          <a:xfrm>
            <a:off x="777240" y="5495544"/>
            <a:ext cx="1280160" cy="365760"/>
          </a:xfrm>
          <a:prstGeom prst="roundRect">
            <a:avLst>
              <a:gd name="adj" fmla="val 30000"/>
            </a:avLst>
          </a:prstGeom>
          <a:solidFill>
            <a:srgbClr val="E5E7EB"/>
          </a:solidFill>
          <a:ln w="12700">
            <a:solidFill>
              <a:srgbClr val="E5E7EB"/>
            </a:solidFill>
            <a:prstDash val="solid"/>
          </a:ln>
        </p:spPr>
      </p:sp>
      <p:sp>
        <p:nvSpPr>
          <p:cNvPr id="32" name="text-75"/>
          <p:cNvSpPr txBox="1"/>
          <p:nvPr/>
        </p:nvSpPr>
        <p:spPr>
          <a:xfrm>
            <a:off x="777240" y="5495544"/>
            <a:ext cx="1280160" cy="365760"/>
          </a:xfrm>
          <a:prstGeom prst="rect">
            <a:avLst/>
          </a:prstGeom>
          <a:noFill/>
          <a:ln/>
        </p:spPr>
        <p:txBody>
          <a:bodyPr wrap="square" lIns="1016" tIns="1016" rIns="1016" bIns="1016" rtlCol="0" anchor="ctr"/>
          <a:lstStyle/>
          <a:p>
            <a:pPr algn="ctr" indent="0" marL="0">
              <a:buNone/>
            </a:pPr>
            <a:r>
              <a:rPr lang="en-US" sz="1200" b="1" dirty="0">
                <a:solidFill>
                  <a:srgbClr val="64748B"/>
                </a:solidFill>
              </a:rPr>
              <a:t>superseded</a:t>
            </a:r>
            <a:endParaRPr lang="en-US" sz="1200" dirty="0"/>
          </a:p>
        </p:txBody>
      </p:sp>
      <p:sp>
        <p:nvSpPr>
          <p:cNvPr id="33" name="text-76"/>
          <p:cNvSpPr txBox="1"/>
          <p:nvPr/>
        </p:nvSpPr>
        <p:spPr>
          <a:xfrm>
            <a:off x="2240280" y="5495544"/>
            <a:ext cx="9052560" cy="365760"/>
          </a:xfrm>
          <a:prstGeom prst="rect">
            <a:avLst/>
          </a:prstGeom>
          <a:noFill/>
          <a:ln/>
        </p:spPr>
        <p:txBody>
          <a:bodyPr wrap="square" lIns="1016" tIns="1016" rIns="1016" bIns="1016" rtlCol="0" anchor="ctr"/>
          <a:lstStyle/>
          <a:p>
            <a:pPr algn="l" indent="0" marL="0">
              <a:buNone/>
            </a:pPr>
            <a:r>
              <a:rPr lang="en-US" sz="1400" dirty="0">
                <a:solidFill>
                  <a:schemeClr val="accent6"/>
                </a:solidFill>
              </a:rPr>
              <a:t>Photo-eye B12 is a WL12 without diagnostics → replaced by WL12G-IOL (INC-2026-140)</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2 · Line history (temporal KB)</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about history — ARIA answers from what happened</a:t>
            </a:r>
            <a:endParaRPr lang="en-US" sz="3000" dirty="0"/>
          </a:p>
        </p:txBody>
      </p:sp>
      <p:sp>
        <p:nvSpPr>
          <p:cNvPr id="4" name="card-77"/>
          <p:cNvSpPr/>
          <p:nvPr/>
        </p:nvSpPr>
        <p:spPr>
          <a:xfrm>
            <a:off x="548640" y="1600200"/>
            <a:ext cx="5715000" cy="1463040"/>
          </a:xfrm>
          <a:prstGeom prst="roundRect">
            <a:avLst>
              <a:gd name="adj" fmla="val 7500"/>
            </a:avLst>
          </a:prstGeom>
          <a:solidFill>
            <a:srgbClr val="F3F4F6"/>
          </a:solidFill>
          <a:ln w="12700">
            <a:solidFill>
              <a:srgbClr val="F3F4F6"/>
            </a:solidFill>
            <a:prstDash val="solid"/>
          </a:ln>
        </p:spPr>
      </p:sp>
      <p:sp>
        <p:nvSpPr>
          <p:cNvPr id="5" name="conversation-78"/>
          <p:cNvSpPr txBox="1"/>
          <p:nvPr/>
        </p:nvSpPr>
        <p:spPr>
          <a:xfrm>
            <a:off x="658368" y="1673352"/>
            <a:ext cx="5495544" cy="131673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“Has this happened before?”</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“Twice on this cell, both right after finger changes — INC-2025-118 and INC-2026-112. A keyed bracket was ordered after the second one but isn't fitted yet.”</a:t>
            </a:r>
            <a:endParaRPr lang="en-US" sz="1250" dirty="0"/>
          </a:p>
        </p:txBody>
      </p:sp>
      <p:sp>
        <p:nvSpPr>
          <p:cNvPr id="6" name="bullets-79"/>
          <p:cNvSpPr txBox="1"/>
          <p:nvPr/>
        </p:nvSpPr>
        <p:spPr>
          <a:xfrm>
            <a:off x="548640" y="3291840"/>
            <a:ext cx="5715000" cy="297180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Search: </a:t>
            </a:r>
            <a:pPr indent="0" marL="0">
              <a:spcAft>
                <a:spcPts val="700"/>
              </a:spcAft>
              <a:buNone/>
            </a:pPr>
            <a:r>
              <a:rPr lang="en-US" sz="1400" dirty="0">
                <a:solidFill>
                  <a:schemeClr val="tx1"/>
                </a:solidFill>
              </a:rPr>
              <a:t>search_past_incidents ranks incidents by text and embedding similarity, boosted by alarm, component and recency.</a:t>
            </a:r>
            <a:endParaRPr lang="en-US" sz="1400" dirty="0"/>
          </a:p>
          <a:p>
            <a:pPr marL="203200" indent="-203200">
              <a:spcAft>
                <a:spcPts val="700"/>
              </a:spcAft>
              <a:buSzPct val="100000"/>
              <a:buChar char="•"/>
            </a:pPr>
            <a:r>
              <a:rPr lang="en-US" sz="1400" b="1" dirty="0">
                <a:solidFill>
                  <a:schemeClr val="tx1"/>
                </a:solidFill>
              </a:rPr>
              <a:t>Timelines: </a:t>
            </a:r>
            <a:pPr indent="0" marL="0">
              <a:spcAft>
                <a:spcPts val="700"/>
              </a:spcAft>
              <a:buNone/>
            </a:pPr>
            <a:r>
              <a:rPr lang="en-US" sz="1400" dirty="0">
                <a:solidFill>
                  <a:schemeClr val="tx1"/>
                </a:solidFill>
              </a:rPr>
              <a:t>returns ordered events and time-valid facts; superseded facts are flagged, not hidden.</a:t>
            </a:r>
            <a:endParaRPr lang="en-US" sz="1400" dirty="0"/>
          </a:p>
          <a:p>
            <a:pPr marL="203200" indent="-203200">
              <a:spcAft>
                <a:spcPts val="700"/>
              </a:spcAft>
              <a:buSzPct val="100000"/>
              <a:buChar char="•"/>
            </a:pPr>
            <a:r>
              <a:rPr lang="en-US" sz="1400" b="1" dirty="0">
                <a:solidFill>
                  <a:schemeClr val="tx1"/>
                </a:solidFill>
              </a:rPr>
              <a:t>Discipline: </a:t>
            </a:r>
            <a:pPr indent="0" marL="0">
              <a:spcAft>
                <a:spcPts val="700"/>
              </a:spcAft>
              <a:buNone/>
            </a:pPr>
            <a:r>
              <a:rPr lang="en-US" sz="1400" dirty="0">
                <a:solidFill>
                  <a:schemeClr val="tx1"/>
                </a:solidFill>
              </a:rPr>
              <a:t>history is supporting evidence only — current machine evidence must confirm a cause.</a:t>
            </a:r>
            <a:endParaRPr lang="en-US" sz="1400" dirty="0"/>
          </a:p>
          <a:p>
            <a:pPr marL="203200" indent="-203200">
              <a:spcAft>
                <a:spcPts val="700"/>
              </a:spcAft>
              <a:buSzPct val="100000"/>
              <a:buChar char="•"/>
            </a:pPr>
            <a:r>
              <a:rPr lang="en-US" sz="1400" b="1" dirty="0">
                <a:solidFill>
                  <a:schemeClr val="tx1"/>
                </a:solidFill>
              </a:rPr>
              <a:t>Learning: </a:t>
            </a:r>
            <a:pPr indent="0" marL="0">
              <a:spcAft>
                <a:spcPts val="700"/>
              </a:spcAft>
              <a:buNone/>
            </a:pPr>
            <a:r>
              <a:rPr lang="en-US" sz="1400" dirty="0">
                <a:solidFill>
                  <a:schemeClr val="tx1"/>
                </a:solidFill>
              </a:rPr>
              <a:t>work the technician reports is written back and facts refresh in the background.</a:t>
            </a:r>
            <a:endParaRPr lang="en-US" sz="1400" dirty="0"/>
          </a:p>
        </p:txBody>
      </p:sp>
      <p:sp>
        <p:nvSpPr>
          <p:cNvPr id="7" name="video-placeholder-2"/>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80"/>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81"/>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82"/>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2 recording</a:t>
            </a:r>
            <a:endParaRPr lang="en-US" sz="1600" dirty="0"/>
          </a:p>
        </p:txBody>
      </p:sp>
      <p:sp>
        <p:nvSpPr>
          <p:cNvPr id="11" name="text-83"/>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Troubleshooting loop</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The model proposes, the engine decides</a:t>
            </a:r>
            <a:endParaRPr lang="en-US" sz="3000" dirty="0"/>
          </a:p>
        </p:txBody>
      </p:sp>
      <p:sp>
        <p:nvSpPr>
          <p:cNvPr id="4" name="card-84"/>
          <p:cNvSpPr/>
          <p:nvPr/>
        </p:nvSpPr>
        <p:spPr>
          <a:xfrm>
            <a:off x="548640"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85"/>
          <p:cNvSpPr txBox="1"/>
          <p:nvPr/>
        </p:nvSpPr>
        <p:spPr>
          <a:xfrm>
            <a:off x="548640"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Investigate</a:t>
            </a:r>
            <a:endParaRPr lang="en-US" sz="1400" dirty="0"/>
          </a:p>
        </p:txBody>
      </p:sp>
      <p:sp>
        <p:nvSpPr>
          <p:cNvPr id="6" name="arrow-86"/>
          <p:cNvSpPr/>
          <p:nvPr/>
        </p:nvSpPr>
        <p:spPr>
          <a:xfrm>
            <a:off x="1764792" y="2176272"/>
            <a:ext cx="182880" cy="0"/>
          </a:xfrm>
          <a:prstGeom prst="line">
            <a:avLst/>
          </a:prstGeom>
          <a:noFill/>
          <a:ln w="19050">
            <a:solidFill>
              <a:srgbClr val="64748B"/>
            </a:solidFill>
            <a:prstDash val="solid"/>
            <a:tailEnd type="triangle"/>
          </a:ln>
        </p:spPr>
      </p:sp>
      <p:sp>
        <p:nvSpPr>
          <p:cNvPr id="7" name="card-87"/>
          <p:cNvSpPr/>
          <p:nvPr/>
        </p:nvSpPr>
        <p:spPr>
          <a:xfrm>
            <a:off x="1947672"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8" name="text-88"/>
          <p:cNvSpPr txBox="1"/>
          <p:nvPr/>
        </p:nvSpPr>
        <p:spPr>
          <a:xfrm>
            <a:off x="1947672"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Test</a:t>
            </a:r>
            <a:endParaRPr lang="en-US" sz="1400" dirty="0"/>
          </a:p>
        </p:txBody>
      </p:sp>
      <p:sp>
        <p:nvSpPr>
          <p:cNvPr id="9" name="arrow-89"/>
          <p:cNvSpPr/>
          <p:nvPr/>
        </p:nvSpPr>
        <p:spPr>
          <a:xfrm>
            <a:off x="3163824" y="2176272"/>
            <a:ext cx="182880" cy="0"/>
          </a:xfrm>
          <a:prstGeom prst="line">
            <a:avLst/>
          </a:prstGeom>
          <a:noFill/>
          <a:ln w="19050">
            <a:solidFill>
              <a:srgbClr val="64748B"/>
            </a:solidFill>
            <a:prstDash val="solid"/>
            <a:tailEnd type="triangle"/>
          </a:ln>
        </p:spPr>
      </p:sp>
      <p:sp>
        <p:nvSpPr>
          <p:cNvPr id="10" name="card-90"/>
          <p:cNvSpPr/>
          <p:nvPr/>
        </p:nvSpPr>
        <p:spPr>
          <a:xfrm>
            <a:off x="3346704"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text-91"/>
          <p:cNvSpPr txBox="1"/>
          <p:nvPr/>
        </p:nvSpPr>
        <p:spPr>
          <a:xfrm>
            <a:off x="3346704"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Observe</a:t>
            </a:r>
            <a:endParaRPr lang="en-US" sz="1400" dirty="0"/>
          </a:p>
        </p:txBody>
      </p:sp>
      <p:sp>
        <p:nvSpPr>
          <p:cNvPr id="12" name="arrow-92"/>
          <p:cNvSpPr/>
          <p:nvPr/>
        </p:nvSpPr>
        <p:spPr>
          <a:xfrm>
            <a:off x="4562856" y="2176272"/>
            <a:ext cx="182880" cy="0"/>
          </a:xfrm>
          <a:prstGeom prst="line">
            <a:avLst/>
          </a:prstGeom>
          <a:noFill/>
          <a:ln w="19050">
            <a:solidFill>
              <a:srgbClr val="64748B"/>
            </a:solidFill>
            <a:prstDash val="solid"/>
            <a:tailEnd type="triangle"/>
          </a:ln>
        </p:spPr>
      </p:sp>
      <p:sp>
        <p:nvSpPr>
          <p:cNvPr id="13" name="card-93"/>
          <p:cNvSpPr/>
          <p:nvPr/>
        </p:nvSpPr>
        <p:spPr>
          <a:xfrm>
            <a:off x="4745736"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4" name="text-94"/>
          <p:cNvSpPr txBox="1"/>
          <p:nvPr/>
        </p:nvSpPr>
        <p:spPr>
          <a:xfrm>
            <a:off x="4745736"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Update</a:t>
            </a:r>
            <a:endParaRPr lang="en-US" sz="1400" dirty="0"/>
          </a:p>
        </p:txBody>
      </p:sp>
      <p:sp>
        <p:nvSpPr>
          <p:cNvPr id="15" name="arrow-95"/>
          <p:cNvSpPr/>
          <p:nvPr/>
        </p:nvSpPr>
        <p:spPr>
          <a:xfrm>
            <a:off x="5961888" y="2176272"/>
            <a:ext cx="182880" cy="0"/>
          </a:xfrm>
          <a:prstGeom prst="line">
            <a:avLst/>
          </a:prstGeom>
          <a:noFill/>
          <a:ln w="19050">
            <a:solidFill>
              <a:srgbClr val="64748B"/>
            </a:solidFill>
            <a:prstDash val="solid"/>
            <a:tailEnd type="triangle"/>
          </a:ln>
        </p:spPr>
      </p:sp>
      <p:sp>
        <p:nvSpPr>
          <p:cNvPr id="16" name="card-96"/>
          <p:cNvSpPr/>
          <p:nvPr/>
        </p:nvSpPr>
        <p:spPr>
          <a:xfrm>
            <a:off x="6144768"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text-97"/>
          <p:cNvSpPr txBox="1"/>
          <p:nvPr/>
        </p:nvSpPr>
        <p:spPr>
          <a:xfrm>
            <a:off x="6144768"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Decide</a:t>
            </a:r>
            <a:endParaRPr lang="en-US" sz="1400" dirty="0"/>
          </a:p>
        </p:txBody>
      </p:sp>
      <p:sp>
        <p:nvSpPr>
          <p:cNvPr id="18" name="arrow-98"/>
          <p:cNvSpPr/>
          <p:nvPr/>
        </p:nvSpPr>
        <p:spPr>
          <a:xfrm>
            <a:off x="7360920" y="2176272"/>
            <a:ext cx="182880" cy="0"/>
          </a:xfrm>
          <a:prstGeom prst="line">
            <a:avLst/>
          </a:prstGeom>
          <a:noFill/>
          <a:ln w="19050">
            <a:solidFill>
              <a:srgbClr val="64748B"/>
            </a:solidFill>
            <a:prstDash val="solid"/>
            <a:tailEnd type="triangle"/>
          </a:ln>
        </p:spPr>
      </p:sp>
      <p:sp>
        <p:nvSpPr>
          <p:cNvPr id="19" name="card-99"/>
          <p:cNvSpPr/>
          <p:nvPr/>
        </p:nvSpPr>
        <p:spPr>
          <a:xfrm>
            <a:off x="7543800" y="1783080"/>
            <a:ext cx="1216152" cy="777240"/>
          </a:xfrm>
          <a:prstGeom prst="roundRect">
            <a:avLst>
              <a:gd name="adj" fmla="val 14118"/>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0" name="text-100"/>
          <p:cNvSpPr txBox="1"/>
          <p:nvPr/>
        </p:nvSpPr>
        <p:spPr>
          <a:xfrm>
            <a:off x="7543800"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Report</a:t>
            </a:r>
            <a:endParaRPr lang="en-US" sz="1400" dirty="0"/>
          </a:p>
        </p:txBody>
      </p:sp>
      <p:sp>
        <p:nvSpPr>
          <p:cNvPr id="21" name="arrow-101"/>
          <p:cNvSpPr/>
          <p:nvPr/>
        </p:nvSpPr>
        <p:spPr>
          <a:xfrm>
            <a:off x="8759952" y="2176272"/>
            <a:ext cx="182880" cy="0"/>
          </a:xfrm>
          <a:prstGeom prst="line">
            <a:avLst/>
          </a:prstGeom>
          <a:noFill/>
          <a:ln w="19050">
            <a:solidFill>
              <a:srgbClr val="64748B"/>
            </a:solidFill>
            <a:prstDash val="solid"/>
            <a:tailEnd type="triangle"/>
          </a:ln>
        </p:spPr>
      </p:sp>
      <p:sp>
        <p:nvSpPr>
          <p:cNvPr id="22" name="card-102"/>
          <p:cNvSpPr/>
          <p:nvPr/>
        </p:nvSpPr>
        <p:spPr>
          <a:xfrm>
            <a:off x="8942832" y="1783080"/>
            <a:ext cx="1216152" cy="777240"/>
          </a:xfrm>
          <a:prstGeom prst="roundRect">
            <a:avLst>
              <a:gd name="adj" fmla="val 14118"/>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3" name="text-103"/>
          <p:cNvSpPr txBox="1"/>
          <p:nvPr/>
        </p:nvSpPr>
        <p:spPr>
          <a:xfrm>
            <a:off x="8942832"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Verify</a:t>
            </a:r>
            <a:endParaRPr lang="en-US" sz="1400" dirty="0"/>
          </a:p>
        </p:txBody>
      </p:sp>
      <p:sp>
        <p:nvSpPr>
          <p:cNvPr id="24" name="arrow-104"/>
          <p:cNvSpPr/>
          <p:nvPr/>
        </p:nvSpPr>
        <p:spPr>
          <a:xfrm>
            <a:off x="10158984" y="2176272"/>
            <a:ext cx="182880" cy="0"/>
          </a:xfrm>
          <a:prstGeom prst="line">
            <a:avLst/>
          </a:prstGeom>
          <a:noFill/>
          <a:ln w="19050">
            <a:solidFill>
              <a:srgbClr val="64748B"/>
            </a:solidFill>
            <a:prstDash val="solid"/>
            <a:tailEnd type="triangle"/>
          </a:ln>
        </p:spPr>
      </p:sp>
      <p:sp>
        <p:nvSpPr>
          <p:cNvPr id="25" name="card-105"/>
          <p:cNvSpPr/>
          <p:nvPr/>
        </p:nvSpPr>
        <p:spPr>
          <a:xfrm>
            <a:off x="10341864" y="1783080"/>
            <a:ext cx="1216152" cy="777240"/>
          </a:xfrm>
          <a:prstGeom prst="roundRect">
            <a:avLst>
              <a:gd name="adj" fmla="val 14118"/>
            </a:avLst>
          </a:prstGeom>
          <a:solidFill>
            <a:srgbClr val="D1FAE5"/>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6" name="text-106"/>
          <p:cNvSpPr txBox="1"/>
          <p:nvPr/>
        </p:nvSpPr>
        <p:spPr>
          <a:xfrm>
            <a:off x="10341864"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Explain</a:t>
            </a:r>
            <a:endParaRPr lang="en-US" sz="1400" dirty="0"/>
          </a:p>
        </p:txBody>
      </p:sp>
      <p:sp>
        <p:nvSpPr>
          <p:cNvPr id="27" name="loop-back-1"/>
          <p:cNvSpPr/>
          <p:nvPr/>
        </p:nvSpPr>
        <p:spPr>
          <a:xfrm>
            <a:off x="2551176" y="2560320"/>
            <a:ext cx="0" cy="320040"/>
          </a:xfrm>
          <a:prstGeom prst="line">
            <a:avLst/>
          </a:prstGeom>
          <a:noFill/>
          <a:ln w="19050">
            <a:solidFill>
              <a:srgbClr val="7C3AED"/>
            </a:solidFill>
            <a:prstDash val="solid"/>
            <a:headEnd type="triangle"/>
          </a:ln>
        </p:spPr>
      </p:sp>
      <p:sp>
        <p:nvSpPr>
          <p:cNvPr id="28" name="loop-back-2"/>
          <p:cNvSpPr/>
          <p:nvPr/>
        </p:nvSpPr>
        <p:spPr>
          <a:xfrm>
            <a:off x="2551176" y="2880360"/>
            <a:ext cx="4197096" cy="0"/>
          </a:xfrm>
          <a:prstGeom prst="line">
            <a:avLst/>
          </a:prstGeom>
          <a:noFill/>
          <a:ln w="19050">
            <a:solidFill>
              <a:srgbClr val="7C3AED"/>
            </a:solidFill>
            <a:prstDash val="solid"/>
          </a:ln>
        </p:spPr>
      </p:sp>
      <p:sp>
        <p:nvSpPr>
          <p:cNvPr id="29" name="loop-back-3"/>
          <p:cNvSpPr/>
          <p:nvPr/>
        </p:nvSpPr>
        <p:spPr>
          <a:xfrm>
            <a:off x="6748272" y="2560320"/>
            <a:ext cx="0" cy="320040"/>
          </a:xfrm>
          <a:prstGeom prst="line">
            <a:avLst/>
          </a:prstGeom>
          <a:noFill/>
          <a:ln w="19050">
            <a:solidFill>
              <a:srgbClr val="7C3AED"/>
            </a:solidFill>
            <a:prstDash val="solid"/>
          </a:ln>
        </p:spPr>
      </p:sp>
      <p:sp>
        <p:nvSpPr>
          <p:cNvPr id="30" name="text-107"/>
          <p:cNvSpPr txBox="1"/>
          <p:nvPr/>
        </p:nvSpPr>
        <p:spPr>
          <a:xfrm>
            <a:off x="2551176" y="2898648"/>
            <a:ext cx="4197096" cy="320040"/>
          </a:xfrm>
          <a:prstGeom prst="rect">
            <a:avLst/>
          </a:prstGeom>
          <a:noFill/>
          <a:ln/>
        </p:spPr>
        <p:txBody>
          <a:bodyPr wrap="square" lIns="1016" tIns="1016" rIns="1016" bIns="1016" rtlCol="0" anchor="t"/>
          <a:lstStyle/>
          <a:p>
            <a:pPr algn="ctr" indent="0" marL="0">
              <a:buNone/>
            </a:pPr>
            <a:r>
              <a:rPr lang="en-US" sz="1200" dirty="0">
                <a:solidFill>
                  <a:schemeClr val="accent1"/>
                </a:solidFill>
              </a:rPr>
              <a:t>Decide → next test while evidence is insufficient</a:t>
            </a:r>
            <a:endParaRPr lang="en-US" sz="1200" dirty="0"/>
          </a:p>
        </p:txBody>
      </p:sp>
      <p:sp>
        <p:nvSpPr>
          <p:cNvPr id="31" name="card-108"/>
          <p:cNvSpPr/>
          <p:nvPr/>
        </p:nvSpPr>
        <p:spPr>
          <a:xfrm>
            <a:off x="548640" y="3520440"/>
            <a:ext cx="3520440" cy="2606040"/>
          </a:xfrm>
          <a:prstGeom prst="roundRect">
            <a:avLst>
              <a:gd name="adj" fmla="val 4211"/>
            </a:avLst>
          </a:prstGeom>
          <a:solidFill>
            <a:srgbClr val="EDE9FE"/>
          </a:solidFill>
          <a:ln w="12700">
            <a:solidFill>
              <a:srgbClr val="EDE9FE"/>
            </a:solidFill>
            <a:prstDash val="solid"/>
          </a:ln>
        </p:spPr>
      </p:sp>
      <p:sp>
        <p:nvSpPr>
          <p:cNvPr id="32" name="text-109"/>
          <p:cNvSpPr txBox="1"/>
          <p:nvPr/>
        </p:nvSpPr>
        <p:spPr>
          <a:xfrm>
            <a:off x="77724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7C3AED"/>
                </a:solidFill>
              </a:rPr>
              <a:t>Model (gpt-5.6-terra)</a:t>
            </a:r>
            <a:endParaRPr lang="en-US" sz="1600" dirty="0"/>
          </a:p>
        </p:txBody>
      </p:sp>
      <p:sp>
        <p:nvSpPr>
          <p:cNvPr id="33" name="bullets-110"/>
          <p:cNvSpPr txBox="1"/>
          <p:nvPr/>
        </p:nvSpPr>
        <p:spPr>
          <a:xfrm>
            <a:off x="73152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Understands the worker</a:t>
            </a:r>
            <a:endParaRPr lang="en-US" sz="1400" dirty="0"/>
          </a:p>
          <a:p>
            <a:pPr marL="203200" indent="-203200">
              <a:spcAft>
                <a:spcPts val="700"/>
              </a:spcAft>
              <a:buSzPct val="100000"/>
              <a:buChar char="•"/>
            </a:pPr>
            <a:r>
              <a:rPr lang="en-US" sz="1400" dirty="0">
                <a:solidFill>
                  <a:schemeClr val="tx1"/>
                </a:solidFill>
              </a:rPr>
              <a:t>Proposes hypotheses and priors</a:t>
            </a:r>
            <a:endParaRPr lang="en-US" sz="1400" dirty="0"/>
          </a:p>
          <a:p>
            <a:pPr marL="203200" indent="-203200">
              <a:spcAft>
                <a:spcPts val="700"/>
              </a:spcAft>
              <a:buSzPct val="100000"/>
              <a:buChar char="•"/>
            </a:pPr>
            <a:r>
              <a:rPr lang="en-US" sz="1400" dirty="0">
                <a:solidFill>
                  <a:schemeClr val="tx1"/>
                </a:solidFill>
              </a:rPr>
              <a:t>Explains results in plain words</a:t>
            </a:r>
            <a:endParaRPr lang="en-US" sz="1400" dirty="0"/>
          </a:p>
        </p:txBody>
      </p:sp>
      <p:sp>
        <p:nvSpPr>
          <p:cNvPr id="34" name="card-111"/>
          <p:cNvSpPr/>
          <p:nvPr/>
        </p:nvSpPr>
        <p:spPr>
          <a:xfrm>
            <a:off x="4297680" y="3520440"/>
            <a:ext cx="3520440" cy="2606040"/>
          </a:xfrm>
          <a:prstGeom prst="roundRect">
            <a:avLst>
              <a:gd name="adj" fmla="val 4211"/>
            </a:avLst>
          </a:prstGeom>
          <a:solidFill>
            <a:srgbClr val="F3F4F6"/>
          </a:solidFill>
          <a:ln w="12700">
            <a:solidFill>
              <a:srgbClr val="F3F4F6"/>
            </a:solidFill>
            <a:prstDash val="solid"/>
          </a:ln>
        </p:spPr>
      </p:sp>
      <p:sp>
        <p:nvSpPr>
          <p:cNvPr id="35" name="text-112"/>
          <p:cNvSpPr txBox="1"/>
          <p:nvPr/>
        </p:nvSpPr>
        <p:spPr>
          <a:xfrm>
            <a:off x="452628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1F2937"/>
                </a:solidFill>
              </a:rPr>
              <a:t>Deterministic engine</a:t>
            </a:r>
            <a:endParaRPr lang="en-US" sz="1600" dirty="0"/>
          </a:p>
        </p:txBody>
      </p:sp>
      <p:sp>
        <p:nvSpPr>
          <p:cNvPr id="36" name="bullets-113"/>
          <p:cNvSpPr txBox="1"/>
          <p:nvPr/>
        </p:nvSpPr>
        <p:spPr>
          <a:xfrm>
            <a:off x="448056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Bayesian ranking from actual test outcomes</a:t>
            </a:r>
            <a:endParaRPr lang="en-US" sz="1400" dirty="0"/>
          </a:p>
          <a:p>
            <a:pPr marL="203200" indent="-203200">
              <a:spcAft>
                <a:spcPts val="700"/>
              </a:spcAft>
              <a:buSzPct val="100000"/>
              <a:buChar char="•"/>
            </a:pPr>
            <a:r>
              <a:rPr lang="en-US" sz="1400" dirty="0">
                <a:solidFill>
                  <a:schemeClr val="tx1"/>
                </a:solidFill>
              </a:rPr>
              <a:t>Next test by information gain</a:t>
            </a:r>
            <a:endParaRPr lang="en-US" sz="1400" dirty="0"/>
          </a:p>
          <a:p>
            <a:pPr marL="203200" indent="-203200">
              <a:spcAft>
                <a:spcPts val="700"/>
              </a:spcAft>
              <a:buSzPct val="100000"/>
              <a:buChar char="•"/>
            </a:pPr>
            <a:r>
              <a:rPr lang="en-US" sz="1400" dirty="0">
                <a:solidFill>
                  <a:schemeClr val="tx1"/>
                </a:solidFill>
              </a:rPr>
              <a:t>Stops at ≥90% with support, or budget</a:t>
            </a:r>
            <a:endParaRPr lang="en-US" sz="1400" dirty="0"/>
          </a:p>
        </p:txBody>
      </p:sp>
      <p:sp>
        <p:nvSpPr>
          <p:cNvPr id="37" name="card-114"/>
          <p:cNvSpPr/>
          <p:nvPr/>
        </p:nvSpPr>
        <p:spPr>
          <a:xfrm>
            <a:off x="8046720" y="3520440"/>
            <a:ext cx="3520440" cy="2606040"/>
          </a:xfrm>
          <a:prstGeom prst="roundRect">
            <a:avLst>
              <a:gd name="adj" fmla="val 4211"/>
            </a:avLst>
          </a:prstGeom>
          <a:solidFill>
            <a:srgbClr val="D1FAE5"/>
          </a:solidFill>
          <a:ln w="12700">
            <a:solidFill>
              <a:srgbClr val="D1FAE5"/>
            </a:solidFill>
            <a:prstDash val="solid"/>
          </a:ln>
        </p:spPr>
      </p:sp>
      <p:sp>
        <p:nvSpPr>
          <p:cNvPr id="38" name="text-115"/>
          <p:cNvSpPr txBox="1"/>
          <p:nvPr/>
        </p:nvSpPr>
        <p:spPr>
          <a:xfrm>
            <a:off x="827532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047857"/>
                </a:solidFill>
              </a:rPr>
              <a:t>Safety + verification</a:t>
            </a:r>
            <a:endParaRPr lang="en-US" sz="1600" dirty="0"/>
          </a:p>
        </p:txBody>
      </p:sp>
      <p:sp>
        <p:nvSpPr>
          <p:cNvPr id="39" name="bullets-116"/>
          <p:cNvSpPr txBox="1"/>
          <p:nvPr/>
        </p:nvSpPr>
        <p:spPr>
          <a:xfrm>
            <a:off x="822960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Permission rules block unsafe tests</a:t>
            </a:r>
            <a:endParaRPr lang="en-US" sz="1400" dirty="0"/>
          </a:p>
          <a:p>
            <a:pPr marL="203200" indent="-203200">
              <a:spcAft>
                <a:spcPts val="700"/>
              </a:spcAft>
              <a:buSzPct val="100000"/>
              <a:buChar char="•"/>
            </a:pPr>
            <a:r>
              <a:rPr lang="en-US" sz="1400" dirty="0">
                <a:solidFill>
                  <a:schemeClr val="tx1"/>
                </a:solidFill>
              </a:rPr>
              <a:t>Restart / reset / bypass always declined</a:t>
            </a:r>
            <a:endParaRPr lang="en-US" sz="1400" dirty="0"/>
          </a:p>
          <a:p>
            <a:pPr marL="203200" indent="-203200">
              <a:spcAft>
                <a:spcPts val="700"/>
              </a:spcAft>
              <a:buSzPct val="100000"/>
              <a:buChar char="•"/>
            </a:pPr>
            <a:r>
              <a:rPr lang="en-US" sz="1400" dirty="0">
                <a:solidFill>
                  <a:schemeClr val="tx1"/>
                </a:solidFill>
              </a:rPr>
              <a:t>Report re-read and checked before speaking</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3 · Troubleshooting on the call</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Report a problem — ARIA investigates while you talk</a:t>
            </a:r>
            <a:endParaRPr lang="en-US" sz="3000" dirty="0"/>
          </a:p>
        </p:txBody>
      </p:sp>
      <p:sp>
        <p:nvSpPr>
          <p:cNvPr id="4" name="card-117"/>
          <p:cNvSpPr/>
          <p:nvPr/>
        </p:nvSpPr>
        <p:spPr>
          <a:xfrm>
            <a:off x="548640" y="1600200"/>
            <a:ext cx="5715000" cy="2331720"/>
          </a:xfrm>
          <a:prstGeom prst="roundRect">
            <a:avLst>
              <a:gd name="adj" fmla="val 4706"/>
            </a:avLst>
          </a:prstGeom>
          <a:solidFill>
            <a:srgbClr val="F3F4F6"/>
          </a:solidFill>
          <a:ln w="12700">
            <a:solidFill>
              <a:srgbClr val="F3F4F6"/>
            </a:solidFill>
            <a:prstDash val="solid"/>
          </a:ln>
        </p:spPr>
      </p:sp>
      <p:sp>
        <p:nvSpPr>
          <p:cNvPr id="5" name="conversation-118"/>
          <p:cNvSpPr txBox="1"/>
          <p:nvPr/>
        </p:nvSpPr>
        <p:spPr>
          <a:xfrm>
            <a:off x="658368" y="1673352"/>
            <a:ext cx="5495544" cy="218541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palletizer has stopped. Find the cause.”</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“I'll check the alarms and signals first.”</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gripper was serviced this morning.”</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“B21 reads 2.9 mm against a 2.0 mm switching distance — likely knocked out of position during the service.”</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“Can you restart it?” ARIA: “I can't. Realign B21 per 4.1 first — raise a work order?”</a:t>
            </a:r>
            <a:endParaRPr lang="en-US" sz="1250" dirty="0"/>
          </a:p>
        </p:txBody>
      </p:sp>
      <p:sp>
        <p:nvSpPr>
          <p:cNvPr id="6" name="bullets-119"/>
          <p:cNvSpPr txBox="1"/>
          <p:nvPr/>
        </p:nvSpPr>
        <p:spPr>
          <a:xfrm>
            <a:off x="548640" y="4160520"/>
            <a:ext cx="5715000" cy="210312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Tools: </a:t>
            </a:r>
            <a:pPr indent="0" marL="0">
              <a:spcAft>
                <a:spcPts val="700"/>
              </a:spcAft>
              <a:buNone/>
            </a:pPr>
            <a:r>
              <a:rPr lang="en-US" sz="1400" dirty="0">
                <a:solidFill>
                  <a:schemeClr val="tx1"/>
                </a:solidFill>
              </a:rPr>
              <a:t>snapshot, alarm history, sequence trace, incidents, manuals, fault model, hypotheses, diagnostic tests.</a:t>
            </a:r>
            <a:endParaRPr lang="en-US" sz="1400" dirty="0"/>
          </a:p>
          <a:p>
            <a:pPr marL="203200" indent="-203200">
              <a:spcAft>
                <a:spcPts val="700"/>
              </a:spcAft>
              <a:buSzPct val="100000"/>
              <a:buChar char="•"/>
            </a:pPr>
            <a:r>
              <a:rPr lang="en-US" sz="1400" b="1" dirty="0">
                <a:solidFill>
                  <a:schemeClr val="tx1"/>
                </a:solidFill>
              </a:rPr>
              <a:t>Live input: </a:t>
            </a:r>
            <a:pPr indent="0" marL="0">
              <a:spcAft>
                <a:spcPts val="700"/>
              </a:spcAft>
              <a:buNone/>
            </a:pPr>
            <a:r>
              <a:rPr lang="en-US" sz="1400" dirty="0">
                <a:solidFill>
                  <a:schemeClr val="tx1"/>
                </a:solidFill>
              </a:rPr>
              <a:t>the remark is queued into the running loop and nudges belief; tests still decide.</a:t>
            </a:r>
            <a:endParaRPr lang="en-US" sz="1400" dirty="0"/>
          </a:p>
          <a:p>
            <a:pPr marL="203200" indent="-203200">
              <a:spcAft>
                <a:spcPts val="700"/>
              </a:spcAft>
              <a:buSzPct val="100000"/>
              <a:buChar char="•"/>
            </a:pPr>
            <a:r>
              <a:rPr lang="en-US" sz="1400" b="1" dirty="0">
                <a:solidFill>
                  <a:schemeClr val="tx1"/>
                </a:solidFill>
              </a:rPr>
              <a:t>Safety: </a:t>
            </a:r>
            <a:pPr indent="0" marL="0">
              <a:spcAft>
                <a:spcPts val="700"/>
              </a:spcAft>
              <a:buNone/>
            </a:pPr>
            <a:r>
              <a:rPr lang="en-US" sz="1400" dirty="0">
                <a:solidFill>
                  <a:schemeClr val="tx1"/>
                </a:solidFill>
              </a:rPr>
              <a:t>moving tests blocked by rules; restart routed to policy and declined.</a:t>
            </a:r>
            <a:endParaRPr lang="en-US" sz="1400" dirty="0"/>
          </a:p>
          <a:p>
            <a:pPr marL="203200" indent="-203200">
              <a:spcAft>
                <a:spcPts val="700"/>
              </a:spcAft>
              <a:buSzPct val="100000"/>
              <a:buChar char="•"/>
            </a:pPr>
            <a:r>
              <a:rPr lang="en-US" sz="1400" b="1" dirty="0">
                <a:solidFill>
                  <a:schemeClr val="tx1"/>
                </a:solidFill>
              </a:rPr>
              <a:t>Verified: </a:t>
            </a:r>
            <a:pPr indent="0" marL="0">
              <a:spcAft>
                <a:spcPts val="700"/>
              </a:spcAft>
              <a:buNone/>
            </a:pPr>
            <a:r>
              <a:rPr lang="en-US" sz="1400" dirty="0">
                <a:solidFill>
                  <a:schemeClr val="tx1"/>
                </a:solidFill>
              </a:rPr>
              <a:t>report written, re-read from disk and checked before ARIA speaks it.</a:t>
            </a:r>
            <a:endParaRPr lang="en-US" sz="1400" dirty="0"/>
          </a:p>
        </p:txBody>
      </p:sp>
      <p:sp>
        <p:nvSpPr>
          <p:cNvPr id="7" name="video-placeholder-3"/>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20"/>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21"/>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22"/>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3 recording</a:t>
            </a:r>
            <a:endParaRPr lang="en-US" sz="1600" dirty="0"/>
          </a:p>
        </p:txBody>
      </p:sp>
      <p:sp>
        <p:nvSpPr>
          <p:cNvPr id="11" name="text-123"/>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Visuals on request</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Say “show me” — ARIA draws a live card in the chat</a:t>
            </a:r>
            <a:endParaRPr lang="en-US" sz="3000" dirty="0"/>
          </a:p>
        </p:txBody>
      </p:sp>
      <p:sp>
        <p:nvSpPr>
          <p:cNvPr id="4" name="card-124"/>
          <p:cNvSpPr/>
          <p:nvPr/>
        </p:nvSpPr>
        <p:spPr>
          <a:xfrm>
            <a:off x="548640"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125"/>
          <p:cNvSpPr txBox="1"/>
          <p:nvPr/>
        </p:nvSpPr>
        <p:spPr>
          <a:xfrm>
            <a:off x="685800"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Line status</a:t>
            </a:r>
            <a:endParaRPr lang="en-US" sz="1400" dirty="0"/>
          </a:p>
        </p:txBody>
      </p:sp>
      <p:sp>
        <p:nvSpPr>
          <p:cNvPr id="6" name="text-126"/>
          <p:cNvSpPr txBox="1"/>
          <p:nvPr/>
        </p:nvSpPr>
        <p:spPr>
          <a:xfrm>
            <a:off x="685800" y="23317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PAL-01 · FAULT</a:t>
            </a:r>
            <a:endParaRPr lang="en-US" sz="1150" dirty="0"/>
          </a:p>
        </p:txBody>
      </p:sp>
      <p:sp>
        <p:nvSpPr>
          <p:cNvPr id="7" name="text-127"/>
          <p:cNvSpPr txBox="1"/>
          <p:nvPr/>
        </p:nvSpPr>
        <p:spPr>
          <a:xfrm>
            <a:off x="685800" y="27889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A-301 gripper close</a:t>
            </a:r>
            <a:endParaRPr lang="en-US" sz="1150" dirty="0"/>
          </a:p>
        </p:txBody>
      </p:sp>
      <p:sp>
        <p:nvSpPr>
          <p:cNvPr id="8" name="text-128"/>
          <p:cNvSpPr txBox="1"/>
          <p:nvPr/>
        </p:nvSpPr>
        <p:spPr>
          <a:xfrm>
            <a:off x="685800" y="3246120"/>
            <a:ext cx="1874520" cy="411480"/>
          </a:xfrm>
          <a:prstGeom prst="rect">
            <a:avLst/>
          </a:prstGeom>
          <a:noFill/>
          <a:ln/>
        </p:spPr>
        <p:txBody>
          <a:bodyPr wrap="square" lIns="1016" tIns="1016" rIns="1016" bIns="1016" rtlCol="0" anchor="t"/>
          <a:lstStyle/>
          <a:p>
            <a:pPr algn="l" indent="0" marL="0">
              <a:buNone/>
            </a:pPr>
            <a:r>
              <a:rPr lang="en-US" sz="1150" dirty="0">
                <a:solidFill>
                  <a:srgbClr val="10B981"/>
                </a:solidFill>
              </a:rPr>
              <a:t>✓ close command issued</a:t>
            </a:r>
            <a:endParaRPr lang="en-US" sz="1150" dirty="0"/>
          </a:p>
        </p:txBody>
      </p:sp>
      <p:sp>
        <p:nvSpPr>
          <p:cNvPr id="9" name="text-129"/>
          <p:cNvSpPr txBox="1"/>
          <p:nvPr/>
        </p:nvSpPr>
        <p:spPr>
          <a:xfrm>
            <a:off x="685800" y="37033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 closed feedback in 1.5 s</a:t>
            </a:r>
            <a:endParaRPr lang="en-US" sz="1150" dirty="0"/>
          </a:p>
        </p:txBody>
      </p:sp>
      <p:sp>
        <p:nvSpPr>
          <p:cNvPr id="10" name="card-130"/>
          <p:cNvSpPr/>
          <p:nvPr/>
        </p:nvSpPr>
        <p:spPr>
          <a:xfrm>
            <a:off x="2798064"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text-131"/>
          <p:cNvSpPr txBox="1"/>
          <p:nvPr/>
        </p:nvSpPr>
        <p:spPr>
          <a:xfrm>
            <a:off x="2935224"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Alarm history</a:t>
            </a:r>
            <a:endParaRPr lang="en-US" sz="1400" dirty="0"/>
          </a:p>
        </p:txBody>
      </p:sp>
      <p:sp>
        <p:nvSpPr>
          <p:cNvPr id="12" name="text-132"/>
          <p:cNvSpPr txBox="1"/>
          <p:nvPr/>
        </p:nvSpPr>
        <p:spPr>
          <a:xfrm>
            <a:off x="2935224" y="23317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14:02 I-001 cell started</a:t>
            </a:r>
            <a:endParaRPr lang="en-US" sz="1150" dirty="0"/>
          </a:p>
        </p:txBody>
      </p:sp>
      <p:sp>
        <p:nvSpPr>
          <p:cNvPr id="13" name="text-133"/>
          <p:cNvSpPr txBox="1"/>
          <p:nvPr/>
        </p:nvSpPr>
        <p:spPr>
          <a:xfrm>
            <a:off x="2935224" y="27889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15:10 W-110 film low</a:t>
            </a:r>
            <a:endParaRPr lang="en-US" sz="1150" dirty="0"/>
          </a:p>
        </p:txBody>
      </p:sp>
      <p:sp>
        <p:nvSpPr>
          <p:cNvPr id="14" name="text-134"/>
          <p:cNvSpPr txBox="1"/>
          <p:nvPr/>
        </p:nvSpPr>
        <p:spPr>
          <a:xfrm>
            <a:off x="2935224" y="32461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16:47 A-301 active</a:t>
            </a:r>
            <a:endParaRPr lang="en-US" sz="1150" dirty="0"/>
          </a:p>
        </p:txBody>
      </p:sp>
      <p:sp>
        <p:nvSpPr>
          <p:cNvPr id="15" name="card-135"/>
          <p:cNvSpPr/>
          <p:nvPr/>
        </p:nvSpPr>
        <p:spPr>
          <a:xfrm>
            <a:off x="5047488"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6" name="text-136"/>
          <p:cNvSpPr txBox="1"/>
          <p:nvPr/>
        </p:nvSpPr>
        <p:spPr>
          <a:xfrm>
            <a:off x="5184648"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Maintenance plan</a:t>
            </a:r>
            <a:endParaRPr lang="en-US" sz="1400" dirty="0"/>
          </a:p>
        </p:txBody>
      </p:sp>
      <p:sp>
        <p:nvSpPr>
          <p:cNvPr id="17" name="text-137"/>
          <p:cNvSpPr txBox="1"/>
          <p:nvPr/>
        </p:nvSpPr>
        <p:spPr>
          <a:xfrm>
            <a:off x="5184648" y="23317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overdue · B12 lens clean</a:t>
            </a:r>
            <a:endParaRPr lang="en-US" sz="1150" dirty="0"/>
          </a:p>
        </p:txBody>
      </p:sp>
      <p:sp>
        <p:nvSpPr>
          <p:cNvPr id="18" name="text-138"/>
          <p:cNvSpPr txBox="1"/>
          <p:nvPr/>
        </p:nvSpPr>
        <p:spPr>
          <a:xfrm>
            <a:off x="5184648" y="27889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overdue · infeed belt</a:t>
            </a:r>
            <a:endParaRPr lang="en-US" sz="1150" dirty="0"/>
          </a:p>
        </p:txBody>
      </p:sp>
      <p:sp>
        <p:nvSpPr>
          <p:cNvPr id="19" name="text-139"/>
          <p:cNvSpPr txBox="1"/>
          <p:nvPr/>
        </p:nvSpPr>
        <p:spPr>
          <a:xfrm>
            <a:off x="5184648" y="3246120"/>
            <a:ext cx="1874520" cy="411480"/>
          </a:xfrm>
          <a:prstGeom prst="rect">
            <a:avLst/>
          </a:prstGeom>
          <a:noFill/>
          <a:ln/>
        </p:spPr>
        <p:txBody>
          <a:bodyPr wrap="square" lIns="1016" tIns="1016" rIns="1016" bIns="1016" rtlCol="0" anchor="t"/>
          <a:lstStyle/>
          <a:p>
            <a:pPr algn="l" indent="0" marL="0">
              <a:buNone/>
            </a:pPr>
            <a:r>
              <a:rPr lang="en-US" sz="1150" dirty="0">
                <a:solidFill>
                  <a:srgbClr val="F59E0B"/>
                </a:solidFill>
              </a:rPr>
              <a:t>due · filter-regulator</a:t>
            </a:r>
            <a:endParaRPr lang="en-US" sz="1150" dirty="0"/>
          </a:p>
        </p:txBody>
      </p:sp>
      <p:sp>
        <p:nvSpPr>
          <p:cNvPr id="20" name="card-140"/>
          <p:cNvSpPr/>
          <p:nvPr/>
        </p:nvSpPr>
        <p:spPr>
          <a:xfrm>
            <a:off x="7296912"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1" name="text-141"/>
          <p:cNvSpPr txBox="1"/>
          <p:nvPr/>
        </p:nvSpPr>
        <p:spPr>
          <a:xfrm>
            <a:off x="7434072"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Incident history</a:t>
            </a:r>
            <a:endParaRPr lang="en-US" sz="1400" dirty="0"/>
          </a:p>
        </p:txBody>
      </p:sp>
      <p:sp>
        <p:nvSpPr>
          <p:cNvPr id="22" name="text-142"/>
          <p:cNvSpPr txBox="1"/>
          <p:nvPr/>
        </p:nvSpPr>
        <p:spPr>
          <a:xfrm>
            <a:off x="7434072" y="2331720"/>
            <a:ext cx="1874520" cy="411480"/>
          </a:xfrm>
          <a:prstGeom prst="rect">
            <a:avLst/>
          </a:prstGeom>
          <a:noFill/>
          <a:ln/>
        </p:spPr>
        <p:txBody>
          <a:bodyPr wrap="square" lIns="1016" tIns="1016" rIns="1016" bIns="1016" rtlCol="0" anchor="t"/>
          <a:lstStyle/>
          <a:p>
            <a:pPr algn="l" indent="0" marL="0">
              <a:buNone/>
            </a:pPr>
            <a:r>
              <a:rPr lang="en-US" sz="1150" dirty="0">
                <a:solidFill>
                  <a:srgbClr val="1F2937"/>
                </a:solidFill>
              </a:rPr>
              <a:t>INC-2026-112 B21 shifted</a:t>
            </a:r>
            <a:endParaRPr lang="en-US" sz="1150" dirty="0"/>
          </a:p>
        </p:txBody>
      </p:sp>
      <p:sp>
        <p:nvSpPr>
          <p:cNvPr id="23" name="text-143"/>
          <p:cNvSpPr txBox="1"/>
          <p:nvPr/>
        </p:nvSpPr>
        <p:spPr>
          <a:xfrm>
            <a:off x="7434072" y="2788920"/>
            <a:ext cx="1874520" cy="411480"/>
          </a:xfrm>
          <a:prstGeom prst="rect">
            <a:avLst/>
          </a:prstGeom>
          <a:noFill/>
          <a:ln/>
        </p:spPr>
        <p:txBody>
          <a:bodyPr wrap="square" lIns="1016" tIns="1016" rIns="1016" bIns="1016" rtlCol="0" anchor="t"/>
          <a:lstStyle/>
          <a:p>
            <a:pPr algn="l" indent="0" marL="0">
              <a:buNone/>
            </a:pPr>
            <a:r>
              <a:rPr lang="en-US" sz="1150" dirty="0">
                <a:solidFill>
                  <a:srgbClr val="1F2937"/>
                </a:solidFill>
              </a:rPr>
              <a:t>INC-2025-118 B21 shifted</a:t>
            </a:r>
            <a:endParaRPr lang="en-US" sz="1150" dirty="0"/>
          </a:p>
        </p:txBody>
      </p:sp>
      <p:sp>
        <p:nvSpPr>
          <p:cNvPr id="24" name="text-144"/>
          <p:cNvSpPr txBox="1"/>
          <p:nvPr/>
        </p:nvSpPr>
        <p:spPr>
          <a:xfrm>
            <a:off x="7434072" y="32461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bracket ordered, not fitted</a:t>
            </a:r>
            <a:endParaRPr lang="en-US" sz="1150" dirty="0"/>
          </a:p>
        </p:txBody>
      </p:sp>
      <p:sp>
        <p:nvSpPr>
          <p:cNvPr id="25" name="card-145"/>
          <p:cNvSpPr/>
          <p:nvPr/>
        </p:nvSpPr>
        <p:spPr>
          <a:xfrm>
            <a:off x="9546336"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6" name="text-146"/>
          <p:cNvSpPr txBox="1"/>
          <p:nvPr/>
        </p:nvSpPr>
        <p:spPr>
          <a:xfrm>
            <a:off x="9683496"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Investigation</a:t>
            </a:r>
            <a:endParaRPr lang="en-US" sz="1400" dirty="0"/>
          </a:p>
        </p:txBody>
      </p:sp>
      <p:sp>
        <p:nvSpPr>
          <p:cNvPr id="27" name="text-147"/>
          <p:cNvSpPr txBox="1"/>
          <p:nvPr/>
        </p:nvSpPr>
        <p:spPr>
          <a:xfrm>
            <a:off x="9683496" y="2331720"/>
            <a:ext cx="1874520" cy="411480"/>
          </a:xfrm>
          <a:prstGeom prst="rect">
            <a:avLst/>
          </a:prstGeom>
          <a:noFill/>
          <a:ln/>
        </p:spPr>
        <p:txBody>
          <a:bodyPr wrap="square" lIns="1016" tIns="1016" rIns="1016" bIns="1016" rtlCol="0" anchor="t"/>
          <a:lstStyle/>
          <a:p>
            <a:pPr algn="l" indent="0" marL="0">
              <a:buNone/>
            </a:pPr>
            <a:r>
              <a:rPr lang="en-US" sz="1150" dirty="0">
                <a:solidFill>
                  <a:srgbClr val="10B981"/>
                </a:solidFill>
              </a:rPr>
              <a:t>B21 misaligned  92%</a:t>
            </a:r>
            <a:endParaRPr lang="en-US" sz="1150" dirty="0"/>
          </a:p>
        </p:txBody>
      </p:sp>
      <p:sp>
        <p:nvSpPr>
          <p:cNvPr id="28" name="text-148"/>
          <p:cNvSpPr txBox="1"/>
          <p:nvPr/>
        </p:nvSpPr>
        <p:spPr>
          <a:xfrm>
            <a:off x="9683496" y="27889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Low air  4%</a:t>
            </a:r>
            <a:endParaRPr lang="en-US" sz="1150" dirty="0"/>
          </a:p>
        </p:txBody>
      </p:sp>
      <p:sp>
        <p:nvSpPr>
          <p:cNvPr id="29" name="text-149"/>
          <p:cNvSpPr txBox="1"/>
          <p:nvPr/>
        </p:nvSpPr>
        <p:spPr>
          <a:xfrm>
            <a:off x="9683496" y="32461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Cable fault  2%</a:t>
            </a:r>
            <a:endParaRPr lang="en-US" sz="1150" dirty="0"/>
          </a:p>
        </p:txBody>
      </p:sp>
      <p:sp>
        <p:nvSpPr>
          <p:cNvPr id="30" name="card-150"/>
          <p:cNvSpPr/>
          <p:nvPr/>
        </p:nvSpPr>
        <p:spPr>
          <a:xfrm>
            <a:off x="548640" y="4663440"/>
            <a:ext cx="11064240" cy="1143000"/>
          </a:xfrm>
          <a:prstGeom prst="roundRect">
            <a:avLst>
              <a:gd name="adj" fmla="val 9600"/>
            </a:avLst>
          </a:prstGeom>
          <a:solidFill>
            <a:srgbClr val="F3F4F6"/>
          </a:solidFill>
          <a:ln w="12700">
            <a:solidFill>
              <a:srgbClr val="F3F4F6"/>
            </a:solidFill>
            <a:prstDash val="solid"/>
          </a:ln>
        </p:spPr>
      </p:sp>
      <p:sp>
        <p:nvSpPr>
          <p:cNvPr id="31" name="text-151"/>
          <p:cNvSpPr txBox="1"/>
          <p:nvPr/>
        </p:nvSpPr>
        <p:spPr>
          <a:xfrm>
            <a:off x="777240" y="4754880"/>
            <a:ext cx="10607040" cy="960120"/>
          </a:xfrm>
          <a:prstGeom prst="rect">
            <a:avLst/>
          </a:prstGeom>
          <a:noFill/>
          <a:ln/>
        </p:spPr>
        <p:txBody>
          <a:bodyPr wrap="square" lIns="1016" tIns="1016" rIns="1016" bIns="1016" rtlCol="0" anchor="ctr"/>
          <a:lstStyle/>
          <a:p>
            <a:pPr algn="l" indent="0" marL="0">
              <a:buNone/>
            </a:pPr>
            <a:r>
              <a:rPr lang="en-US" sz="1500" dirty="0">
                <a:solidFill>
                  <a:schemeClr val="tx1"/>
                </a:solidFill>
              </a:rPr>
              <a:t>show_visual(kind, focus) → typed server event → rendered inline as generative UI. Data comes from the same tools the agent uses, read at the moment you ask. Nothing is preloaded: no fixed dashboard, no polling.</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4 · Visuals on screen</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to see it — ARIA puts it on screen</a:t>
            </a:r>
            <a:endParaRPr lang="en-US" sz="3000" dirty="0"/>
          </a:p>
        </p:txBody>
      </p:sp>
      <p:sp>
        <p:nvSpPr>
          <p:cNvPr id="4" name="card-152"/>
          <p:cNvSpPr/>
          <p:nvPr/>
        </p:nvSpPr>
        <p:spPr>
          <a:xfrm>
            <a:off x="548640" y="1600200"/>
            <a:ext cx="5715000" cy="1737360"/>
          </a:xfrm>
          <a:prstGeom prst="roundRect">
            <a:avLst>
              <a:gd name="adj" fmla="val 6316"/>
            </a:avLst>
          </a:prstGeom>
          <a:solidFill>
            <a:srgbClr val="F3F4F6"/>
          </a:solidFill>
          <a:ln w="12700">
            <a:solidFill>
              <a:srgbClr val="F3F4F6"/>
            </a:solidFill>
            <a:prstDash val="solid"/>
          </a:ln>
        </p:spPr>
      </p:sp>
      <p:sp>
        <p:nvSpPr>
          <p:cNvPr id="5" name="conversation-153"/>
          <p:cNvSpPr txBox="1"/>
          <p:nvPr/>
        </p:nvSpPr>
        <p:spPr>
          <a:xfrm>
            <a:off x="658368" y="1673352"/>
            <a:ext cx="5495544" cy="159105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“Show me the line status.”</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“Put the alarms on screen.”</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“Show me what you found.”</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Renders the card in the chat and says one sentence about it.</a:t>
            </a:r>
            <a:endParaRPr lang="en-US" sz="1250" dirty="0"/>
          </a:p>
        </p:txBody>
      </p:sp>
      <p:sp>
        <p:nvSpPr>
          <p:cNvPr id="6" name="bullets-154"/>
          <p:cNvSpPr txBox="1"/>
          <p:nvPr/>
        </p:nvSpPr>
        <p:spPr>
          <a:xfrm>
            <a:off x="548640" y="3566160"/>
            <a:ext cx="5715000" cy="269748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Tool: </a:t>
            </a:r>
            <a:pPr indent="0" marL="0">
              <a:spcAft>
                <a:spcPts val="700"/>
              </a:spcAft>
              <a:buNone/>
            </a:pPr>
            <a:r>
              <a:rPr lang="en-US" sz="1400" dirty="0">
                <a:solidFill>
                  <a:schemeClr val="tx1"/>
                </a:solidFill>
              </a:rPr>
              <a:t>show_visual renders line status, alarm history, maintenance plan, incident history or the investigation.</a:t>
            </a:r>
            <a:endParaRPr lang="en-US" sz="1400" dirty="0"/>
          </a:p>
          <a:p>
            <a:pPr marL="203200" indent="-203200">
              <a:spcAft>
                <a:spcPts val="700"/>
              </a:spcAft>
              <a:buSzPct val="100000"/>
              <a:buChar char="•"/>
            </a:pPr>
            <a:r>
              <a:rPr lang="en-US" sz="1400" b="1" dirty="0">
                <a:solidFill>
                  <a:schemeClr val="tx1"/>
                </a:solidFill>
              </a:rPr>
              <a:t>Live data: </a:t>
            </a:r>
            <a:pPr indent="0" marL="0">
              <a:spcAft>
                <a:spcPts val="700"/>
              </a:spcAft>
              <a:buNone/>
            </a:pPr>
            <a:r>
              <a:rPr lang="en-US" sz="1400" dirty="0">
                <a:solidFill>
                  <a:schemeClr val="tx1"/>
                </a:solidFill>
              </a:rPr>
              <a:t>read through the same simulated PLC and knowledge tools at the moment you ask.</a:t>
            </a:r>
            <a:endParaRPr lang="en-US" sz="1400" dirty="0"/>
          </a:p>
          <a:p>
            <a:pPr marL="203200" indent="-203200">
              <a:spcAft>
                <a:spcPts val="700"/>
              </a:spcAft>
              <a:buSzPct val="100000"/>
              <a:buChar char="•"/>
            </a:pPr>
            <a:r>
              <a:rPr lang="en-US" sz="1400" b="1" dirty="0">
                <a:solidFill>
                  <a:schemeClr val="tx1"/>
                </a:solidFill>
              </a:rPr>
              <a:t>On demand: </a:t>
            </a:r>
            <a:pPr indent="0" marL="0">
              <a:spcAft>
                <a:spcPts val="700"/>
              </a:spcAft>
              <a:buNone/>
            </a:pPr>
            <a:r>
              <a:rPr lang="en-US" sz="1400" dirty="0">
                <a:solidFill>
                  <a:schemeClr val="tx1"/>
                </a:solidFill>
              </a:rPr>
              <a:t>nothing is shown unless asked or part of the requested work.</a:t>
            </a:r>
            <a:endParaRPr lang="en-US" sz="1400" dirty="0"/>
          </a:p>
          <a:p>
            <a:pPr marL="203200" indent="-203200">
              <a:spcAft>
                <a:spcPts val="700"/>
              </a:spcAft>
              <a:buSzPct val="100000"/>
              <a:buChar char="•"/>
            </a:pPr>
            <a:r>
              <a:rPr lang="en-US" sz="1400" b="1" dirty="0">
                <a:solidFill>
                  <a:schemeClr val="tx1"/>
                </a:solidFill>
              </a:rPr>
              <a:t>Hands-free: </a:t>
            </a:r>
            <a:pPr indent="0" marL="0">
              <a:spcAft>
                <a:spcPts val="700"/>
              </a:spcAft>
              <a:buNone/>
            </a:pPr>
            <a:r>
              <a:rPr lang="en-US" sz="1400" dirty="0">
                <a:solidFill>
                  <a:schemeClr val="tx1"/>
                </a:solidFill>
              </a:rPr>
              <a:t>the worker never navigates a dashboard; they just ask.</a:t>
            </a:r>
            <a:endParaRPr lang="en-US" sz="1400" dirty="0"/>
          </a:p>
        </p:txBody>
      </p:sp>
      <p:sp>
        <p:nvSpPr>
          <p:cNvPr id="7" name="video-placeholder-4"/>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55"/>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56"/>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57"/>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4 recording</a:t>
            </a:r>
            <a:endParaRPr lang="en-US" sz="1600" dirty="0"/>
          </a:p>
        </p:txBody>
      </p:sp>
      <p:sp>
        <p:nvSpPr>
          <p:cNvPr id="11" name="text-158"/>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Full duplex</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Listening and speaking while the backend works</a:t>
            </a:r>
            <a:endParaRPr lang="en-US" sz="3000" dirty="0"/>
          </a:p>
        </p:txBody>
      </p:sp>
      <p:pic>
        <p:nvPicPr>
          <p:cNvPr id="4" name="image-timeline" descr="C:\Users\Rahul H P\Desktop\hackthon\aria\docs\aria_call_timeline.png">    </p:cNvPr>
          <p:cNvPicPr>
            <a:picLocks noChangeAspect="1"/>
          </p:cNvPicPr>
          <p:nvPr/>
        </p:nvPicPr>
        <p:blipFill>
          <a:blip r:embed="rId1"/>
          <a:stretch>
            <a:fillRect/>
          </a:stretch>
        </p:blipFill>
        <p:spPr>
          <a:xfrm>
            <a:off x="1340968" y="1463040"/>
            <a:ext cx="9509760" cy="4398264"/>
          </a:xfrm>
          <a:prstGeom prst="rect">
            <a:avLst/>
          </a:prstGeom>
        </p:spPr>
      </p:pic>
      <p:sp>
        <p:nvSpPr>
          <p:cNvPr id="5" name="text-159"/>
          <p:cNvSpPr txBox="1"/>
          <p:nvPr/>
        </p:nvSpPr>
        <p:spPr>
          <a:xfrm>
            <a:off x="548640" y="5943600"/>
            <a:ext cx="11064240" cy="457200"/>
          </a:xfrm>
          <a:prstGeom prst="rect">
            <a:avLst/>
          </a:prstGeom>
          <a:noFill/>
          <a:ln/>
        </p:spPr>
        <p:txBody>
          <a:bodyPr wrap="square" lIns="1016" tIns="1016" rIns="1016" bIns="1016" rtlCol="0" anchor="t"/>
          <a:lstStyle/>
          <a:p>
            <a:pPr algn="l" indent="0" marL="0">
              <a:buNone/>
            </a:pPr>
            <a:r>
              <a:rPr lang="en-US" sz="1300" dirty="0">
                <a:solidFill>
                  <a:schemeClr val="accent6"/>
                </a:solidFill>
              </a:rPr>
              <a:t>Delegate → filler → worker adds info (delegated again) → result injected via commentary.append → agent speaks the verified result. The app's Debug tab draws these lanes from a real call.</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5 · Full duplex</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Keep talking — ARIA folds it into the running work</a:t>
            </a:r>
            <a:endParaRPr lang="en-US" sz="3000" dirty="0"/>
          </a:p>
        </p:txBody>
      </p:sp>
      <p:sp>
        <p:nvSpPr>
          <p:cNvPr id="4" name="card-160"/>
          <p:cNvSpPr/>
          <p:nvPr/>
        </p:nvSpPr>
        <p:spPr>
          <a:xfrm>
            <a:off x="548640" y="1600200"/>
            <a:ext cx="5715000" cy="1600200"/>
          </a:xfrm>
          <a:prstGeom prst="roundRect">
            <a:avLst>
              <a:gd name="adj" fmla="val 6857"/>
            </a:avLst>
          </a:prstGeom>
          <a:solidFill>
            <a:srgbClr val="F3F4F6"/>
          </a:solidFill>
          <a:ln w="12700">
            <a:solidFill>
              <a:srgbClr val="F3F4F6"/>
            </a:solidFill>
            <a:prstDash val="solid"/>
          </a:ln>
        </p:spPr>
      </p:sp>
      <p:sp>
        <p:nvSpPr>
          <p:cNvPr id="5" name="conversation-161"/>
          <p:cNvSpPr txBox="1"/>
          <p:nvPr/>
        </p:nvSpPr>
        <p:spPr>
          <a:xfrm>
            <a:off x="658368" y="1673352"/>
            <a:ext cx="5495544" cy="1453896"/>
          </a:xfrm>
          <a:prstGeom prst="rect">
            <a:avLst/>
          </a:prstGeom>
          <a:noFill/>
          <a:ln/>
        </p:spPr>
        <p:txBody>
          <a:bodyPr wrap="square" lIns="635" tIns="635" rIns="635" bIns="635" rtlCol="0" anchor="ctr"/>
          <a:lstStyle/>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(working) runs diagnostics on the gripper…</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gripper was serviced this morning.”</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“Got it — I'll factor that in.” Marked: added to the running investigation.</a:t>
            </a:r>
            <a:endParaRPr lang="en-US" sz="1250" dirty="0"/>
          </a:p>
        </p:txBody>
      </p:sp>
      <p:sp>
        <p:nvSpPr>
          <p:cNvPr id="6" name="bullets-162"/>
          <p:cNvSpPr txBox="1"/>
          <p:nvPr/>
        </p:nvSpPr>
        <p:spPr>
          <a:xfrm>
            <a:off x="548640" y="3429000"/>
            <a:ext cx="5715000" cy="283464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Async: </a:t>
            </a:r>
            <a:pPr indent="0" marL="0">
              <a:spcAft>
                <a:spcPts val="700"/>
              </a:spcAft>
              <a:buNone/>
            </a:pPr>
            <a:r>
              <a:rPr lang="en-US" sz="1400" dirty="0">
                <a:solidFill>
                  <a:schemeClr val="tx1"/>
                </a:solidFill>
              </a:rPr>
              <a:t>GPT-Live keeps listening and speaking while the delegated backend turn runs.</a:t>
            </a:r>
            <a:endParaRPr lang="en-US" sz="1400" dirty="0"/>
          </a:p>
          <a:p>
            <a:pPr marL="203200" indent="-203200">
              <a:spcAft>
                <a:spcPts val="700"/>
              </a:spcAft>
              <a:buSzPct val="100000"/>
              <a:buChar char="•"/>
            </a:pPr>
            <a:r>
              <a:rPr lang="en-US" sz="1400" b="1" dirty="0">
                <a:solidFill>
                  <a:schemeClr val="tx1"/>
                </a:solidFill>
              </a:rPr>
              <a:t>Second delegation: </a:t>
            </a:r>
            <a:pPr indent="0" marL="0">
              <a:spcAft>
                <a:spcPts val="700"/>
              </a:spcAft>
              <a:buNone/>
            </a:pPr>
            <a:r>
              <a:rPr lang="en-US" sz="1400" dirty="0">
                <a:solidFill>
                  <a:schemeClr val="tx1"/>
                </a:solidFill>
              </a:rPr>
              <a:t>mid-task speech reaches the running loop as operator_updates; no restart of the task.</a:t>
            </a:r>
            <a:endParaRPr lang="en-US" sz="1400" dirty="0"/>
          </a:p>
          <a:p>
            <a:pPr marL="203200" indent="-203200">
              <a:spcAft>
                <a:spcPts val="700"/>
              </a:spcAft>
              <a:buSzPct val="100000"/>
              <a:buChar char="•"/>
            </a:pPr>
            <a:r>
              <a:rPr lang="en-US" sz="1400" b="1" dirty="0">
                <a:solidFill>
                  <a:schemeClr val="tx1"/>
                </a:solidFill>
              </a:rPr>
              <a:t>Two channels back: </a:t>
            </a:r>
            <a:pPr indent="0" marL="0">
              <a:spcAft>
                <a:spcPts val="700"/>
              </a:spcAft>
              <a:buNone/>
            </a:pPr>
            <a:r>
              <a:rPr lang="en-US" sz="1400" dirty="0">
                <a:solidFill>
                  <a:schemeClr val="tx1"/>
                </a:solidFill>
              </a:rPr>
              <a:t>commentary.append is spoken, thinking.append is silent context.</a:t>
            </a:r>
            <a:endParaRPr lang="en-US" sz="1400" dirty="0"/>
          </a:p>
          <a:p>
            <a:pPr marL="203200" indent="-203200">
              <a:spcAft>
                <a:spcPts val="700"/>
              </a:spcAft>
              <a:buSzPct val="100000"/>
              <a:buChar char="•"/>
            </a:pPr>
            <a:r>
              <a:rPr lang="en-US" sz="1400" b="1" dirty="0">
                <a:solidFill>
                  <a:schemeClr val="tx1"/>
                </a:solidFill>
              </a:rPr>
              <a:t>Debug view: </a:t>
            </a:r>
            <a:pPr indent="0" marL="0">
              <a:spcAft>
                <a:spcPts val="700"/>
              </a:spcAft>
              <a:buNone/>
            </a:pPr>
            <a:r>
              <a:rPr lang="en-US" sz="1400" dirty="0">
                <a:solidFill>
                  <a:schemeClr val="tx1"/>
                </a:solidFill>
              </a:rPr>
              <a:t>user audio, ASR, thinking, backend, agent text and agent audio lanes.</a:t>
            </a:r>
            <a:endParaRPr lang="en-US" sz="1400" dirty="0"/>
          </a:p>
        </p:txBody>
      </p:sp>
      <p:sp>
        <p:nvSpPr>
          <p:cNvPr id="7" name="video-placeholder-5"/>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63"/>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64"/>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65"/>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5 recording</a:t>
            </a:r>
            <a:endParaRPr lang="en-US" sz="1600" dirty="0"/>
          </a:p>
        </p:txBody>
      </p:sp>
      <p:sp>
        <p:nvSpPr>
          <p:cNvPr id="11" name="text-166"/>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nchor="t"/>
          <a:lstStyle/>
          <a:p>
            <a:pPr algn="l" indent="0" marL="0">
              <a:buNone/>
            </a:pPr>
            <a:r>
              <a:rPr lang="en-US" sz="4000" b="1" dirty="0">
                <a:solidFill>
                  <a:schemeClr val="bg1"/>
                </a:solidFill>
              </a:rPr>
              <a:t>Business value</a:t>
            </a: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nchor="t"/>
          <a:lstStyle/>
          <a:p>
            <a:pPr indent="0" marL="0">
              <a:buNone/>
            </a:pPr>
            <a:r>
              <a:rPr lang="en-US" sz="1800" dirty="0">
                <a:solidFill>
                  <a:srgbClr val="CBD5E1"/>
                </a:solidFill>
              </a:rPr>
              <a:t>Diagnosis time is downtime. ARIA cuts the search, keeps people safe and keeps the knowledge.</a:t>
            </a:r>
            <a:endParaRPr lang="en-US" sz="1800" dirty="0"/>
          </a:p>
        </p:txBody>
      </p:sp>
      <p:sp>
        <p:nvSpPr>
          <p:cNvPr id="4" name="card-167"/>
          <p:cNvSpPr/>
          <p:nvPr/>
        </p:nvSpPr>
        <p:spPr>
          <a:xfrm>
            <a:off x="548640" y="2377440"/>
            <a:ext cx="2606040" cy="2514600"/>
          </a:xfrm>
          <a:prstGeom prst="roundRect">
            <a:avLst>
              <a:gd name="adj" fmla="val 4364"/>
            </a:avLst>
          </a:prstGeom>
          <a:solidFill>
            <a:srgbClr val="1F2937"/>
          </a:solidFill>
          <a:ln w="12700">
            <a:solidFill>
              <a:srgbClr val="1F2937"/>
            </a:solidFill>
            <a:prstDash val="solid"/>
          </a:ln>
        </p:spPr>
      </p:sp>
      <p:sp>
        <p:nvSpPr>
          <p:cNvPr id="5" name="dot-168"/>
          <p:cNvSpPr/>
          <p:nvPr/>
        </p:nvSpPr>
        <p:spPr>
          <a:xfrm>
            <a:off x="777240" y="2606040"/>
            <a:ext cx="365760" cy="365760"/>
          </a:xfrm>
          <a:prstGeom prst="ellipse">
            <a:avLst/>
          </a:prstGeom>
          <a:solidFill>
            <a:srgbClr val="2563EB"/>
          </a:solidFill>
          <a:ln w="12700">
            <a:solidFill>
              <a:srgbClr val="2563EB"/>
            </a:solidFill>
            <a:prstDash val="solid"/>
          </a:ln>
        </p:spPr>
      </p:sp>
      <p:sp>
        <p:nvSpPr>
          <p:cNvPr id="6" name="text-169"/>
          <p:cNvSpPr txBox="1"/>
          <p:nvPr/>
        </p:nvSpPr>
        <p:spPr>
          <a:xfrm>
            <a:off x="731520"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Time to diagnosis</a:t>
            </a:r>
            <a:endParaRPr lang="en-US" sz="1800" dirty="0"/>
          </a:p>
        </p:txBody>
      </p:sp>
      <p:sp>
        <p:nvSpPr>
          <p:cNvPr id="7" name="text-170"/>
          <p:cNvSpPr txBox="1"/>
          <p:nvPr/>
        </p:nvSpPr>
        <p:spPr>
          <a:xfrm>
            <a:off x="731520"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Evidence, manuals and history gathered in one call instead of a walk to the HMI, the binder and the expert.</a:t>
            </a:r>
            <a:endParaRPr lang="en-US" sz="1350" dirty="0"/>
          </a:p>
        </p:txBody>
      </p:sp>
      <p:sp>
        <p:nvSpPr>
          <p:cNvPr id="8" name="card-171"/>
          <p:cNvSpPr/>
          <p:nvPr/>
        </p:nvSpPr>
        <p:spPr>
          <a:xfrm>
            <a:off x="3364992" y="2377440"/>
            <a:ext cx="2606040" cy="2514600"/>
          </a:xfrm>
          <a:prstGeom prst="roundRect">
            <a:avLst>
              <a:gd name="adj" fmla="val 4364"/>
            </a:avLst>
          </a:prstGeom>
          <a:solidFill>
            <a:srgbClr val="1F2937"/>
          </a:solidFill>
          <a:ln w="12700">
            <a:solidFill>
              <a:srgbClr val="1F2937"/>
            </a:solidFill>
            <a:prstDash val="solid"/>
          </a:ln>
        </p:spPr>
      </p:sp>
      <p:sp>
        <p:nvSpPr>
          <p:cNvPr id="9" name="dot-172"/>
          <p:cNvSpPr/>
          <p:nvPr/>
        </p:nvSpPr>
        <p:spPr>
          <a:xfrm>
            <a:off x="3593592" y="2606040"/>
            <a:ext cx="365760" cy="365760"/>
          </a:xfrm>
          <a:prstGeom prst="ellipse">
            <a:avLst/>
          </a:prstGeom>
          <a:solidFill>
            <a:srgbClr val="7C3AED"/>
          </a:solidFill>
          <a:ln w="12700">
            <a:solidFill>
              <a:srgbClr val="7C3AED"/>
            </a:solidFill>
            <a:prstDash val="solid"/>
          </a:ln>
        </p:spPr>
      </p:sp>
      <p:sp>
        <p:nvSpPr>
          <p:cNvPr id="10" name="text-173"/>
          <p:cNvSpPr txBox="1"/>
          <p:nvPr/>
        </p:nvSpPr>
        <p:spPr>
          <a:xfrm>
            <a:off x="3547872"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Fewer wasted tests</a:t>
            </a:r>
            <a:endParaRPr lang="en-US" sz="1800" dirty="0"/>
          </a:p>
        </p:txBody>
      </p:sp>
      <p:sp>
        <p:nvSpPr>
          <p:cNvPr id="11" name="text-174"/>
          <p:cNvSpPr txBox="1"/>
          <p:nvPr/>
        </p:nvSpPr>
        <p:spPr>
          <a:xfrm>
            <a:off x="3547872"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Each test is chosen for information gain; the eval counts unnecessary tests vs a baseline agent.</a:t>
            </a:r>
            <a:endParaRPr lang="en-US" sz="1350" dirty="0"/>
          </a:p>
        </p:txBody>
      </p:sp>
      <p:sp>
        <p:nvSpPr>
          <p:cNvPr id="12" name="card-175"/>
          <p:cNvSpPr/>
          <p:nvPr/>
        </p:nvSpPr>
        <p:spPr>
          <a:xfrm>
            <a:off x="6181344" y="2377440"/>
            <a:ext cx="2606040" cy="2514600"/>
          </a:xfrm>
          <a:prstGeom prst="roundRect">
            <a:avLst>
              <a:gd name="adj" fmla="val 4364"/>
            </a:avLst>
          </a:prstGeom>
          <a:solidFill>
            <a:srgbClr val="1F2937"/>
          </a:solidFill>
          <a:ln w="12700">
            <a:solidFill>
              <a:srgbClr val="1F2937"/>
            </a:solidFill>
            <a:prstDash val="solid"/>
          </a:ln>
        </p:spPr>
      </p:sp>
      <p:sp>
        <p:nvSpPr>
          <p:cNvPr id="13" name="dot-176"/>
          <p:cNvSpPr/>
          <p:nvPr/>
        </p:nvSpPr>
        <p:spPr>
          <a:xfrm>
            <a:off x="6409944" y="2606040"/>
            <a:ext cx="365760" cy="365760"/>
          </a:xfrm>
          <a:prstGeom prst="ellipse">
            <a:avLst/>
          </a:prstGeom>
          <a:solidFill>
            <a:srgbClr val="10B981"/>
          </a:solidFill>
          <a:ln w="12700">
            <a:solidFill>
              <a:srgbClr val="10B981"/>
            </a:solidFill>
            <a:prstDash val="solid"/>
          </a:ln>
        </p:spPr>
      </p:sp>
      <p:sp>
        <p:nvSpPr>
          <p:cNvPr id="14" name="text-177"/>
          <p:cNvSpPr txBox="1"/>
          <p:nvPr/>
        </p:nvSpPr>
        <p:spPr>
          <a:xfrm>
            <a:off x="6364224"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Safe by design</a:t>
            </a:r>
            <a:endParaRPr lang="en-US" sz="1800" dirty="0"/>
          </a:p>
        </p:txBody>
      </p:sp>
      <p:sp>
        <p:nvSpPr>
          <p:cNvPr id="15" name="text-178"/>
          <p:cNvSpPr txBox="1"/>
          <p:nvPr/>
        </p:nvSpPr>
        <p:spPr>
          <a:xfrm>
            <a:off x="6364224"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No remote restart, reset or bypass. Moving tests need permission. Reports verified before spoken.</a:t>
            </a:r>
            <a:endParaRPr lang="en-US" sz="1350" dirty="0"/>
          </a:p>
        </p:txBody>
      </p:sp>
      <p:sp>
        <p:nvSpPr>
          <p:cNvPr id="16" name="card-179"/>
          <p:cNvSpPr/>
          <p:nvPr/>
        </p:nvSpPr>
        <p:spPr>
          <a:xfrm>
            <a:off x="8997696" y="2377440"/>
            <a:ext cx="2606040" cy="2514600"/>
          </a:xfrm>
          <a:prstGeom prst="roundRect">
            <a:avLst>
              <a:gd name="adj" fmla="val 4364"/>
            </a:avLst>
          </a:prstGeom>
          <a:solidFill>
            <a:srgbClr val="1F2937"/>
          </a:solidFill>
          <a:ln w="12700">
            <a:solidFill>
              <a:srgbClr val="1F2937"/>
            </a:solidFill>
            <a:prstDash val="solid"/>
          </a:ln>
        </p:spPr>
      </p:sp>
      <p:sp>
        <p:nvSpPr>
          <p:cNvPr id="17" name="dot-180"/>
          <p:cNvSpPr/>
          <p:nvPr/>
        </p:nvSpPr>
        <p:spPr>
          <a:xfrm>
            <a:off x="9226296" y="2606040"/>
            <a:ext cx="365760" cy="365760"/>
          </a:xfrm>
          <a:prstGeom prst="ellipse">
            <a:avLst/>
          </a:prstGeom>
          <a:solidFill>
            <a:srgbClr val="F59E0B"/>
          </a:solidFill>
          <a:ln w="12700">
            <a:solidFill>
              <a:srgbClr val="F59E0B"/>
            </a:solidFill>
            <a:prstDash val="solid"/>
          </a:ln>
        </p:spPr>
      </p:sp>
      <p:sp>
        <p:nvSpPr>
          <p:cNvPr id="18" name="text-181"/>
          <p:cNvSpPr txBox="1"/>
          <p:nvPr/>
        </p:nvSpPr>
        <p:spPr>
          <a:xfrm>
            <a:off x="9180576"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Knowledge retained</a:t>
            </a:r>
            <a:endParaRPr lang="en-US" sz="1800" dirty="0"/>
          </a:p>
        </p:txBody>
      </p:sp>
      <p:sp>
        <p:nvSpPr>
          <p:cNvPr id="19" name="text-182"/>
          <p:cNvSpPr txBox="1"/>
          <p:nvPr/>
        </p:nvSpPr>
        <p:spPr>
          <a:xfrm>
            <a:off x="9180576"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Every diagnosis and logged fix updates the temporal KB, so a new technician gets a veteran's context.</a:t>
            </a:r>
            <a:endParaRPr lang="en-US" sz="1350" dirty="0"/>
          </a:p>
        </p:txBody>
      </p:sp>
      <p:sp>
        <p:nvSpPr>
          <p:cNvPr id="20" name="text-183"/>
          <p:cNvSpPr txBox="1"/>
          <p:nvPr/>
        </p:nvSpPr>
        <p:spPr>
          <a:xfrm>
            <a:off x="548640" y="5440680"/>
            <a:ext cx="11064240" cy="868680"/>
          </a:xfrm>
          <a:prstGeom prst="rect">
            <a:avLst/>
          </a:prstGeom>
          <a:noFill/>
          <a:ln/>
        </p:spPr>
        <p:txBody>
          <a:bodyPr wrap="square" lIns="1016" tIns="1016" rIns="1016" bIns="1016" rtlCol="0" anchor="t"/>
          <a:lstStyle/>
          <a:p>
            <a:pPr algn="l" indent="0" marL="0">
              <a:buNone/>
            </a:pPr>
            <a:r>
              <a:rPr lang="en-US" sz="1400" dirty="0">
                <a:solidFill>
                  <a:srgbClr val="CBD5E1"/>
                </a:solidFill>
              </a:rPr>
              <a:t>How we prove it: ARIA vs a baseline agent on identical hidden faults — diagnostic accuracy, evidence grounding, unnecessary tests, report completion and safety pass rate (Evaluations page, measured per run). Next: plug in the plant's real manuals, CMMS and PLC tags.</a:t>
            </a:r>
            <a:endParaRPr lang="en-US" sz="1400" dirty="0"/>
          </a:p>
        </p:txBody>
      </p:sp>
    </p:spTree>
  </p:cSld>
  <p:clrMapOvr>
    <a:masterClrMapping/>
  </p:clrMapOvr>
</p:sld>
</file>

<file path=ppt/theme/theme1.xml><?xml version="1.0" encoding="utf-8"?>
<a:theme xmlns:a="http://schemas.openxmlformats.org/drawingml/2006/main" name="ARIA">
  <a:themeElements>
    <a:clrScheme name="ARIA">
      <a:dk1>
        <a:srgbClr val="111827"/>
      </a:dk1>
      <a:lt1>
        <a:srgbClr val="FFFFFF"/>
      </a:lt1>
      <a:dk2>
        <a:srgbClr val="1F2937"/>
      </a:dk2>
      <a:lt2>
        <a:srgbClr val="F3F4F6"/>
      </a:lt2>
      <a:accent1>
        <a:srgbClr val="7C3AED"/>
      </a:accent1>
      <a:accent2>
        <a:srgbClr val="2563EB"/>
      </a:accent2>
      <a:accent3>
        <a:srgbClr val="F59E0B"/>
      </a:accent3>
      <a:accent4>
        <a:srgbClr val="10B981"/>
      </a:accent4>
      <a:accent5>
        <a:srgbClr val="DC2626"/>
      </a:accent5>
      <a:accent6>
        <a:srgbClr val="64748B"/>
      </a:accent6>
      <a:hlink>
        <a:srgbClr val="2563EB"/>
      </a:hlink>
      <a:folHlink>
        <a:srgbClr val="7C3AED"/>
      </a:folHlink>
    </a:clrScheme>
    <a:fontScheme name="AR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 industrial voice copilot</dc:title>
  <dc:subject>PptxGenJS Presentation</dc:subject>
  <dc:creator>ARIA team</dc:creator>
  <cp:lastModifiedBy>ARIA team</cp:lastModifiedBy>
  <cp:revision>1</cp:revision>
  <dcterms:created xsi:type="dcterms:W3CDTF">2026-10-16T00:24:41Z</dcterms:created>
  <dcterms:modified xsi:type="dcterms:W3CDTF">2026-10-16T00:24:41Z</dcterms:modified>
</cp:coreProperties>
</file>