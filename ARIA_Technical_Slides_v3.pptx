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chnical overview" id="{7a7f6afd-d2a2-e1bd-fe33-7db3069f9df9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use case: a robotic palletizing cell where a PLC confirms every step with sensors and stops on a missing confirmation. The operator sees the stop, not the reason; the technician's manual correlation of alarms, signals, sequence conditions, manuals and incidents is the downtime. ARIA turns that into an evidence-based voice investigation. Plant data in the demo is simulated.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to bottom: GPT-Live is the voice and delegates work; the Agents SDK orchestrates the ARIA agent; terra reasons, luna does the fast jobs, structured outputs keep everything typed; embeddings back the manual search and the incident memory; and evals use a simulated GPT-Live caller with terra as the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runs clockwise: gather evidence, register hypotheses, pick the permitted test with the highest information gain, run it, update every hypothesis with the real result, and once a stop rule is met, write and verify the report before GPT-Live speaks it. The thresholds, safety preconditions and verification checks live in code — the model proposes, the engine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ARIA · industrial voice copilot · demo uses simulated plant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Technical use case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 troubleshooting for a robotic palletizing cell</a:t>
            </a:r>
            <a:endParaRPr lang="en-US" sz="3000" dirty="0"/>
          </a:p>
        </p:txBody>
      </p:sp>
      <p:sp>
        <p:nvSpPr>
          <p:cNvPr id="4" name="narrative-1"/>
          <p:cNvSpPr txBox="1"/>
          <p:nvPr/>
        </p:nvSpPr>
        <p:spPr>
          <a:xfrm>
            <a:off x="548640" y="1508760"/>
            <a:ext cx="457200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The cell. </a:t>
            </a:r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At the end of a packaging line, a robot arm with a gripper picks cases off a conveyor and stacks them onto pallets. A PLC coordinates the conveyor, robot, gripper and safety interlocks.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Every step is confirmed. </a:t>
            </a:r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Sensors confirm each condition — a case is present, the gripper has closed. If a required confirmation does not arrive, the PLC stops the sequence and raises an alarm.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The gap. </a:t>
            </a:r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The operator sees that the cell stopped, but not why. A technician has to correlate alarms, live signals, sequence conditions, manuals and past incidents by hand. That search is the downtime.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ARIA. </a:t>
            </a:r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A voice copilot that turns the search into an evidence-based investigation and ends with the likely cause and the next safe step.</a:t>
            </a:r>
            <a:endParaRPr lang="en-US" sz="1500" dirty="0"/>
          </a:p>
        </p:txBody>
      </p:sp>
      <p:sp>
        <p:nvSpPr>
          <p:cNvPr id="5" name="box-2"/>
          <p:cNvSpPr/>
          <p:nvPr/>
        </p:nvSpPr>
        <p:spPr>
          <a:xfrm>
            <a:off x="5486400" y="1463040"/>
            <a:ext cx="6153912" cy="4754880"/>
          </a:xfrm>
          <a:prstGeom prst="roundRect">
            <a:avLst>
              <a:gd name="adj" fmla="val 269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-3"/>
          <p:cNvSpPr txBox="1"/>
          <p:nvPr/>
        </p:nvSpPr>
        <p:spPr>
          <a:xfrm>
            <a:off x="585216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</a:rPr>
              <a:t>THE CELL</a:t>
            </a:r>
            <a:endParaRPr lang="en-US" sz="1000" dirty="0"/>
          </a:p>
        </p:txBody>
      </p:sp>
      <p:sp>
        <p:nvSpPr>
          <p:cNvPr id="7" name="badge-4"/>
          <p:cNvSpPr/>
          <p:nvPr/>
        </p:nvSpPr>
        <p:spPr>
          <a:xfrm>
            <a:off x="6200775" y="2139696"/>
            <a:ext cx="658368" cy="658368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8" name="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8783" y="2297704"/>
            <a:ext cx="342351" cy="342351"/>
          </a:xfrm>
          <a:prstGeom prst="rect">
            <a:avLst/>
          </a:prstGeom>
        </p:spPr>
      </p:pic>
      <p:sp>
        <p:nvSpPr>
          <p:cNvPr id="9" name="text-6"/>
          <p:cNvSpPr txBox="1"/>
          <p:nvPr/>
        </p:nvSpPr>
        <p:spPr>
          <a:xfrm>
            <a:off x="5798439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</a:rPr>
              <a:t>Conveyor</a:t>
            </a:r>
            <a:endParaRPr lang="en-US" sz="1200" dirty="0"/>
          </a:p>
        </p:txBody>
      </p:sp>
      <p:sp>
        <p:nvSpPr>
          <p:cNvPr id="10" name="rule-7"/>
          <p:cNvSpPr/>
          <p:nvPr/>
        </p:nvSpPr>
        <p:spPr>
          <a:xfrm>
            <a:off x="6529959" y="3182112"/>
            <a:ext cx="0" cy="219456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</a:ln>
        </p:spPr>
      </p:sp>
      <p:sp>
        <p:nvSpPr>
          <p:cNvPr id="11" name="badge-8"/>
          <p:cNvSpPr/>
          <p:nvPr/>
        </p:nvSpPr>
        <p:spPr>
          <a:xfrm>
            <a:off x="7556373" y="2139696"/>
            <a:ext cx="658368" cy="658368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2" name="icon-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381" y="2297704"/>
            <a:ext cx="342351" cy="342351"/>
          </a:xfrm>
          <a:prstGeom prst="rect">
            <a:avLst/>
          </a:prstGeom>
        </p:spPr>
      </p:pic>
      <p:sp>
        <p:nvSpPr>
          <p:cNvPr id="13" name="text-10"/>
          <p:cNvSpPr txBox="1"/>
          <p:nvPr/>
        </p:nvSpPr>
        <p:spPr>
          <a:xfrm>
            <a:off x="7154037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</a:rPr>
              <a:t>Robot arm</a:t>
            </a:r>
            <a:endParaRPr lang="en-US" sz="1200" dirty="0"/>
          </a:p>
        </p:txBody>
      </p:sp>
      <p:sp>
        <p:nvSpPr>
          <p:cNvPr id="14" name="rule-11"/>
          <p:cNvSpPr/>
          <p:nvPr/>
        </p:nvSpPr>
        <p:spPr>
          <a:xfrm>
            <a:off x="7885557" y="3182112"/>
            <a:ext cx="0" cy="219456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</a:ln>
        </p:spPr>
      </p:sp>
      <p:sp>
        <p:nvSpPr>
          <p:cNvPr id="15" name="badge-12"/>
          <p:cNvSpPr/>
          <p:nvPr/>
        </p:nvSpPr>
        <p:spPr>
          <a:xfrm>
            <a:off x="8911971" y="2139696"/>
            <a:ext cx="658368" cy="658368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6" name="icon-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9979" y="2297704"/>
            <a:ext cx="342351" cy="342351"/>
          </a:xfrm>
          <a:prstGeom prst="rect">
            <a:avLst/>
          </a:prstGeom>
        </p:spPr>
      </p:pic>
      <p:sp>
        <p:nvSpPr>
          <p:cNvPr id="17" name="text-14"/>
          <p:cNvSpPr txBox="1"/>
          <p:nvPr/>
        </p:nvSpPr>
        <p:spPr>
          <a:xfrm>
            <a:off x="8509635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</a:rPr>
              <a:t>Gripper</a:t>
            </a:r>
            <a:endParaRPr lang="en-US" sz="1200" dirty="0"/>
          </a:p>
        </p:txBody>
      </p:sp>
      <p:sp>
        <p:nvSpPr>
          <p:cNvPr id="18" name="rule-15"/>
          <p:cNvSpPr/>
          <p:nvPr/>
        </p:nvSpPr>
        <p:spPr>
          <a:xfrm>
            <a:off x="9241155" y="3182112"/>
            <a:ext cx="0" cy="219456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</a:ln>
        </p:spPr>
      </p:sp>
      <p:sp>
        <p:nvSpPr>
          <p:cNvPr id="19" name="badge-16"/>
          <p:cNvSpPr/>
          <p:nvPr/>
        </p:nvSpPr>
        <p:spPr>
          <a:xfrm>
            <a:off x="10267569" y="2139696"/>
            <a:ext cx="658368" cy="658368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0" name="icon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5577" y="2297704"/>
            <a:ext cx="342351" cy="342351"/>
          </a:xfrm>
          <a:prstGeom prst="rect">
            <a:avLst/>
          </a:prstGeom>
        </p:spPr>
      </p:pic>
      <p:sp>
        <p:nvSpPr>
          <p:cNvPr id="21" name="text-18"/>
          <p:cNvSpPr txBox="1"/>
          <p:nvPr/>
        </p:nvSpPr>
        <p:spPr>
          <a:xfrm>
            <a:off x="9865233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</a:rPr>
              <a:t>Safety interlocks</a:t>
            </a:r>
            <a:endParaRPr lang="en-US" sz="1200" dirty="0"/>
          </a:p>
        </p:txBody>
      </p:sp>
      <p:sp>
        <p:nvSpPr>
          <p:cNvPr id="22" name="rule-19"/>
          <p:cNvSpPr/>
          <p:nvPr/>
        </p:nvSpPr>
        <p:spPr>
          <a:xfrm>
            <a:off x="10596753" y="3182112"/>
            <a:ext cx="0" cy="219456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</a:ln>
        </p:spPr>
      </p:sp>
      <p:sp>
        <p:nvSpPr>
          <p:cNvPr id="23" name="box-20"/>
          <p:cNvSpPr/>
          <p:nvPr/>
        </p:nvSpPr>
        <p:spPr>
          <a:xfrm>
            <a:off x="5852160" y="3401568"/>
            <a:ext cx="5422392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badge-21"/>
          <p:cNvSpPr/>
          <p:nvPr/>
        </p:nvSpPr>
        <p:spPr>
          <a:xfrm>
            <a:off x="5952744" y="3474720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5" name="icon-2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7359" y="3549335"/>
            <a:ext cx="161666" cy="161666"/>
          </a:xfrm>
          <a:prstGeom prst="rect">
            <a:avLst/>
          </a:prstGeom>
        </p:spPr>
      </p:pic>
      <p:sp>
        <p:nvSpPr>
          <p:cNvPr id="26" name="text-23"/>
          <p:cNvSpPr txBox="1"/>
          <p:nvPr/>
        </p:nvSpPr>
        <p:spPr>
          <a:xfrm>
            <a:off x="6355080" y="3401568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PLC — runs the sequence, checks every sensor confirmation</a:t>
            </a:r>
            <a:endParaRPr lang="en-US" sz="1250" dirty="0"/>
          </a:p>
        </p:txBody>
      </p:sp>
      <p:sp>
        <p:nvSpPr>
          <p:cNvPr id="27" name="box-24"/>
          <p:cNvSpPr/>
          <p:nvPr/>
        </p:nvSpPr>
        <p:spPr>
          <a:xfrm>
            <a:off x="5852160" y="4041648"/>
            <a:ext cx="5422392" cy="457200"/>
          </a:xfrm>
          <a:prstGeom prst="roundRect">
            <a:avLst>
              <a:gd name="adj" fmla="val 16000"/>
            </a:avLst>
          </a:prstGeom>
          <a:solidFill>
            <a:srgbClr val="3B121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badge-25"/>
          <p:cNvSpPr/>
          <p:nvPr/>
        </p:nvSpPr>
        <p:spPr>
          <a:xfrm>
            <a:off x="5952744" y="4114800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9" name="icon-2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7359" y="4189415"/>
            <a:ext cx="161666" cy="161666"/>
          </a:xfrm>
          <a:prstGeom prst="rect">
            <a:avLst/>
          </a:prstGeom>
        </p:spPr>
      </p:pic>
      <p:sp>
        <p:nvSpPr>
          <p:cNvPr id="30" name="text-27"/>
          <p:cNvSpPr txBox="1"/>
          <p:nvPr/>
        </p:nvSpPr>
        <p:spPr>
          <a:xfrm>
            <a:off x="6355080" y="4041648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CA5A5"/>
                </a:solidFill>
              </a:rPr>
              <a:t>Missing confirmation → sequence stops → alarm raised</a:t>
            </a:r>
            <a:endParaRPr lang="en-US" sz="1250" dirty="0"/>
          </a:p>
        </p:txBody>
      </p:sp>
      <p:sp>
        <p:nvSpPr>
          <p:cNvPr id="31" name="text-28"/>
          <p:cNvSpPr txBox="1"/>
          <p:nvPr/>
        </p:nvSpPr>
        <p:spPr>
          <a:xfrm>
            <a:off x="58521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</a:rPr>
              <a:t>WHAT A TECHNICIAN HAS TO CORRELATE</a:t>
            </a:r>
            <a:endParaRPr lang="en-US" sz="1000" dirty="0"/>
          </a:p>
        </p:txBody>
      </p:sp>
      <p:sp>
        <p:nvSpPr>
          <p:cNvPr id="32" name="box-29"/>
          <p:cNvSpPr/>
          <p:nvPr/>
        </p:nvSpPr>
        <p:spPr>
          <a:xfrm>
            <a:off x="5852160" y="5010912"/>
            <a:ext cx="1011326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3" name="text-30"/>
          <p:cNvSpPr txBox="1"/>
          <p:nvPr/>
        </p:nvSpPr>
        <p:spPr>
          <a:xfrm>
            <a:off x="5852160" y="5010912"/>
            <a:ext cx="10113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Alarms</a:t>
            </a:r>
            <a:endParaRPr lang="en-US" sz="1050" dirty="0"/>
          </a:p>
        </p:txBody>
      </p:sp>
      <p:sp>
        <p:nvSpPr>
          <p:cNvPr id="34" name="box-31"/>
          <p:cNvSpPr/>
          <p:nvPr/>
        </p:nvSpPr>
        <p:spPr>
          <a:xfrm>
            <a:off x="6954926" y="5010912"/>
            <a:ext cx="1011326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-32"/>
          <p:cNvSpPr txBox="1"/>
          <p:nvPr/>
        </p:nvSpPr>
        <p:spPr>
          <a:xfrm>
            <a:off x="6954926" y="5010912"/>
            <a:ext cx="10113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Live signals</a:t>
            </a:r>
            <a:endParaRPr lang="en-US" sz="1050" dirty="0"/>
          </a:p>
        </p:txBody>
      </p:sp>
      <p:sp>
        <p:nvSpPr>
          <p:cNvPr id="36" name="box-33"/>
          <p:cNvSpPr/>
          <p:nvPr/>
        </p:nvSpPr>
        <p:spPr>
          <a:xfrm>
            <a:off x="8057693" y="5010912"/>
            <a:ext cx="1011326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text-34"/>
          <p:cNvSpPr txBox="1"/>
          <p:nvPr/>
        </p:nvSpPr>
        <p:spPr>
          <a:xfrm>
            <a:off x="8057693" y="5010912"/>
            <a:ext cx="10113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Sequence</a:t>
            </a:r>
            <a:endParaRPr lang="en-US" sz="1050" dirty="0"/>
          </a:p>
        </p:txBody>
      </p:sp>
      <p:sp>
        <p:nvSpPr>
          <p:cNvPr id="38" name="box-35"/>
          <p:cNvSpPr/>
          <p:nvPr/>
        </p:nvSpPr>
        <p:spPr>
          <a:xfrm>
            <a:off x="9160459" y="5010912"/>
            <a:ext cx="1011326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text-36"/>
          <p:cNvSpPr txBox="1"/>
          <p:nvPr/>
        </p:nvSpPr>
        <p:spPr>
          <a:xfrm>
            <a:off x="9160459" y="5010912"/>
            <a:ext cx="10113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Manuals</a:t>
            </a:r>
            <a:endParaRPr lang="en-US" sz="1050" dirty="0"/>
          </a:p>
        </p:txBody>
      </p:sp>
      <p:sp>
        <p:nvSpPr>
          <p:cNvPr id="40" name="box-37"/>
          <p:cNvSpPr/>
          <p:nvPr/>
        </p:nvSpPr>
        <p:spPr>
          <a:xfrm>
            <a:off x="10263226" y="5010912"/>
            <a:ext cx="1011326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1" name="text-38"/>
          <p:cNvSpPr txBox="1"/>
          <p:nvPr/>
        </p:nvSpPr>
        <p:spPr>
          <a:xfrm>
            <a:off x="10263226" y="5010912"/>
            <a:ext cx="10113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Past incidents</a:t>
            </a:r>
            <a:endParaRPr lang="en-US" sz="1050" dirty="0"/>
          </a:p>
        </p:txBody>
      </p:sp>
      <p:sp>
        <p:nvSpPr>
          <p:cNvPr id="42" name="box-39"/>
          <p:cNvSpPr/>
          <p:nvPr/>
        </p:nvSpPr>
        <p:spPr>
          <a:xfrm>
            <a:off x="5852160" y="5504688"/>
            <a:ext cx="5422392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badge-40"/>
          <p:cNvSpPr/>
          <p:nvPr/>
        </p:nvSpPr>
        <p:spPr>
          <a:xfrm>
            <a:off x="5952744" y="557784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4" name="icon-4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7359" y="5652455"/>
            <a:ext cx="161666" cy="161666"/>
          </a:xfrm>
          <a:prstGeom prst="rect">
            <a:avLst/>
          </a:prstGeom>
        </p:spPr>
      </p:pic>
      <p:sp>
        <p:nvSpPr>
          <p:cNvPr id="45" name="text-42"/>
          <p:cNvSpPr txBox="1"/>
          <p:nvPr/>
        </p:nvSpPr>
        <p:spPr>
          <a:xfrm>
            <a:off x="6355080" y="5504688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ARIA does it in one voice conversation → cause + next safe step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OpenAI stack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voice, a team of specialist models</a:t>
            </a:r>
            <a:endParaRPr lang="en-US" sz="3000" dirty="0"/>
          </a:p>
        </p:txBody>
      </p:sp>
      <p:sp>
        <p:nvSpPr>
          <p:cNvPr id="4" name="narrative-43"/>
          <p:cNvSpPr txBox="1"/>
          <p:nvPr/>
        </p:nvSpPr>
        <p:spPr>
          <a:xfrm>
            <a:off x="548640" y="1508760"/>
            <a:ext cx="457200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Voice. </a:t>
            </a:r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GPT-Live (gpt-live-1) talks with the worker. It is full duplex — it listens while it speaks — and delegates real work the moment it hears it.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Reasoning. </a:t>
            </a:r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The OpenAI Agents SDK runs the ARIA agent on gpt-5.6-terra, which plans the investigation, chooses tests and writes the report.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Speed and knowledge. </a:t>
            </a:r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gpt-5.6-luna handles the fast jobs: reranking, grounding audits and fact extraction. text-embedding-3-large powers search across manuals and incident memory.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Back into the call. </a:t>
            </a:r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Results are injected as commentary to speak and thinking to know, so the worker is never left in silence.</a:t>
            </a:r>
            <a:endParaRPr lang="en-US" sz="1500" dirty="0"/>
          </a:p>
        </p:txBody>
      </p:sp>
      <p:sp>
        <p:nvSpPr>
          <p:cNvPr id="5" name="box-44"/>
          <p:cNvSpPr/>
          <p:nvPr/>
        </p:nvSpPr>
        <p:spPr>
          <a:xfrm>
            <a:off x="5486400" y="1463040"/>
            <a:ext cx="6153912" cy="4754880"/>
          </a:xfrm>
          <a:prstGeom prst="roundRect">
            <a:avLst>
              <a:gd name="adj" fmla="val 269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box-45"/>
          <p:cNvSpPr/>
          <p:nvPr/>
        </p:nvSpPr>
        <p:spPr>
          <a:xfrm>
            <a:off x="5669280" y="1691640"/>
            <a:ext cx="5788152" cy="749808"/>
          </a:xfrm>
          <a:prstGeom prst="roundRect">
            <a:avLst>
              <a:gd name="adj" fmla="val 9756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badge-46"/>
          <p:cNvSpPr/>
          <p:nvPr/>
        </p:nvSpPr>
        <p:spPr>
          <a:xfrm>
            <a:off x="5815584" y="182880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8" name="icon-4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9701" y="1942917"/>
            <a:ext cx="247254" cy="247254"/>
          </a:xfrm>
          <a:prstGeom prst="rect">
            <a:avLst/>
          </a:prstGeom>
        </p:spPr>
      </p:pic>
      <p:sp>
        <p:nvSpPr>
          <p:cNvPr id="9" name="text-48"/>
          <p:cNvSpPr txBox="1"/>
          <p:nvPr/>
        </p:nvSpPr>
        <p:spPr>
          <a:xfrm>
            <a:off x="6400800" y="1691640"/>
            <a:ext cx="137160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Voice</a:t>
            </a:r>
            <a:endParaRPr lang="en-US" sz="1400" dirty="0"/>
          </a:p>
        </p:txBody>
      </p:sp>
      <p:sp>
        <p:nvSpPr>
          <p:cNvPr id="10" name="box-49"/>
          <p:cNvSpPr/>
          <p:nvPr/>
        </p:nvSpPr>
        <p:spPr>
          <a:xfrm>
            <a:off x="8503920" y="190195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-50"/>
          <p:cNvSpPr txBox="1"/>
          <p:nvPr/>
        </p:nvSpPr>
        <p:spPr>
          <a:xfrm>
            <a:off x="8503920" y="1901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gpt-live-1</a:t>
            </a:r>
            <a:endParaRPr lang="en-US" sz="1050" dirty="0"/>
          </a:p>
        </p:txBody>
      </p:sp>
      <p:sp>
        <p:nvSpPr>
          <p:cNvPr id="12" name="box-51"/>
          <p:cNvSpPr/>
          <p:nvPr/>
        </p:nvSpPr>
        <p:spPr>
          <a:xfrm>
            <a:off x="9390888" y="1901952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-52"/>
          <p:cNvSpPr txBox="1"/>
          <p:nvPr/>
        </p:nvSpPr>
        <p:spPr>
          <a:xfrm>
            <a:off x="9390888" y="19019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WebRTC</a:t>
            </a:r>
            <a:endParaRPr lang="en-US" sz="1050" dirty="0"/>
          </a:p>
        </p:txBody>
      </p:sp>
      <p:sp>
        <p:nvSpPr>
          <p:cNvPr id="14" name="box-53"/>
          <p:cNvSpPr/>
          <p:nvPr/>
        </p:nvSpPr>
        <p:spPr>
          <a:xfrm>
            <a:off x="10186416" y="1901952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-54"/>
          <p:cNvSpPr txBox="1"/>
          <p:nvPr/>
        </p:nvSpPr>
        <p:spPr>
          <a:xfrm>
            <a:off x="10186416" y="1901952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live delegation</a:t>
            </a:r>
            <a:endParaRPr lang="en-US" sz="1050" dirty="0"/>
          </a:p>
        </p:txBody>
      </p:sp>
      <p:sp>
        <p:nvSpPr>
          <p:cNvPr id="16" name="box-55"/>
          <p:cNvSpPr/>
          <p:nvPr/>
        </p:nvSpPr>
        <p:spPr>
          <a:xfrm>
            <a:off x="5669280" y="2578608"/>
            <a:ext cx="5788152" cy="749808"/>
          </a:xfrm>
          <a:prstGeom prst="roundRect">
            <a:avLst>
              <a:gd name="adj" fmla="val 9756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badge-56"/>
          <p:cNvSpPr/>
          <p:nvPr/>
        </p:nvSpPr>
        <p:spPr>
          <a:xfrm>
            <a:off x="5815584" y="271576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8" name="icon-5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701" y="2829885"/>
            <a:ext cx="247254" cy="247254"/>
          </a:xfrm>
          <a:prstGeom prst="rect">
            <a:avLst/>
          </a:prstGeom>
        </p:spPr>
      </p:pic>
      <p:sp>
        <p:nvSpPr>
          <p:cNvPr id="19" name="text-58"/>
          <p:cNvSpPr txBox="1"/>
          <p:nvPr/>
        </p:nvSpPr>
        <p:spPr>
          <a:xfrm>
            <a:off x="6400800" y="2578608"/>
            <a:ext cx="137160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Orchestration</a:t>
            </a:r>
            <a:endParaRPr lang="en-US" sz="1400" dirty="0"/>
          </a:p>
        </p:txBody>
      </p:sp>
      <p:sp>
        <p:nvSpPr>
          <p:cNvPr id="20" name="box-59"/>
          <p:cNvSpPr/>
          <p:nvPr/>
        </p:nvSpPr>
        <p:spPr>
          <a:xfrm>
            <a:off x="8412480" y="278892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-60"/>
          <p:cNvSpPr txBox="1"/>
          <p:nvPr/>
        </p:nvSpPr>
        <p:spPr>
          <a:xfrm>
            <a:off x="8412480" y="27889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Agents SDK</a:t>
            </a:r>
            <a:endParaRPr lang="en-US" sz="1050" dirty="0"/>
          </a:p>
        </p:txBody>
      </p:sp>
      <p:sp>
        <p:nvSpPr>
          <p:cNvPr id="22" name="box-61"/>
          <p:cNvSpPr/>
          <p:nvPr/>
        </p:nvSpPr>
        <p:spPr>
          <a:xfrm>
            <a:off x="9299448" y="2788920"/>
            <a:ext cx="1009498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text-62"/>
          <p:cNvSpPr txBox="1"/>
          <p:nvPr/>
        </p:nvSpPr>
        <p:spPr>
          <a:xfrm>
            <a:off x="9299448" y="2788920"/>
            <a:ext cx="10094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streamed runs</a:t>
            </a:r>
            <a:endParaRPr lang="en-US" sz="1050" dirty="0"/>
          </a:p>
        </p:txBody>
      </p:sp>
      <p:sp>
        <p:nvSpPr>
          <p:cNvPr id="24" name="box-63"/>
          <p:cNvSpPr/>
          <p:nvPr/>
        </p:nvSpPr>
        <p:spPr>
          <a:xfrm>
            <a:off x="10372954" y="2788920"/>
            <a:ext cx="947318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text-64"/>
          <p:cNvSpPr txBox="1"/>
          <p:nvPr/>
        </p:nvSpPr>
        <p:spPr>
          <a:xfrm>
            <a:off x="10372954" y="2788920"/>
            <a:ext cx="947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strict tools</a:t>
            </a:r>
            <a:endParaRPr lang="en-US" sz="1050" dirty="0"/>
          </a:p>
        </p:txBody>
      </p:sp>
      <p:sp>
        <p:nvSpPr>
          <p:cNvPr id="26" name="box-65"/>
          <p:cNvSpPr/>
          <p:nvPr/>
        </p:nvSpPr>
        <p:spPr>
          <a:xfrm>
            <a:off x="5669280" y="3465576"/>
            <a:ext cx="5788152" cy="749808"/>
          </a:xfrm>
          <a:prstGeom prst="roundRect">
            <a:avLst>
              <a:gd name="adj" fmla="val 9756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badge-66"/>
          <p:cNvSpPr/>
          <p:nvPr/>
        </p:nvSpPr>
        <p:spPr>
          <a:xfrm>
            <a:off x="5815584" y="3602736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8" name="icon-6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701" y="3716853"/>
            <a:ext cx="247254" cy="247254"/>
          </a:xfrm>
          <a:prstGeom prst="rect">
            <a:avLst/>
          </a:prstGeom>
        </p:spPr>
      </p:pic>
      <p:sp>
        <p:nvSpPr>
          <p:cNvPr id="29" name="text-68"/>
          <p:cNvSpPr txBox="1"/>
          <p:nvPr/>
        </p:nvSpPr>
        <p:spPr>
          <a:xfrm>
            <a:off x="6400800" y="3465576"/>
            <a:ext cx="137160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Reasoning</a:t>
            </a:r>
            <a:endParaRPr lang="en-US" sz="1400" dirty="0"/>
          </a:p>
        </p:txBody>
      </p:sp>
      <p:sp>
        <p:nvSpPr>
          <p:cNvPr id="30" name="box-69"/>
          <p:cNvSpPr/>
          <p:nvPr/>
        </p:nvSpPr>
        <p:spPr>
          <a:xfrm>
            <a:off x="8225942" y="3675888"/>
            <a:ext cx="1009498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1" name="text-70"/>
          <p:cNvSpPr txBox="1"/>
          <p:nvPr/>
        </p:nvSpPr>
        <p:spPr>
          <a:xfrm>
            <a:off x="8225942" y="3675888"/>
            <a:ext cx="10094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gpt-5.6-terra</a:t>
            </a:r>
            <a:endParaRPr lang="en-US" sz="1050" dirty="0"/>
          </a:p>
        </p:txBody>
      </p:sp>
      <p:sp>
        <p:nvSpPr>
          <p:cNvPr id="32" name="box-71"/>
          <p:cNvSpPr/>
          <p:nvPr/>
        </p:nvSpPr>
        <p:spPr>
          <a:xfrm>
            <a:off x="9299448" y="3675888"/>
            <a:ext cx="947318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3" name="text-72"/>
          <p:cNvSpPr txBox="1"/>
          <p:nvPr/>
        </p:nvSpPr>
        <p:spPr>
          <a:xfrm>
            <a:off x="9299448" y="3675888"/>
            <a:ext cx="947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gpt-5.6-luna</a:t>
            </a:r>
            <a:endParaRPr lang="en-US" sz="1050" dirty="0"/>
          </a:p>
        </p:txBody>
      </p:sp>
      <p:sp>
        <p:nvSpPr>
          <p:cNvPr id="34" name="box-73"/>
          <p:cNvSpPr/>
          <p:nvPr/>
        </p:nvSpPr>
        <p:spPr>
          <a:xfrm>
            <a:off x="10310774" y="3675888"/>
            <a:ext cx="1009498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-74"/>
          <p:cNvSpPr txBox="1"/>
          <p:nvPr/>
        </p:nvSpPr>
        <p:spPr>
          <a:xfrm>
            <a:off x="10310774" y="3675888"/>
            <a:ext cx="10094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Responses API</a:t>
            </a:r>
            <a:endParaRPr lang="en-US" sz="1050" dirty="0"/>
          </a:p>
        </p:txBody>
      </p:sp>
      <p:sp>
        <p:nvSpPr>
          <p:cNvPr id="36" name="box-75"/>
          <p:cNvSpPr/>
          <p:nvPr/>
        </p:nvSpPr>
        <p:spPr>
          <a:xfrm>
            <a:off x="5669280" y="4352544"/>
            <a:ext cx="5788152" cy="749808"/>
          </a:xfrm>
          <a:prstGeom prst="roundRect">
            <a:avLst>
              <a:gd name="adj" fmla="val 9756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badge-76"/>
          <p:cNvSpPr/>
          <p:nvPr/>
        </p:nvSpPr>
        <p:spPr>
          <a:xfrm>
            <a:off x="5815584" y="4489704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8" name="icon-7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701" y="4603821"/>
            <a:ext cx="247254" cy="247254"/>
          </a:xfrm>
          <a:prstGeom prst="rect">
            <a:avLst/>
          </a:prstGeom>
        </p:spPr>
      </p:pic>
      <p:sp>
        <p:nvSpPr>
          <p:cNvPr id="39" name="text-78"/>
          <p:cNvSpPr txBox="1"/>
          <p:nvPr/>
        </p:nvSpPr>
        <p:spPr>
          <a:xfrm>
            <a:off x="6400800" y="4352544"/>
            <a:ext cx="137160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Knowledge</a:t>
            </a:r>
            <a:endParaRPr lang="en-US" sz="1400" dirty="0"/>
          </a:p>
        </p:txBody>
      </p:sp>
      <p:sp>
        <p:nvSpPr>
          <p:cNvPr id="40" name="box-79"/>
          <p:cNvSpPr/>
          <p:nvPr/>
        </p:nvSpPr>
        <p:spPr>
          <a:xfrm>
            <a:off x="7915046" y="4562856"/>
            <a:ext cx="1569110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1" name="text-80"/>
          <p:cNvSpPr txBox="1"/>
          <p:nvPr/>
        </p:nvSpPr>
        <p:spPr>
          <a:xfrm>
            <a:off x="7915046" y="4562856"/>
            <a:ext cx="15691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text-embedding-3-large</a:t>
            </a:r>
            <a:endParaRPr lang="en-US" sz="1050" dirty="0"/>
          </a:p>
        </p:txBody>
      </p:sp>
      <p:sp>
        <p:nvSpPr>
          <p:cNvPr id="42" name="box-81"/>
          <p:cNvSpPr/>
          <p:nvPr/>
        </p:nvSpPr>
        <p:spPr>
          <a:xfrm>
            <a:off x="9548165" y="4562856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3" name="text-82"/>
          <p:cNvSpPr txBox="1"/>
          <p:nvPr/>
        </p:nvSpPr>
        <p:spPr>
          <a:xfrm>
            <a:off x="9548165" y="456285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hybrid RAG</a:t>
            </a:r>
            <a:endParaRPr lang="en-US" sz="1050" dirty="0"/>
          </a:p>
        </p:txBody>
      </p:sp>
      <p:sp>
        <p:nvSpPr>
          <p:cNvPr id="44" name="box-83"/>
          <p:cNvSpPr/>
          <p:nvPr/>
        </p:nvSpPr>
        <p:spPr>
          <a:xfrm>
            <a:off x="10435133" y="4562856"/>
            <a:ext cx="885139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5" name="text-84"/>
          <p:cNvSpPr txBox="1"/>
          <p:nvPr/>
        </p:nvSpPr>
        <p:spPr>
          <a:xfrm>
            <a:off x="10435133" y="4562856"/>
            <a:ext cx="8851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temporal KB</a:t>
            </a:r>
            <a:endParaRPr lang="en-US" sz="1050" dirty="0"/>
          </a:p>
        </p:txBody>
      </p:sp>
      <p:sp>
        <p:nvSpPr>
          <p:cNvPr id="46" name="box-85"/>
          <p:cNvSpPr/>
          <p:nvPr/>
        </p:nvSpPr>
        <p:spPr>
          <a:xfrm>
            <a:off x="5669280" y="5239512"/>
            <a:ext cx="5788152" cy="749808"/>
          </a:xfrm>
          <a:prstGeom prst="roundRect">
            <a:avLst>
              <a:gd name="adj" fmla="val 9756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badge-86"/>
          <p:cNvSpPr/>
          <p:nvPr/>
        </p:nvSpPr>
        <p:spPr>
          <a:xfrm>
            <a:off x="5815584" y="537667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8" name="icon-8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701" y="5490789"/>
            <a:ext cx="247254" cy="247254"/>
          </a:xfrm>
          <a:prstGeom prst="rect">
            <a:avLst/>
          </a:prstGeom>
        </p:spPr>
      </p:pic>
      <p:sp>
        <p:nvSpPr>
          <p:cNvPr id="49" name="text-88"/>
          <p:cNvSpPr txBox="1"/>
          <p:nvPr/>
        </p:nvSpPr>
        <p:spPr>
          <a:xfrm>
            <a:off x="6400800" y="5239512"/>
            <a:ext cx="137160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Quality</a:t>
            </a:r>
            <a:endParaRPr lang="en-US" sz="1400" dirty="0"/>
          </a:p>
        </p:txBody>
      </p:sp>
      <p:sp>
        <p:nvSpPr>
          <p:cNvPr id="50" name="box-89"/>
          <p:cNvSpPr/>
          <p:nvPr/>
        </p:nvSpPr>
        <p:spPr>
          <a:xfrm>
            <a:off x="8163763" y="5449824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1" name="text-90"/>
          <p:cNvSpPr txBox="1"/>
          <p:nvPr/>
        </p:nvSpPr>
        <p:spPr>
          <a:xfrm>
            <a:off x="8163763" y="5449824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GPT-Live caller</a:t>
            </a:r>
            <a:endParaRPr lang="en-US" sz="1050" dirty="0"/>
          </a:p>
        </p:txBody>
      </p:sp>
      <p:sp>
        <p:nvSpPr>
          <p:cNvPr id="52" name="box-91"/>
          <p:cNvSpPr/>
          <p:nvPr/>
        </p:nvSpPr>
        <p:spPr>
          <a:xfrm>
            <a:off x="9361627" y="5449824"/>
            <a:ext cx="885139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3" name="text-92"/>
          <p:cNvSpPr txBox="1"/>
          <p:nvPr/>
        </p:nvSpPr>
        <p:spPr>
          <a:xfrm>
            <a:off x="9361627" y="5449824"/>
            <a:ext cx="8851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terra judge</a:t>
            </a:r>
            <a:endParaRPr lang="en-US" sz="1050" dirty="0"/>
          </a:p>
        </p:txBody>
      </p:sp>
      <p:sp>
        <p:nvSpPr>
          <p:cNvPr id="54" name="box-93"/>
          <p:cNvSpPr/>
          <p:nvPr/>
        </p:nvSpPr>
        <p:spPr>
          <a:xfrm>
            <a:off x="10310774" y="5449824"/>
            <a:ext cx="1009498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5" name="text-94"/>
          <p:cNvSpPr txBox="1"/>
          <p:nvPr/>
        </p:nvSpPr>
        <p:spPr>
          <a:xfrm>
            <a:off x="10310774" y="5449824"/>
            <a:ext cx="10094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safety scores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Inside ARIA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 investigation, not a chatbot</a:t>
            </a:r>
            <a:endParaRPr lang="en-US" sz="3000" dirty="0"/>
          </a:p>
        </p:txBody>
      </p:sp>
      <p:sp>
        <p:nvSpPr>
          <p:cNvPr id="4" name="narrative-95"/>
          <p:cNvSpPr txBox="1"/>
          <p:nvPr/>
        </p:nvSpPr>
        <p:spPr>
          <a:xfrm>
            <a:off x="548640" y="1508760"/>
            <a:ext cx="457200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Understand. </a:t>
            </a:r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GPT-Live hears the problem and hands it to ARIA straight away.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Gather. </a:t>
            </a:r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Machine snapshot, alarm history, sequence trace, the manual and past incidents on this line.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Reason. </a:t>
            </a:r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Hypotheses with evidence for and against. The engine runs the safe test that separates them most.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Decide. </a:t>
            </a:r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Stop at 90% confidence with supporting evidence — or say it is uncertain and call a technician.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Report. </a:t>
            </a:r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Written from tool results, verified against them, then spoken. Restart, reset and bypass are always declined.</a:t>
            </a:r>
            <a:endParaRPr lang="en-US" sz="1500" dirty="0"/>
          </a:p>
        </p:txBody>
      </p:sp>
      <p:sp>
        <p:nvSpPr>
          <p:cNvPr id="5" name="box-96"/>
          <p:cNvSpPr/>
          <p:nvPr/>
        </p:nvSpPr>
        <p:spPr>
          <a:xfrm>
            <a:off x="5486400" y="1463040"/>
            <a:ext cx="6153912" cy="4754880"/>
          </a:xfrm>
          <a:prstGeom prst="roundRect">
            <a:avLst>
              <a:gd name="adj" fmla="val 269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ring-97"/>
          <p:cNvSpPr/>
          <p:nvPr/>
        </p:nvSpPr>
        <p:spPr>
          <a:xfrm>
            <a:off x="6460236" y="2194560"/>
            <a:ext cx="4206240" cy="283464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4B5563"/>
            </a:solidFill>
            <a:prstDash val="dash"/>
          </a:ln>
        </p:spPr>
      </p:sp>
      <p:sp>
        <p:nvSpPr>
          <p:cNvPr id="7" name="hub-98"/>
          <p:cNvSpPr/>
          <p:nvPr/>
        </p:nvSpPr>
        <p:spPr>
          <a:xfrm>
            <a:off x="7904988" y="2953512"/>
            <a:ext cx="1316736" cy="1316736"/>
          </a:xfrm>
          <a:prstGeom prst="ellipse">
            <a:avLst/>
          </a:prstGeom>
          <a:solidFill>
            <a:srgbClr val="7C3AED"/>
          </a:solidFill>
          <a:ln w="31750">
            <a:solidFill>
              <a:srgbClr val="C4B5FD"/>
            </a:solidFill>
            <a:prstDash val="solid"/>
          </a:ln>
        </p:spPr>
      </p:sp>
      <p:sp>
        <p:nvSpPr>
          <p:cNvPr id="8" name="text-99"/>
          <p:cNvSpPr txBox="1"/>
          <p:nvPr/>
        </p:nvSpPr>
        <p:spPr>
          <a:xfrm>
            <a:off x="7904988" y="326440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ARIA</a:t>
            </a:r>
            <a:endParaRPr lang="en-US" sz="1800" dirty="0"/>
          </a:p>
        </p:txBody>
      </p:sp>
      <p:sp>
        <p:nvSpPr>
          <p:cNvPr id="9" name="text-100"/>
          <p:cNvSpPr txBox="1"/>
          <p:nvPr/>
        </p:nvSpPr>
        <p:spPr>
          <a:xfrm>
            <a:off x="7904988" y="363016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E9FE"/>
                </a:solidFill>
              </a:rPr>
              <a:t>engine</a:t>
            </a:r>
            <a:endParaRPr lang="en-US" sz="1100" dirty="0"/>
          </a:p>
        </p:txBody>
      </p:sp>
      <p:sp>
        <p:nvSpPr>
          <p:cNvPr id="10" name="badge-101"/>
          <p:cNvSpPr/>
          <p:nvPr/>
        </p:nvSpPr>
        <p:spPr>
          <a:xfrm>
            <a:off x="7182612" y="2055261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1" name="icon-10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0620" y="2213269"/>
            <a:ext cx="342351" cy="342351"/>
          </a:xfrm>
          <a:prstGeom prst="rect">
            <a:avLst/>
          </a:prstGeom>
        </p:spPr>
      </p:pic>
      <p:sp>
        <p:nvSpPr>
          <p:cNvPr id="12" name="text-103"/>
          <p:cNvSpPr txBox="1"/>
          <p:nvPr/>
        </p:nvSpPr>
        <p:spPr>
          <a:xfrm>
            <a:off x="6734556" y="1726077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</a:rPr>
              <a:t>1  Gather</a:t>
            </a:r>
            <a:endParaRPr lang="en-US" sz="1200" dirty="0"/>
          </a:p>
        </p:txBody>
      </p:sp>
      <p:sp>
        <p:nvSpPr>
          <p:cNvPr id="13" name="badge-104"/>
          <p:cNvSpPr/>
          <p:nvPr/>
        </p:nvSpPr>
        <p:spPr>
          <a:xfrm>
            <a:off x="9285732" y="2055261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con-10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3740" y="2213269"/>
            <a:ext cx="342351" cy="342351"/>
          </a:xfrm>
          <a:prstGeom prst="rect">
            <a:avLst/>
          </a:prstGeom>
        </p:spPr>
      </p:pic>
      <p:sp>
        <p:nvSpPr>
          <p:cNvPr id="15" name="text-106"/>
          <p:cNvSpPr txBox="1"/>
          <p:nvPr/>
        </p:nvSpPr>
        <p:spPr>
          <a:xfrm>
            <a:off x="8837676" y="1726077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</a:rPr>
              <a:t>2  Hypothesize</a:t>
            </a:r>
            <a:endParaRPr lang="en-US" sz="1200" dirty="0"/>
          </a:p>
        </p:txBody>
      </p:sp>
      <p:sp>
        <p:nvSpPr>
          <p:cNvPr id="16" name="badge-107"/>
          <p:cNvSpPr/>
          <p:nvPr/>
        </p:nvSpPr>
        <p:spPr>
          <a:xfrm>
            <a:off x="10337292" y="3282696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con-10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5300" y="3440704"/>
            <a:ext cx="342351" cy="342351"/>
          </a:xfrm>
          <a:prstGeom prst="rect">
            <a:avLst/>
          </a:prstGeom>
        </p:spPr>
      </p:pic>
      <p:sp>
        <p:nvSpPr>
          <p:cNvPr id="18" name="text-109"/>
          <p:cNvSpPr txBox="1"/>
          <p:nvPr/>
        </p:nvSpPr>
        <p:spPr>
          <a:xfrm>
            <a:off x="9889236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</a:rPr>
              <a:t>3  Pick safe test</a:t>
            </a:r>
            <a:endParaRPr lang="en-US" sz="1200" dirty="0"/>
          </a:p>
        </p:txBody>
      </p:sp>
      <p:sp>
        <p:nvSpPr>
          <p:cNvPr id="19" name="badge-110"/>
          <p:cNvSpPr/>
          <p:nvPr/>
        </p:nvSpPr>
        <p:spPr>
          <a:xfrm>
            <a:off x="9285732" y="4510131"/>
            <a:ext cx="658368" cy="65836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20" name="icon-11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740" y="4668139"/>
            <a:ext cx="342351" cy="342351"/>
          </a:xfrm>
          <a:prstGeom prst="rect">
            <a:avLst/>
          </a:prstGeom>
        </p:spPr>
      </p:pic>
      <p:sp>
        <p:nvSpPr>
          <p:cNvPr id="21" name="text-112"/>
          <p:cNvSpPr txBox="1"/>
          <p:nvPr/>
        </p:nvSpPr>
        <p:spPr>
          <a:xfrm>
            <a:off x="8837676" y="5205075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</a:rPr>
              <a:t>4  Run test</a:t>
            </a:r>
            <a:endParaRPr lang="en-US" sz="1200" dirty="0"/>
          </a:p>
        </p:txBody>
      </p:sp>
      <p:sp>
        <p:nvSpPr>
          <p:cNvPr id="22" name="badge-113"/>
          <p:cNvSpPr/>
          <p:nvPr/>
        </p:nvSpPr>
        <p:spPr>
          <a:xfrm>
            <a:off x="7182612" y="4510131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con-11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20" y="4668139"/>
            <a:ext cx="342351" cy="342351"/>
          </a:xfrm>
          <a:prstGeom prst="rect">
            <a:avLst/>
          </a:prstGeom>
        </p:spPr>
      </p:pic>
      <p:sp>
        <p:nvSpPr>
          <p:cNvPr id="24" name="text-115"/>
          <p:cNvSpPr txBox="1"/>
          <p:nvPr/>
        </p:nvSpPr>
        <p:spPr>
          <a:xfrm>
            <a:off x="6734556" y="5205075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</a:rPr>
              <a:t>5  Update belief</a:t>
            </a:r>
            <a:endParaRPr lang="en-US" sz="1200" dirty="0"/>
          </a:p>
        </p:txBody>
      </p:sp>
      <p:sp>
        <p:nvSpPr>
          <p:cNvPr id="25" name="badge-116"/>
          <p:cNvSpPr/>
          <p:nvPr/>
        </p:nvSpPr>
        <p:spPr>
          <a:xfrm>
            <a:off x="6131052" y="3282696"/>
            <a:ext cx="658368" cy="6583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6" name="icon-11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9060" y="3440704"/>
            <a:ext cx="342351" cy="342351"/>
          </a:xfrm>
          <a:prstGeom prst="rect">
            <a:avLst/>
          </a:prstGeom>
        </p:spPr>
      </p:pic>
      <p:sp>
        <p:nvSpPr>
          <p:cNvPr id="27" name="text-118"/>
          <p:cNvSpPr txBox="1"/>
          <p:nvPr/>
        </p:nvSpPr>
        <p:spPr>
          <a:xfrm>
            <a:off x="5682996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</a:rPr>
              <a:t>6  Verify &amp; speak</a:t>
            </a:r>
            <a:endParaRPr lang="en-US" sz="1200" dirty="0"/>
          </a:p>
        </p:txBody>
      </p:sp>
      <p:sp>
        <p:nvSpPr>
          <p:cNvPr id="28" name="rule-119"/>
          <p:cNvSpPr/>
          <p:nvPr/>
        </p:nvSpPr>
        <p:spPr>
          <a:xfrm>
            <a:off x="5852160" y="5486400"/>
            <a:ext cx="5422392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9" name="box-120"/>
          <p:cNvSpPr/>
          <p:nvPr/>
        </p:nvSpPr>
        <p:spPr>
          <a:xfrm>
            <a:off x="5637276" y="565099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text-121"/>
          <p:cNvSpPr txBox="1"/>
          <p:nvPr/>
        </p:nvSpPr>
        <p:spPr>
          <a:xfrm>
            <a:off x="5637276" y="56509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Rule out &lt; 2%</a:t>
            </a:r>
            <a:endParaRPr lang="en-US" sz="1050" dirty="0"/>
          </a:p>
        </p:txBody>
      </p:sp>
      <p:sp>
        <p:nvSpPr>
          <p:cNvPr id="31" name="box-122"/>
          <p:cNvSpPr/>
          <p:nvPr/>
        </p:nvSpPr>
        <p:spPr>
          <a:xfrm>
            <a:off x="7146036" y="565099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2" name="text-123"/>
          <p:cNvSpPr txBox="1"/>
          <p:nvPr/>
        </p:nvSpPr>
        <p:spPr>
          <a:xfrm>
            <a:off x="7146036" y="56509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Stop ≥ 90%</a:t>
            </a:r>
            <a:endParaRPr lang="en-US" sz="1050" dirty="0"/>
          </a:p>
        </p:txBody>
      </p:sp>
      <p:sp>
        <p:nvSpPr>
          <p:cNvPr id="33" name="box-124"/>
          <p:cNvSpPr/>
          <p:nvPr/>
        </p:nvSpPr>
        <p:spPr>
          <a:xfrm>
            <a:off x="8471916" y="5650992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text-125"/>
          <p:cNvSpPr txBox="1"/>
          <p:nvPr/>
        </p:nvSpPr>
        <p:spPr>
          <a:xfrm>
            <a:off x="8471916" y="565099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Budget + timeout</a:t>
            </a:r>
            <a:endParaRPr lang="en-US" sz="1050" dirty="0"/>
          </a:p>
        </p:txBody>
      </p:sp>
      <p:sp>
        <p:nvSpPr>
          <p:cNvPr id="35" name="box-126"/>
          <p:cNvSpPr/>
          <p:nvPr/>
        </p:nvSpPr>
        <p:spPr>
          <a:xfrm>
            <a:off x="10072116" y="565099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text-127"/>
          <p:cNvSpPr txBox="1"/>
          <p:nvPr/>
        </p:nvSpPr>
        <p:spPr>
          <a:xfrm>
            <a:off x="10072116" y="56509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Report verified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IA">
  <a:themeElements>
    <a:clrScheme name="ARIA">
      <a:dk1>
        <a:srgbClr val="111827"/>
      </a:dk1>
      <a:lt1>
        <a:srgbClr val="FFFFFF"/>
      </a:lt1>
      <a:dk2>
        <a:srgbClr val="1F2937"/>
      </a:dk2>
      <a:lt2>
        <a:srgbClr val="F3F4F6"/>
      </a:lt2>
      <a:accent1>
        <a:srgbClr val="7C3AED"/>
      </a:accent1>
      <a:accent2>
        <a:srgbClr val="2563EB"/>
      </a:accent2>
      <a:accent3>
        <a:srgbClr val="F59E0B"/>
      </a:accent3>
      <a:accent4>
        <a:srgbClr val="10B981"/>
      </a:accent4>
      <a:accent5>
        <a:srgbClr val="DC2626"/>
      </a:accent5>
      <a:accent6>
        <a:srgbClr val="64748B"/>
      </a:accent6>
      <a:hlink>
        <a:srgbClr val="2563EB"/>
      </a:hlink>
      <a:folHlink>
        <a:srgbClr val="7C3AED"/>
      </a:folHlink>
    </a:clrScheme>
    <a:fontScheme name="ARI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 — technical overview</dc:title>
  <dc:subject>PptxGenJS Presentation</dc:subject>
  <dc:creator>ARIA team</dc:creator>
  <cp:lastModifiedBy>ARIA team</cp:lastModifiedBy>
  <cp:revision>1</cp:revision>
  <dcterms:created xsi:type="dcterms:W3CDTF">2026-10-16T03:59:40Z</dcterms:created>
  <dcterms:modified xsi:type="dcterms:W3CDTF">2026-10-16T03:59:40Z</dcterms:modified>
</cp:coreProperties>
</file>