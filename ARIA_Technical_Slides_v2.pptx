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chnical overview" id="{23f20ddf-962e-ae62-6e7a-1c3b3480abbf}">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cell runs a fixed PLC sequence. At step 30 the close command Y4 is on but the closed sensor B21 never confirms within 1.5 s, so the PLC raises A-301 and stops. Five physical causes produce the same alarm. ARIA's job is to tell which one from machine evidence and permitted tests, and say the next safe step. All plant data in the demo is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GPT-Live is the voice and delegates work; the Agents SDK orchestrates the ARIA agent; terra reasons, luna does the fast jobs, structured outputs keep everything typed; embeddings back the manual search and the incident memory; and evals use a simulated GPT-Live caller with terra as the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runs clockwise: gather evidence, register hypotheses, pick the permitted test with the highest information gain, run it, update every hypothesis with the real result, and once a stop rule is met, write and verify the report before GPT-Live speaks it. The thresholds, safety preconditions and verification checks live in code — the model proposes, the engine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ARIA · industrial voice copilot · demo uses simulated plant data</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Technical use case</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Why did the palletizer stop?</a:t>
            </a:r>
            <a:endParaRPr lang="en-US" sz="3000" dirty="0"/>
          </a:p>
        </p:txBody>
      </p:sp>
      <p:sp>
        <p:nvSpPr>
          <p:cNvPr id="4" name="narrative-1"/>
          <p:cNvSpPr txBox="1"/>
          <p:nvPr/>
        </p:nvSpPr>
        <p:spPr>
          <a:xfrm>
            <a:off x="548640" y="1508760"/>
            <a:ext cx="4572000" cy="4709160"/>
          </a:xfrm>
          <a:prstGeom prst="rect">
            <a:avLst/>
          </a:prstGeom>
          <a:noFill/>
          <a:ln/>
        </p:spPr>
        <p:txBody>
          <a:bodyPr wrap="square" lIns="0" tIns="0" rIns="0" bIns="0" rtlCol="0" anchor="t"/>
          <a:lstStyle/>
          <a:p>
            <a:pPr indent="0" marL="0">
              <a:lnSpc>
                <a:spcPct val="108000"/>
              </a:lnSpc>
              <a:spcAft>
                <a:spcPts val="1400"/>
              </a:spcAft>
              <a:buNone/>
            </a:pPr>
            <a:r>
              <a:rPr lang="en-US" sz="1500" b="1" dirty="0">
                <a:solidFill>
                  <a:schemeClr val="tx1"/>
                </a:solidFill>
              </a:rPr>
              <a:t>The cell. </a:t>
            </a:r>
            <a:pPr indent="0" marL="0">
              <a:lnSpc>
                <a:spcPct val="108000"/>
              </a:lnSpc>
              <a:spcAft>
                <a:spcPts val="1400"/>
              </a:spcAft>
              <a:buNone/>
            </a:pPr>
            <a:r>
              <a:rPr lang="en-US" sz="1500" dirty="0">
                <a:solidFill>
                  <a:schemeClr val="tx2"/>
                </a:solidFill>
              </a:rPr>
              <a:t>A robotic palletizing cell stacks cases at the end of a packaging line. A PLC runs a fixed sequence and checks every step with a sensor before moving on.</a:t>
            </a:r>
            <a:endParaRPr lang="en-US" sz="1500" dirty="0"/>
          </a:p>
          <a:p>
            <a:pPr indent="0" marL="0">
              <a:lnSpc>
                <a:spcPct val="108000"/>
              </a:lnSpc>
              <a:spcAft>
                <a:spcPts val="1400"/>
              </a:spcAft>
              <a:buNone/>
            </a:pPr>
            <a:r>
              <a:rPr lang="en-US" sz="1500" b="1" dirty="0">
                <a:solidFill>
                  <a:schemeClr val="tx1"/>
                </a:solidFill>
              </a:rPr>
              <a:t>The stop. </a:t>
            </a:r>
            <a:pPr indent="0" marL="0">
              <a:lnSpc>
                <a:spcPct val="108000"/>
              </a:lnSpc>
              <a:spcAft>
                <a:spcPts val="1400"/>
              </a:spcAft>
              <a:buNone/>
            </a:pPr>
            <a:r>
              <a:rPr lang="en-US" sz="1500" dirty="0">
                <a:solidFill>
                  <a:schemeClr val="tx2"/>
                </a:solidFill>
              </a:rPr>
              <a:t>At step 30 the gripper is told to close — valve Y4 is on — but the closed sensor B21 never confirms. After 1.5 seconds the PLC raises alarm A-301 and stops the cell.</a:t>
            </a:r>
            <a:endParaRPr lang="en-US" sz="1500" dirty="0"/>
          </a:p>
          <a:p>
            <a:pPr indent="0" marL="0">
              <a:lnSpc>
                <a:spcPct val="108000"/>
              </a:lnSpc>
              <a:spcAft>
                <a:spcPts val="1400"/>
              </a:spcAft>
              <a:buNone/>
            </a:pPr>
            <a:r>
              <a:rPr lang="en-US" sz="1500" b="1" dirty="0">
                <a:solidFill>
                  <a:schemeClr val="tx1"/>
                </a:solidFill>
              </a:rPr>
              <a:t>The real problem. </a:t>
            </a:r>
            <a:pPr indent="0" marL="0">
              <a:lnSpc>
                <a:spcPct val="108000"/>
              </a:lnSpc>
              <a:spcAft>
                <a:spcPts val="1400"/>
              </a:spcAft>
              <a:buNone/>
            </a:pPr>
            <a:r>
              <a:rPr lang="en-US" sz="1500" dirty="0">
                <a:solidFill>
                  <a:schemeClr val="tx2"/>
                </a:solidFill>
              </a:rPr>
              <a:t>One alarm, five physical causes: a misaligned sensor, low air, a valve that won't switch, jammed jaws or a cable fault. Working out which one is where the downtime goes.</a:t>
            </a:r>
            <a:endParaRPr lang="en-US" sz="1500" dirty="0"/>
          </a:p>
          <a:p>
            <a:pPr indent="0" marL="0">
              <a:lnSpc>
                <a:spcPct val="108000"/>
              </a:lnSpc>
              <a:spcAft>
                <a:spcPts val="1400"/>
              </a:spcAft>
              <a:buNone/>
            </a:pPr>
            <a:r>
              <a:rPr lang="en-US" sz="1500" b="1" dirty="0">
                <a:solidFill>
                  <a:schemeClr val="tx1"/>
                </a:solidFill>
              </a:rPr>
              <a:t>ARIA's job. </a:t>
            </a:r>
            <a:pPr indent="0" marL="0">
              <a:lnSpc>
                <a:spcPct val="108000"/>
              </a:lnSpc>
              <a:spcAft>
                <a:spcPts val="1400"/>
              </a:spcAft>
              <a:buNone/>
            </a:pPr>
            <a:r>
              <a:rPr lang="en-US" sz="1500" dirty="0">
                <a:solidFill>
                  <a:schemeClr val="tx2"/>
                </a:solidFill>
              </a:rPr>
              <a:t>Find the cause from machine evidence and safe tests, then tell the operator the next safe step — by voice, hands-free. ARIA never restarts or bypasses equipment.</a:t>
            </a:r>
            <a:endParaRPr lang="en-US" sz="1500" dirty="0"/>
          </a:p>
        </p:txBody>
      </p:sp>
      <p:sp>
        <p:nvSpPr>
          <p:cNvPr id="5" name="box-2"/>
          <p:cNvSpPr/>
          <p:nvPr/>
        </p:nvSpPr>
        <p:spPr>
          <a:xfrm>
            <a:off x="5486400" y="1463040"/>
            <a:ext cx="6153912" cy="4754880"/>
          </a:xfrm>
          <a:prstGeom prst="roundRect">
            <a:avLst>
              <a:gd name="adj" fmla="val 2692"/>
            </a:avLst>
          </a:prstGeom>
          <a:solidFill>
            <a:srgbClr val="111827"/>
          </a:solidFill>
          <a:ln w="12700">
            <a:solidFill>
              <a:srgbClr val="111827"/>
            </a:solidFill>
            <a:prstDash val="solid"/>
          </a:ln>
        </p:spPr>
      </p:sp>
      <p:sp>
        <p:nvSpPr>
          <p:cNvPr id="6" name="text-3"/>
          <p:cNvSpPr txBox="1"/>
          <p:nvPr/>
        </p:nvSpPr>
        <p:spPr>
          <a:xfrm>
            <a:off x="5852160" y="1737360"/>
            <a:ext cx="2743200" cy="274320"/>
          </a:xfrm>
          <a:prstGeom prst="rect">
            <a:avLst/>
          </a:prstGeom>
          <a:noFill/>
          <a:ln/>
        </p:spPr>
        <p:txBody>
          <a:bodyPr wrap="square" lIns="508" tIns="508" rIns="508" bIns="508" rtlCol="0" anchor="t"/>
          <a:lstStyle/>
          <a:p>
            <a:pPr algn="l" indent="0" marL="0">
              <a:buNone/>
            </a:pPr>
            <a:r>
              <a:rPr lang="en-US" sz="1000" b="1" spc="200" kern="0" dirty="0">
                <a:solidFill>
                  <a:srgbClr val="9CA3AF"/>
                </a:solidFill>
              </a:rPr>
              <a:t>SEQUENCE</a:t>
            </a:r>
            <a:endParaRPr lang="en-US" sz="1000" dirty="0"/>
          </a:p>
        </p:txBody>
      </p:sp>
      <p:sp>
        <p:nvSpPr>
          <p:cNvPr id="7" name="rule-4"/>
          <p:cNvSpPr/>
          <p:nvPr/>
        </p:nvSpPr>
        <p:spPr>
          <a:xfrm>
            <a:off x="6529959" y="2514600"/>
            <a:ext cx="4066794" cy="0"/>
          </a:xfrm>
          <a:prstGeom prst="line">
            <a:avLst/>
          </a:prstGeom>
          <a:noFill/>
          <a:ln w="25400">
            <a:solidFill>
              <a:srgbClr val="4B5563"/>
            </a:solidFill>
            <a:prstDash val="solid"/>
          </a:ln>
        </p:spPr>
      </p:sp>
      <p:sp>
        <p:nvSpPr>
          <p:cNvPr id="8" name="badge-5"/>
          <p:cNvSpPr/>
          <p:nvPr/>
        </p:nvSpPr>
        <p:spPr>
          <a:xfrm>
            <a:off x="6173343" y="2157984"/>
            <a:ext cx="713232" cy="713232"/>
          </a:xfrm>
          <a:prstGeom prst="ellipse">
            <a:avLst/>
          </a:prstGeom>
          <a:solidFill>
            <a:srgbClr val="374151"/>
          </a:solidFill>
          <a:ln w="12700">
            <a:solidFill>
              <a:srgbClr val="374151"/>
            </a:solidFill>
            <a:prstDash val="solid"/>
          </a:ln>
        </p:spPr>
      </p:sp>
      <p:pic>
        <p:nvPicPr>
          <p:cNvPr id="9" name="icon-6" descr="preencoded.png">    </p:cNvPr>
          <p:cNvPicPr>
            <a:picLocks noChangeAspect="1"/>
          </p:cNvPicPr>
          <p:nvPr/>
        </p:nvPicPr>
        <p:blipFill>
          <a:blip r:embed="rId1"/>
          <a:stretch>
            <a:fillRect/>
          </a:stretch>
        </p:blipFill>
        <p:spPr>
          <a:xfrm>
            <a:off x="6344519" y="2329160"/>
            <a:ext cx="370881" cy="370881"/>
          </a:xfrm>
          <a:prstGeom prst="rect">
            <a:avLst/>
          </a:prstGeom>
        </p:spPr>
      </p:pic>
      <p:sp>
        <p:nvSpPr>
          <p:cNvPr id="10" name="text-7"/>
          <p:cNvSpPr txBox="1"/>
          <p:nvPr/>
        </p:nvSpPr>
        <p:spPr>
          <a:xfrm>
            <a:off x="5798439" y="2944368"/>
            <a:ext cx="1463040" cy="274320"/>
          </a:xfrm>
          <a:prstGeom prst="rect">
            <a:avLst/>
          </a:prstGeom>
          <a:noFill/>
          <a:ln/>
        </p:spPr>
        <p:txBody>
          <a:bodyPr wrap="square" lIns="0" tIns="0" rIns="0" bIns="0" rtlCol="0" anchor="t"/>
          <a:lstStyle/>
          <a:p>
            <a:pPr algn="ctr" indent="0" marL="0">
              <a:buNone/>
            </a:pPr>
            <a:r>
              <a:rPr lang="en-US" sz="1200" b="1" dirty="0">
                <a:solidFill>
                  <a:srgbClr val="E5E7EB"/>
                </a:solidFill>
              </a:rPr>
              <a:t>Infeed</a:t>
            </a:r>
            <a:endParaRPr lang="en-US" sz="1200" dirty="0"/>
          </a:p>
        </p:txBody>
      </p:sp>
      <p:sp>
        <p:nvSpPr>
          <p:cNvPr id="11" name="text-8"/>
          <p:cNvSpPr txBox="1"/>
          <p:nvPr/>
        </p:nvSpPr>
        <p:spPr>
          <a:xfrm>
            <a:off x="5798439" y="3200400"/>
            <a:ext cx="1463040" cy="228600"/>
          </a:xfrm>
          <a:prstGeom prst="rect">
            <a:avLst/>
          </a:prstGeom>
          <a:noFill/>
          <a:ln/>
        </p:spPr>
        <p:txBody>
          <a:bodyPr wrap="square" lIns="0" tIns="0" rIns="0" bIns="0" rtlCol="0" anchor="t"/>
          <a:lstStyle/>
          <a:p>
            <a:pPr algn="ctr" indent="0" marL="0">
              <a:buNone/>
            </a:pPr>
            <a:r>
              <a:rPr lang="en-US" sz="1000" dirty="0">
                <a:solidFill>
                  <a:srgbClr val="9CA3AF"/>
                </a:solidFill>
              </a:rPr>
              <a:t>S10</a:t>
            </a:r>
            <a:endParaRPr lang="en-US" sz="1000" dirty="0"/>
          </a:p>
        </p:txBody>
      </p:sp>
      <p:sp>
        <p:nvSpPr>
          <p:cNvPr id="12" name="badge-9"/>
          <p:cNvSpPr/>
          <p:nvPr/>
        </p:nvSpPr>
        <p:spPr>
          <a:xfrm>
            <a:off x="7528941" y="2157984"/>
            <a:ext cx="713232" cy="713232"/>
          </a:xfrm>
          <a:prstGeom prst="ellipse">
            <a:avLst/>
          </a:prstGeom>
          <a:solidFill>
            <a:srgbClr val="374151"/>
          </a:solidFill>
          <a:ln w="12700">
            <a:solidFill>
              <a:srgbClr val="374151"/>
            </a:solidFill>
            <a:prstDash val="solid"/>
          </a:ln>
        </p:spPr>
      </p:sp>
      <p:pic>
        <p:nvPicPr>
          <p:cNvPr id="13" name="icon-10" descr="preencoded.png">    </p:cNvPr>
          <p:cNvPicPr>
            <a:picLocks noChangeAspect="1"/>
          </p:cNvPicPr>
          <p:nvPr/>
        </p:nvPicPr>
        <p:blipFill>
          <a:blip r:embed="rId2"/>
          <a:stretch>
            <a:fillRect/>
          </a:stretch>
        </p:blipFill>
        <p:spPr>
          <a:xfrm>
            <a:off x="7700117" y="2329160"/>
            <a:ext cx="370881" cy="370881"/>
          </a:xfrm>
          <a:prstGeom prst="rect">
            <a:avLst/>
          </a:prstGeom>
        </p:spPr>
      </p:pic>
      <p:sp>
        <p:nvSpPr>
          <p:cNvPr id="14" name="text-11"/>
          <p:cNvSpPr txBox="1"/>
          <p:nvPr/>
        </p:nvSpPr>
        <p:spPr>
          <a:xfrm>
            <a:off x="7154037" y="2944368"/>
            <a:ext cx="1463040" cy="274320"/>
          </a:xfrm>
          <a:prstGeom prst="rect">
            <a:avLst/>
          </a:prstGeom>
          <a:noFill/>
          <a:ln/>
        </p:spPr>
        <p:txBody>
          <a:bodyPr wrap="square" lIns="0" tIns="0" rIns="0" bIns="0" rtlCol="0" anchor="t"/>
          <a:lstStyle/>
          <a:p>
            <a:pPr algn="ctr" indent="0" marL="0">
              <a:buNone/>
            </a:pPr>
            <a:r>
              <a:rPr lang="en-US" sz="1200" b="1" dirty="0">
                <a:solidFill>
                  <a:srgbClr val="E5E7EB"/>
                </a:solidFill>
              </a:rPr>
              <a:t>Robot pick</a:t>
            </a:r>
            <a:endParaRPr lang="en-US" sz="1200" dirty="0"/>
          </a:p>
        </p:txBody>
      </p:sp>
      <p:sp>
        <p:nvSpPr>
          <p:cNvPr id="15" name="text-12"/>
          <p:cNvSpPr txBox="1"/>
          <p:nvPr/>
        </p:nvSpPr>
        <p:spPr>
          <a:xfrm>
            <a:off x="7154037" y="3200400"/>
            <a:ext cx="1463040" cy="228600"/>
          </a:xfrm>
          <a:prstGeom prst="rect">
            <a:avLst/>
          </a:prstGeom>
          <a:noFill/>
          <a:ln/>
        </p:spPr>
        <p:txBody>
          <a:bodyPr wrap="square" lIns="0" tIns="0" rIns="0" bIns="0" rtlCol="0" anchor="t"/>
          <a:lstStyle/>
          <a:p>
            <a:pPr algn="ctr" indent="0" marL="0">
              <a:buNone/>
            </a:pPr>
            <a:r>
              <a:rPr lang="en-US" sz="1000" dirty="0">
                <a:solidFill>
                  <a:srgbClr val="9CA3AF"/>
                </a:solidFill>
              </a:rPr>
              <a:t>S20</a:t>
            </a:r>
            <a:endParaRPr lang="en-US" sz="1000" dirty="0"/>
          </a:p>
        </p:txBody>
      </p:sp>
      <p:sp>
        <p:nvSpPr>
          <p:cNvPr id="16" name="badge-13"/>
          <p:cNvSpPr/>
          <p:nvPr/>
        </p:nvSpPr>
        <p:spPr>
          <a:xfrm>
            <a:off x="8884539" y="2157984"/>
            <a:ext cx="713232" cy="713232"/>
          </a:xfrm>
          <a:prstGeom prst="ellipse">
            <a:avLst/>
          </a:prstGeom>
          <a:solidFill>
            <a:srgbClr val="DC2626"/>
          </a:solidFill>
          <a:ln w="31750">
            <a:solidFill>
              <a:srgbClr val="FCA5A5"/>
            </a:solidFill>
            <a:prstDash val="solid"/>
          </a:ln>
        </p:spPr>
      </p:sp>
      <p:pic>
        <p:nvPicPr>
          <p:cNvPr id="17" name="icon-14" descr="preencoded.png">    </p:cNvPr>
          <p:cNvPicPr>
            <a:picLocks noChangeAspect="1"/>
          </p:cNvPicPr>
          <p:nvPr/>
        </p:nvPicPr>
        <p:blipFill>
          <a:blip r:embed="rId3"/>
          <a:stretch>
            <a:fillRect/>
          </a:stretch>
        </p:blipFill>
        <p:spPr>
          <a:xfrm>
            <a:off x="9055715" y="2329160"/>
            <a:ext cx="370881" cy="370881"/>
          </a:xfrm>
          <a:prstGeom prst="rect">
            <a:avLst/>
          </a:prstGeom>
        </p:spPr>
      </p:pic>
      <p:sp>
        <p:nvSpPr>
          <p:cNvPr id="18" name="text-15"/>
          <p:cNvSpPr txBox="1"/>
          <p:nvPr/>
        </p:nvSpPr>
        <p:spPr>
          <a:xfrm>
            <a:off x="8509635" y="2944368"/>
            <a:ext cx="1463040" cy="274320"/>
          </a:xfrm>
          <a:prstGeom prst="rect">
            <a:avLst/>
          </a:prstGeom>
          <a:noFill/>
          <a:ln/>
        </p:spPr>
        <p:txBody>
          <a:bodyPr wrap="square" lIns="0" tIns="0" rIns="0" bIns="0" rtlCol="0" anchor="t"/>
          <a:lstStyle/>
          <a:p>
            <a:pPr algn="ctr" indent="0" marL="0">
              <a:buNone/>
            </a:pPr>
            <a:r>
              <a:rPr lang="en-US" sz="1200" b="1" dirty="0">
                <a:solidFill>
                  <a:srgbClr val="FCA5A5"/>
                </a:solidFill>
              </a:rPr>
              <a:t>Gripper close</a:t>
            </a:r>
            <a:endParaRPr lang="en-US" sz="1200" dirty="0"/>
          </a:p>
        </p:txBody>
      </p:sp>
      <p:sp>
        <p:nvSpPr>
          <p:cNvPr id="19" name="text-16"/>
          <p:cNvSpPr txBox="1"/>
          <p:nvPr/>
        </p:nvSpPr>
        <p:spPr>
          <a:xfrm>
            <a:off x="8509635" y="3200400"/>
            <a:ext cx="1463040" cy="228600"/>
          </a:xfrm>
          <a:prstGeom prst="rect">
            <a:avLst/>
          </a:prstGeom>
          <a:noFill/>
          <a:ln/>
        </p:spPr>
        <p:txBody>
          <a:bodyPr wrap="square" lIns="0" tIns="0" rIns="0" bIns="0" rtlCol="0" anchor="t"/>
          <a:lstStyle/>
          <a:p>
            <a:pPr algn="ctr" indent="0" marL="0">
              <a:buNone/>
            </a:pPr>
            <a:r>
              <a:rPr lang="en-US" sz="1000" dirty="0">
                <a:solidFill>
                  <a:srgbClr val="9CA3AF"/>
                </a:solidFill>
              </a:rPr>
              <a:t>S30</a:t>
            </a:r>
            <a:endParaRPr lang="en-US" sz="1000" dirty="0"/>
          </a:p>
        </p:txBody>
      </p:sp>
      <p:sp>
        <p:nvSpPr>
          <p:cNvPr id="20" name="badge-17"/>
          <p:cNvSpPr/>
          <p:nvPr/>
        </p:nvSpPr>
        <p:spPr>
          <a:xfrm>
            <a:off x="10240137" y="2157984"/>
            <a:ext cx="713232" cy="713232"/>
          </a:xfrm>
          <a:prstGeom prst="ellipse">
            <a:avLst/>
          </a:prstGeom>
          <a:solidFill>
            <a:srgbClr val="374151"/>
          </a:solidFill>
          <a:ln w="12700">
            <a:solidFill>
              <a:srgbClr val="374151"/>
            </a:solidFill>
            <a:prstDash val="solid"/>
          </a:ln>
        </p:spPr>
      </p:sp>
      <p:pic>
        <p:nvPicPr>
          <p:cNvPr id="21" name="icon-18" descr="preencoded.png">    </p:cNvPr>
          <p:cNvPicPr>
            <a:picLocks noChangeAspect="1"/>
          </p:cNvPicPr>
          <p:nvPr/>
        </p:nvPicPr>
        <p:blipFill>
          <a:blip r:embed="rId4"/>
          <a:stretch>
            <a:fillRect/>
          </a:stretch>
        </p:blipFill>
        <p:spPr>
          <a:xfrm>
            <a:off x="10411313" y="2329160"/>
            <a:ext cx="370881" cy="370881"/>
          </a:xfrm>
          <a:prstGeom prst="rect">
            <a:avLst/>
          </a:prstGeom>
        </p:spPr>
      </p:pic>
      <p:sp>
        <p:nvSpPr>
          <p:cNvPr id="22" name="text-19"/>
          <p:cNvSpPr txBox="1"/>
          <p:nvPr/>
        </p:nvSpPr>
        <p:spPr>
          <a:xfrm>
            <a:off x="9865233" y="2944368"/>
            <a:ext cx="1463040" cy="274320"/>
          </a:xfrm>
          <a:prstGeom prst="rect">
            <a:avLst/>
          </a:prstGeom>
          <a:noFill/>
          <a:ln/>
        </p:spPr>
        <p:txBody>
          <a:bodyPr wrap="square" lIns="0" tIns="0" rIns="0" bIns="0" rtlCol="0" anchor="t"/>
          <a:lstStyle/>
          <a:p>
            <a:pPr algn="ctr" indent="0" marL="0">
              <a:buNone/>
            </a:pPr>
            <a:r>
              <a:rPr lang="en-US" sz="1200" b="1" dirty="0">
                <a:solidFill>
                  <a:srgbClr val="E5E7EB"/>
                </a:solidFill>
              </a:rPr>
              <a:t>Place</a:t>
            </a:r>
            <a:endParaRPr lang="en-US" sz="1200" dirty="0"/>
          </a:p>
        </p:txBody>
      </p:sp>
      <p:sp>
        <p:nvSpPr>
          <p:cNvPr id="23" name="text-20"/>
          <p:cNvSpPr txBox="1"/>
          <p:nvPr/>
        </p:nvSpPr>
        <p:spPr>
          <a:xfrm>
            <a:off x="9865233" y="3200400"/>
            <a:ext cx="1463040" cy="228600"/>
          </a:xfrm>
          <a:prstGeom prst="rect">
            <a:avLst/>
          </a:prstGeom>
          <a:noFill/>
          <a:ln/>
        </p:spPr>
        <p:txBody>
          <a:bodyPr wrap="square" lIns="0" tIns="0" rIns="0" bIns="0" rtlCol="0" anchor="t"/>
          <a:lstStyle/>
          <a:p>
            <a:pPr algn="ctr" indent="0" marL="0">
              <a:buNone/>
            </a:pPr>
            <a:r>
              <a:rPr lang="en-US" sz="1000" dirty="0">
                <a:solidFill>
                  <a:srgbClr val="9CA3AF"/>
                </a:solidFill>
              </a:rPr>
              <a:t>S40</a:t>
            </a:r>
            <a:endParaRPr lang="en-US" sz="1000" dirty="0"/>
          </a:p>
        </p:txBody>
      </p:sp>
      <p:sp>
        <p:nvSpPr>
          <p:cNvPr id="24" name="box-21"/>
          <p:cNvSpPr/>
          <p:nvPr/>
        </p:nvSpPr>
        <p:spPr>
          <a:xfrm>
            <a:off x="5852160" y="3611880"/>
            <a:ext cx="5422392" cy="1600200"/>
          </a:xfrm>
          <a:prstGeom prst="roundRect">
            <a:avLst>
              <a:gd name="adj" fmla="val 4571"/>
            </a:avLst>
          </a:prstGeom>
          <a:solidFill>
            <a:srgbClr val="1F2937"/>
          </a:solidFill>
          <a:ln w="12700">
            <a:solidFill>
              <a:srgbClr val="1F2937"/>
            </a:solidFill>
            <a:prstDash val="solid"/>
          </a:ln>
        </p:spPr>
      </p:sp>
      <p:sp>
        <p:nvSpPr>
          <p:cNvPr id="25" name="box-22"/>
          <p:cNvSpPr/>
          <p:nvPr/>
        </p:nvSpPr>
        <p:spPr>
          <a:xfrm>
            <a:off x="6035040" y="3794760"/>
            <a:ext cx="868680" cy="310896"/>
          </a:xfrm>
          <a:prstGeom prst="roundRect">
            <a:avLst>
              <a:gd name="adj" fmla="val 17647"/>
            </a:avLst>
          </a:prstGeom>
          <a:solidFill>
            <a:srgbClr val="DC2626"/>
          </a:solidFill>
          <a:ln w="12700">
            <a:solidFill>
              <a:srgbClr val="DC2626"/>
            </a:solidFill>
            <a:prstDash val="solid"/>
          </a:ln>
        </p:spPr>
      </p:sp>
      <p:sp>
        <p:nvSpPr>
          <p:cNvPr id="26" name="text-23"/>
          <p:cNvSpPr txBox="1"/>
          <p:nvPr/>
        </p:nvSpPr>
        <p:spPr>
          <a:xfrm>
            <a:off x="6035040" y="3794760"/>
            <a:ext cx="868680" cy="310896"/>
          </a:xfrm>
          <a:prstGeom prst="rect">
            <a:avLst/>
          </a:prstGeom>
          <a:noFill/>
          <a:ln/>
        </p:spPr>
        <p:txBody>
          <a:bodyPr wrap="square" lIns="0" tIns="0" rIns="0" bIns="0" rtlCol="0" anchor="ctr"/>
          <a:lstStyle/>
          <a:p>
            <a:pPr algn="ctr" indent="0" marL="0">
              <a:buNone/>
            </a:pPr>
            <a:r>
              <a:rPr lang="en-US" sz="1200" b="1" dirty="0">
                <a:solidFill>
                  <a:srgbClr val="FFFFFF"/>
                </a:solidFill>
              </a:rPr>
              <a:t>A-301</a:t>
            </a:r>
            <a:endParaRPr lang="en-US" sz="1200" dirty="0"/>
          </a:p>
        </p:txBody>
      </p:sp>
      <p:sp>
        <p:nvSpPr>
          <p:cNvPr id="27" name="text-24"/>
          <p:cNvSpPr txBox="1"/>
          <p:nvPr/>
        </p:nvSpPr>
        <p:spPr>
          <a:xfrm>
            <a:off x="7040880" y="3794760"/>
            <a:ext cx="3840480" cy="310896"/>
          </a:xfrm>
          <a:prstGeom prst="rect">
            <a:avLst/>
          </a:prstGeom>
          <a:noFill/>
          <a:ln/>
        </p:spPr>
        <p:txBody>
          <a:bodyPr wrap="square" lIns="0" tIns="0" rIns="0" bIns="0" rtlCol="0" anchor="ctr"/>
          <a:lstStyle/>
          <a:p>
            <a:pPr algn="l" indent="0" marL="0">
              <a:buNone/>
            </a:pPr>
            <a:r>
              <a:rPr lang="en-US" sz="1300" b="1" dirty="0">
                <a:solidFill>
                  <a:srgbClr val="E5E7EB"/>
                </a:solidFill>
              </a:rPr>
              <a:t>Gripper close timeout · cell in FAULT</a:t>
            </a:r>
            <a:endParaRPr lang="en-US" sz="1300" dirty="0"/>
          </a:p>
        </p:txBody>
      </p:sp>
      <p:sp>
        <p:nvSpPr>
          <p:cNvPr id="28" name="led-25"/>
          <p:cNvSpPr/>
          <p:nvPr/>
        </p:nvSpPr>
        <p:spPr>
          <a:xfrm>
            <a:off x="6080760" y="4325112"/>
            <a:ext cx="128016" cy="128016"/>
          </a:xfrm>
          <a:prstGeom prst="ellipse">
            <a:avLst/>
          </a:prstGeom>
          <a:solidFill>
            <a:srgbClr val="10B981"/>
          </a:solidFill>
          <a:ln w="12700">
            <a:solidFill>
              <a:srgbClr val="10B981"/>
            </a:solidFill>
            <a:prstDash val="solid"/>
          </a:ln>
        </p:spPr>
      </p:sp>
      <p:sp>
        <p:nvSpPr>
          <p:cNvPr id="29" name="text-26"/>
          <p:cNvSpPr txBox="1"/>
          <p:nvPr/>
        </p:nvSpPr>
        <p:spPr>
          <a:xfrm>
            <a:off x="6355080" y="4251960"/>
            <a:ext cx="548640" cy="274320"/>
          </a:xfrm>
          <a:prstGeom prst="rect">
            <a:avLst/>
          </a:prstGeom>
          <a:noFill/>
          <a:ln/>
        </p:spPr>
        <p:txBody>
          <a:bodyPr wrap="square" lIns="0" tIns="0" rIns="0" bIns="0" rtlCol="0" anchor="ctr"/>
          <a:lstStyle/>
          <a:p>
            <a:pPr algn="l" indent="0" marL="0">
              <a:buNone/>
            </a:pPr>
            <a:r>
              <a:rPr lang="en-US" sz="1200" b="1" dirty="0">
                <a:solidFill>
                  <a:srgbClr val="E5E7EB"/>
                </a:solidFill>
                <a:latin typeface="Consolas" pitchFamily="34" charset="0"/>
                <a:ea typeface="Consolas" pitchFamily="34" charset="-122"/>
                <a:cs typeface="Consolas" pitchFamily="34" charset="-120"/>
              </a:rPr>
              <a:t>Y4</a:t>
            </a:r>
            <a:endParaRPr lang="en-US" sz="1200" dirty="0"/>
          </a:p>
        </p:txBody>
      </p:sp>
      <p:sp>
        <p:nvSpPr>
          <p:cNvPr id="30" name="text-27"/>
          <p:cNvSpPr txBox="1"/>
          <p:nvPr/>
        </p:nvSpPr>
        <p:spPr>
          <a:xfrm>
            <a:off x="6949440" y="4251960"/>
            <a:ext cx="2377440" cy="274320"/>
          </a:xfrm>
          <a:prstGeom prst="rect">
            <a:avLst/>
          </a:prstGeom>
          <a:noFill/>
          <a:ln/>
        </p:spPr>
        <p:txBody>
          <a:bodyPr wrap="square" lIns="0" tIns="0" rIns="0" bIns="0" rtlCol="0" anchor="ctr"/>
          <a:lstStyle/>
          <a:p>
            <a:pPr algn="l" indent="0" marL="0">
              <a:buNone/>
            </a:pPr>
            <a:r>
              <a:rPr lang="en-US" sz="1200" dirty="0">
                <a:solidFill>
                  <a:srgbClr val="9CA3AF"/>
                </a:solidFill>
              </a:rPr>
              <a:t>close command</a:t>
            </a:r>
            <a:endParaRPr lang="en-US" sz="1200" dirty="0"/>
          </a:p>
        </p:txBody>
      </p:sp>
      <p:sp>
        <p:nvSpPr>
          <p:cNvPr id="31" name="text-28"/>
          <p:cNvSpPr txBox="1"/>
          <p:nvPr/>
        </p:nvSpPr>
        <p:spPr>
          <a:xfrm>
            <a:off x="9902952" y="4251960"/>
            <a:ext cx="1188720" cy="274320"/>
          </a:xfrm>
          <a:prstGeom prst="rect">
            <a:avLst/>
          </a:prstGeom>
          <a:noFill/>
          <a:ln/>
        </p:spPr>
        <p:txBody>
          <a:bodyPr wrap="square" lIns="0" tIns="0" rIns="0" bIns="0" rtlCol="0" anchor="ctr"/>
          <a:lstStyle/>
          <a:p>
            <a:pPr algn="r" indent="0" marL="0">
              <a:buNone/>
            </a:pPr>
            <a:r>
              <a:rPr lang="en-US" sz="1200" b="1" dirty="0">
                <a:solidFill>
                  <a:srgbClr val="10B981"/>
                </a:solidFill>
                <a:latin typeface="Consolas" pitchFamily="34" charset="0"/>
                <a:ea typeface="Consolas" pitchFamily="34" charset="-122"/>
                <a:cs typeface="Consolas" pitchFamily="34" charset="-120"/>
              </a:rPr>
              <a:t>ON</a:t>
            </a:r>
            <a:endParaRPr lang="en-US" sz="1200" dirty="0"/>
          </a:p>
        </p:txBody>
      </p:sp>
      <p:sp>
        <p:nvSpPr>
          <p:cNvPr id="32" name="led-29"/>
          <p:cNvSpPr/>
          <p:nvPr/>
        </p:nvSpPr>
        <p:spPr>
          <a:xfrm>
            <a:off x="6080760" y="4617720"/>
            <a:ext cx="128016" cy="128016"/>
          </a:xfrm>
          <a:prstGeom prst="ellipse">
            <a:avLst/>
          </a:prstGeom>
          <a:solidFill>
            <a:srgbClr val="DC2626"/>
          </a:solidFill>
          <a:ln w="12700">
            <a:solidFill>
              <a:srgbClr val="DC2626"/>
            </a:solidFill>
            <a:prstDash val="solid"/>
          </a:ln>
        </p:spPr>
      </p:sp>
      <p:sp>
        <p:nvSpPr>
          <p:cNvPr id="33" name="text-30"/>
          <p:cNvSpPr txBox="1"/>
          <p:nvPr/>
        </p:nvSpPr>
        <p:spPr>
          <a:xfrm>
            <a:off x="6355080" y="4544568"/>
            <a:ext cx="548640" cy="274320"/>
          </a:xfrm>
          <a:prstGeom prst="rect">
            <a:avLst/>
          </a:prstGeom>
          <a:noFill/>
          <a:ln/>
        </p:spPr>
        <p:txBody>
          <a:bodyPr wrap="square" lIns="0" tIns="0" rIns="0" bIns="0" rtlCol="0" anchor="ctr"/>
          <a:lstStyle/>
          <a:p>
            <a:pPr algn="l" indent="0" marL="0">
              <a:buNone/>
            </a:pPr>
            <a:r>
              <a:rPr lang="en-US" sz="1200" b="1" dirty="0">
                <a:solidFill>
                  <a:srgbClr val="E5E7EB"/>
                </a:solidFill>
                <a:latin typeface="Consolas" pitchFamily="34" charset="0"/>
                <a:ea typeface="Consolas" pitchFamily="34" charset="-122"/>
                <a:cs typeface="Consolas" pitchFamily="34" charset="-120"/>
              </a:rPr>
              <a:t>B21</a:t>
            </a:r>
            <a:endParaRPr lang="en-US" sz="1200" dirty="0"/>
          </a:p>
        </p:txBody>
      </p:sp>
      <p:sp>
        <p:nvSpPr>
          <p:cNvPr id="34" name="text-31"/>
          <p:cNvSpPr txBox="1"/>
          <p:nvPr/>
        </p:nvSpPr>
        <p:spPr>
          <a:xfrm>
            <a:off x="6949440" y="4544568"/>
            <a:ext cx="2377440" cy="274320"/>
          </a:xfrm>
          <a:prstGeom prst="rect">
            <a:avLst/>
          </a:prstGeom>
          <a:noFill/>
          <a:ln/>
        </p:spPr>
        <p:txBody>
          <a:bodyPr wrap="square" lIns="0" tIns="0" rIns="0" bIns="0" rtlCol="0" anchor="ctr"/>
          <a:lstStyle/>
          <a:p>
            <a:pPr algn="l" indent="0" marL="0">
              <a:buNone/>
            </a:pPr>
            <a:r>
              <a:rPr lang="en-US" sz="1200" dirty="0">
                <a:solidFill>
                  <a:srgbClr val="9CA3AF"/>
                </a:solidFill>
              </a:rPr>
              <a:t>closed feedback</a:t>
            </a:r>
            <a:endParaRPr lang="en-US" sz="1200" dirty="0"/>
          </a:p>
        </p:txBody>
      </p:sp>
      <p:sp>
        <p:nvSpPr>
          <p:cNvPr id="35" name="text-32"/>
          <p:cNvSpPr txBox="1"/>
          <p:nvPr/>
        </p:nvSpPr>
        <p:spPr>
          <a:xfrm>
            <a:off x="9902952" y="4544568"/>
            <a:ext cx="1188720" cy="274320"/>
          </a:xfrm>
          <a:prstGeom prst="rect">
            <a:avLst/>
          </a:prstGeom>
          <a:noFill/>
          <a:ln/>
        </p:spPr>
        <p:txBody>
          <a:bodyPr wrap="square" lIns="0" tIns="0" rIns="0" bIns="0" rtlCol="0" anchor="ctr"/>
          <a:lstStyle/>
          <a:p>
            <a:pPr algn="r" indent="0" marL="0">
              <a:buNone/>
            </a:pPr>
            <a:r>
              <a:rPr lang="en-US" sz="1200" b="1" dirty="0">
                <a:solidFill>
                  <a:srgbClr val="DC2626"/>
                </a:solidFill>
                <a:latin typeface="Consolas" pitchFamily="34" charset="0"/>
                <a:ea typeface="Consolas" pitchFamily="34" charset="-122"/>
                <a:cs typeface="Consolas" pitchFamily="34" charset="-120"/>
              </a:rPr>
              <a:t>OFF</a:t>
            </a:r>
            <a:endParaRPr lang="en-US" sz="1200" dirty="0"/>
          </a:p>
        </p:txBody>
      </p:sp>
      <p:sp>
        <p:nvSpPr>
          <p:cNvPr id="36" name="led-33"/>
          <p:cNvSpPr/>
          <p:nvPr/>
        </p:nvSpPr>
        <p:spPr>
          <a:xfrm>
            <a:off x="6080760" y="4910328"/>
            <a:ext cx="128016" cy="128016"/>
          </a:xfrm>
          <a:prstGeom prst="ellipse">
            <a:avLst/>
          </a:prstGeom>
          <a:solidFill>
            <a:srgbClr val="F59E0B"/>
          </a:solidFill>
          <a:ln w="12700">
            <a:solidFill>
              <a:srgbClr val="F59E0B"/>
            </a:solidFill>
            <a:prstDash val="solid"/>
          </a:ln>
        </p:spPr>
      </p:sp>
      <p:sp>
        <p:nvSpPr>
          <p:cNvPr id="37" name="text-34"/>
          <p:cNvSpPr txBox="1"/>
          <p:nvPr/>
        </p:nvSpPr>
        <p:spPr>
          <a:xfrm>
            <a:off x="6355080" y="4837176"/>
            <a:ext cx="548640" cy="274320"/>
          </a:xfrm>
          <a:prstGeom prst="rect">
            <a:avLst/>
          </a:prstGeom>
          <a:noFill/>
          <a:ln/>
        </p:spPr>
        <p:txBody>
          <a:bodyPr wrap="square" lIns="0" tIns="0" rIns="0" bIns="0" rtlCol="0" anchor="ctr"/>
          <a:lstStyle/>
          <a:p>
            <a:pPr algn="l" indent="0" marL="0">
              <a:buNone/>
            </a:pPr>
            <a:r>
              <a:rPr lang="en-US" sz="1200" b="1" dirty="0">
                <a:solidFill>
                  <a:srgbClr val="E5E7EB"/>
                </a:solidFill>
                <a:latin typeface="Consolas" pitchFamily="34" charset="0"/>
                <a:ea typeface="Consolas" pitchFamily="34" charset="-122"/>
                <a:cs typeface="Consolas" pitchFamily="34" charset="-120"/>
              </a:rPr>
              <a:t>T30</a:t>
            </a:r>
            <a:endParaRPr lang="en-US" sz="1200" dirty="0"/>
          </a:p>
        </p:txBody>
      </p:sp>
      <p:sp>
        <p:nvSpPr>
          <p:cNvPr id="38" name="text-35"/>
          <p:cNvSpPr txBox="1"/>
          <p:nvPr/>
        </p:nvSpPr>
        <p:spPr>
          <a:xfrm>
            <a:off x="6949440" y="4837176"/>
            <a:ext cx="2377440" cy="274320"/>
          </a:xfrm>
          <a:prstGeom prst="rect">
            <a:avLst/>
          </a:prstGeom>
          <a:noFill/>
          <a:ln/>
        </p:spPr>
        <p:txBody>
          <a:bodyPr wrap="square" lIns="0" tIns="0" rIns="0" bIns="0" rtlCol="0" anchor="ctr"/>
          <a:lstStyle/>
          <a:p>
            <a:pPr algn="l" indent="0" marL="0">
              <a:buNone/>
            </a:pPr>
            <a:r>
              <a:rPr lang="en-US" sz="1200" dirty="0">
                <a:solidFill>
                  <a:srgbClr val="9CA3AF"/>
                </a:solidFill>
              </a:rPr>
              <a:t>condition timer</a:t>
            </a:r>
            <a:endParaRPr lang="en-US" sz="1200" dirty="0"/>
          </a:p>
        </p:txBody>
      </p:sp>
      <p:sp>
        <p:nvSpPr>
          <p:cNvPr id="39" name="text-36"/>
          <p:cNvSpPr txBox="1"/>
          <p:nvPr/>
        </p:nvSpPr>
        <p:spPr>
          <a:xfrm>
            <a:off x="9902952" y="4837176"/>
            <a:ext cx="1188720" cy="274320"/>
          </a:xfrm>
          <a:prstGeom prst="rect">
            <a:avLst/>
          </a:prstGeom>
          <a:noFill/>
          <a:ln/>
        </p:spPr>
        <p:txBody>
          <a:bodyPr wrap="square" lIns="0" tIns="0" rIns="0" bIns="0" rtlCol="0" anchor="ctr"/>
          <a:lstStyle/>
          <a:p>
            <a:pPr algn="r" indent="0" marL="0">
              <a:buNone/>
            </a:pPr>
            <a:r>
              <a:rPr lang="en-US" sz="1200" b="1" dirty="0">
                <a:solidFill>
                  <a:srgbClr val="F59E0B"/>
                </a:solidFill>
                <a:latin typeface="Consolas" pitchFamily="34" charset="0"/>
                <a:ea typeface="Consolas" pitchFamily="34" charset="-122"/>
                <a:cs typeface="Consolas" pitchFamily="34" charset="-120"/>
              </a:rPr>
              <a:t>&gt; 1.5 s</a:t>
            </a:r>
            <a:endParaRPr lang="en-US" sz="1200" dirty="0"/>
          </a:p>
        </p:txBody>
      </p:sp>
      <p:sp>
        <p:nvSpPr>
          <p:cNvPr id="40" name="text-37"/>
          <p:cNvSpPr txBox="1"/>
          <p:nvPr/>
        </p:nvSpPr>
        <p:spPr>
          <a:xfrm>
            <a:off x="5852160" y="5394960"/>
            <a:ext cx="2743200" cy="274320"/>
          </a:xfrm>
          <a:prstGeom prst="rect">
            <a:avLst/>
          </a:prstGeom>
          <a:noFill/>
          <a:ln/>
        </p:spPr>
        <p:txBody>
          <a:bodyPr wrap="square" lIns="508" tIns="508" rIns="508" bIns="508" rtlCol="0" anchor="t"/>
          <a:lstStyle/>
          <a:p>
            <a:pPr algn="l" indent="0" marL="0">
              <a:buNone/>
            </a:pPr>
            <a:r>
              <a:rPr lang="en-US" sz="1000" b="1" spc="200" kern="0" dirty="0">
                <a:solidFill>
                  <a:srgbClr val="9CA3AF"/>
                </a:solidFill>
              </a:rPr>
              <a:t>CANDIDATE CAUSES</a:t>
            </a:r>
            <a:endParaRPr lang="en-US" sz="1000" dirty="0"/>
          </a:p>
        </p:txBody>
      </p:sp>
      <p:sp>
        <p:nvSpPr>
          <p:cNvPr id="41" name="box-38"/>
          <p:cNvSpPr/>
          <p:nvPr/>
        </p:nvSpPr>
        <p:spPr>
          <a:xfrm>
            <a:off x="5852160" y="5687568"/>
            <a:ext cx="1011326" cy="329184"/>
          </a:xfrm>
          <a:prstGeom prst="roundRect">
            <a:avLst>
              <a:gd name="adj" fmla="val 50000"/>
            </a:avLst>
          </a:prstGeom>
          <a:solidFill>
            <a:srgbClr val="374151"/>
          </a:solidFill>
          <a:ln w="12700">
            <a:solidFill>
              <a:srgbClr val="374151"/>
            </a:solidFill>
            <a:prstDash val="solid"/>
          </a:ln>
        </p:spPr>
      </p:sp>
      <p:sp>
        <p:nvSpPr>
          <p:cNvPr id="42" name="text-39"/>
          <p:cNvSpPr txBox="1"/>
          <p:nvPr/>
        </p:nvSpPr>
        <p:spPr>
          <a:xfrm>
            <a:off x="5852160" y="5687568"/>
            <a:ext cx="1011326" cy="329184"/>
          </a:xfrm>
          <a:prstGeom prst="rect">
            <a:avLst/>
          </a:prstGeom>
          <a:noFill/>
          <a:ln/>
        </p:spPr>
        <p:txBody>
          <a:bodyPr wrap="square" lIns="0" tIns="0" rIns="0" bIns="0" rtlCol="0" anchor="ctr"/>
          <a:lstStyle/>
          <a:p>
            <a:pPr algn="ctr" indent="0" marL="0">
              <a:buNone/>
            </a:pPr>
            <a:r>
              <a:rPr lang="en-US" sz="1050" dirty="0">
                <a:solidFill>
                  <a:srgbClr val="E5E7EB"/>
                </a:solidFill>
              </a:rPr>
              <a:t>Sensor offset</a:t>
            </a:r>
            <a:endParaRPr lang="en-US" sz="1050" dirty="0"/>
          </a:p>
        </p:txBody>
      </p:sp>
      <p:sp>
        <p:nvSpPr>
          <p:cNvPr id="43" name="box-40"/>
          <p:cNvSpPr/>
          <p:nvPr/>
        </p:nvSpPr>
        <p:spPr>
          <a:xfrm>
            <a:off x="6954926" y="5687568"/>
            <a:ext cx="1011326" cy="329184"/>
          </a:xfrm>
          <a:prstGeom prst="roundRect">
            <a:avLst>
              <a:gd name="adj" fmla="val 50000"/>
            </a:avLst>
          </a:prstGeom>
          <a:solidFill>
            <a:srgbClr val="374151"/>
          </a:solidFill>
          <a:ln w="12700">
            <a:solidFill>
              <a:srgbClr val="374151"/>
            </a:solidFill>
            <a:prstDash val="solid"/>
          </a:ln>
        </p:spPr>
      </p:sp>
      <p:sp>
        <p:nvSpPr>
          <p:cNvPr id="44" name="text-41"/>
          <p:cNvSpPr txBox="1"/>
          <p:nvPr/>
        </p:nvSpPr>
        <p:spPr>
          <a:xfrm>
            <a:off x="6954926" y="5687568"/>
            <a:ext cx="1011326" cy="329184"/>
          </a:xfrm>
          <a:prstGeom prst="rect">
            <a:avLst/>
          </a:prstGeom>
          <a:noFill/>
          <a:ln/>
        </p:spPr>
        <p:txBody>
          <a:bodyPr wrap="square" lIns="0" tIns="0" rIns="0" bIns="0" rtlCol="0" anchor="ctr"/>
          <a:lstStyle/>
          <a:p>
            <a:pPr algn="ctr" indent="0" marL="0">
              <a:buNone/>
            </a:pPr>
            <a:r>
              <a:rPr lang="en-US" sz="1050" dirty="0">
                <a:solidFill>
                  <a:srgbClr val="E5E7EB"/>
                </a:solidFill>
              </a:rPr>
              <a:t>Low air</a:t>
            </a:r>
            <a:endParaRPr lang="en-US" sz="1050" dirty="0"/>
          </a:p>
        </p:txBody>
      </p:sp>
      <p:sp>
        <p:nvSpPr>
          <p:cNvPr id="45" name="box-42"/>
          <p:cNvSpPr/>
          <p:nvPr/>
        </p:nvSpPr>
        <p:spPr>
          <a:xfrm>
            <a:off x="8057693" y="5687568"/>
            <a:ext cx="1011326" cy="329184"/>
          </a:xfrm>
          <a:prstGeom prst="roundRect">
            <a:avLst>
              <a:gd name="adj" fmla="val 50000"/>
            </a:avLst>
          </a:prstGeom>
          <a:solidFill>
            <a:srgbClr val="374151"/>
          </a:solidFill>
          <a:ln w="12700">
            <a:solidFill>
              <a:srgbClr val="374151"/>
            </a:solidFill>
            <a:prstDash val="solid"/>
          </a:ln>
        </p:spPr>
      </p:sp>
      <p:sp>
        <p:nvSpPr>
          <p:cNvPr id="46" name="text-43"/>
          <p:cNvSpPr txBox="1"/>
          <p:nvPr/>
        </p:nvSpPr>
        <p:spPr>
          <a:xfrm>
            <a:off x="8057693" y="5687568"/>
            <a:ext cx="1011326" cy="329184"/>
          </a:xfrm>
          <a:prstGeom prst="rect">
            <a:avLst/>
          </a:prstGeom>
          <a:noFill/>
          <a:ln/>
        </p:spPr>
        <p:txBody>
          <a:bodyPr wrap="square" lIns="0" tIns="0" rIns="0" bIns="0" rtlCol="0" anchor="ctr"/>
          <a:lstStyle/>
          <a:p>
            <a:pPr algn="ctr" indent="0" marL="0">
              <a:buNone/>
            </a:pPr>
            <a:r>
              <a:rPr lang="en-US" sz="1050" dirty="0">
                <a:solidFill>
                  <a:srgbClr val="E5E7EB"/>
                </a:solidFill>
              </a:rPr>
              <a:t>Valve stuck</a:t>
            </a:r>
            <a:endParaRPr lang="en-US" sz="1050" dirty="0"/>
          </a:p>
        </p:txBody>
      </p:sp>
      <p:sp>
        <p:nvSpPr>
          <p:cNvPr id="47" name="box-44"/>
          <p:cNvSpPr/>
          <p:nvPr/>
        </p:nvSpPr>
        <p:spPr>
          <a:xfrm>
            <a:off x="9160459" y="5687568"/>
            <a:ext cx="1011326" cy="329184"/>
          </a:xfrm>
          <a:prstGeom prst="roundRect">
            <a:avLst>
              <a:gd name="adj" fmla="val 50000"/>
            </a:avLst>
          </a:prstGeom>
          <a:solidFill>
            <a:srgbClr val="374151"/>
          </a:solidFill>
          <a:ln w="12700">
            <a:solidFill>
              <a:srgbClr val="374151"/>
            </a:solidFill>
            <a:prstDash val="solid"/>
          </a:ln>
        </p:spPr>
      </p:sp>
      <p:sp>
        <p:nvSpPr>
          <p:cNvPr id="48" name="text-45"/>
          <p:cNvSpPr txBox="1"/>
          <p:nvPr/>
        </p:nvSpPr>
        <p:spPr>
          <a:xfrm>
            <a:off x="9160459" y="5687568"/>
            <a:ext cx="1011326" cy="329184"/>
          </a:xfrm>
          <a:prstGeom prst="rect">
            <a:avLst/>
          </a:prstGeom>
          <a:noFill/>
          <a:ln/>
        </p:spPr>
        <p:txBody>
          <a:bodyPr wrap="square" lIns="0" tIns="0" rIns="0" bIns="0" rtlCol="0" anchor="ctr"/>
          <a:lstStyle/>
          <a:p>
            <a:pPr algn="ctr" indent="0" marL="0">
              <a:buNone/>
            </a:pPr>
            <a:r>
              <a:rPr lang="en-US" sz="1050" dirty="0">
                <a:solidFill>
                  <a:srgbClr val="E5E7EB"/>
                </a:solidFill>
              </a:rPr>
              <a:t>Jaws jammed</a:t>
            </a:r>
            <a:endParaRPr lang="en-US" sz="1050" dirty="0"/>
          </a:p>
        </p:txBody>
      </p:sp>
      <p:sp>
        <p:nvSpPr>
          <p:cNvPr id="49" name="box-46"/>
          <p:cNvSpPr/>
          <p:nvPr/>
        </p:nvSpPr>
        <p:spPr>
          <a:xfrm>
            <a:off x="10263226" y="5687568"/>
            <a:ext cx="1011326" cy="329184"/>
          </a:xfrm>
          <a:prstGeom prst="roundRect">
            <a:avLst>
              <a:gd name="adj" fmla="val 50000"/>
            </a:avLst>
          </a:prstGeom>
          <a:solidFill>
            <a:srgbClr val="374151"/>
          </a:solidFill>
          <a:ln w="12700">
            <a:solidFill>
              <a:srgbClr val="374151"/>
            </a:solidFill>
            <a:prstDash val="solid"/>
          </a:ln>
        </p:spPr>
      </p:sp>
      <p:sp>
        <p:nvSpPr>
          <p:cNvPr id="50" name="text-47"/>
          <p:cNvSpPr txBox="1"/>
          <p:nvPr/>
        </p:nvSpPr>
        <p:spPr>
          <a:xfrm>
            <a:off x="10263226" y="5687568"/>
            <a:ext cx="1011326" cy="329184"/>
          </a:xfrm>
          <a:prstGeom prst="rect">
            <a:avLst/>
          </a:prstGeom>
          <a:noFill/>
          <a:ln/>
        </p:spPr>
        <p:txBody>
          <a:bodyPr wrap="square" lIns="0" tIns="0" rIns="0" bIns="0" rtlCol="0" anchor="ctr"/>
          <a:lstStyle/>
          <a:p>
            <a:pPr algn="ctr" indent="0" marL="0">
              <a:buNone/>
            </a:pPr>
            <a:r>
              <a:rPr lang="en-US" sz="1050" dirty="0">
                <a:solidFill>
                  <a:srgbClr val="E5E7EB"/>
                </a:solidFill>
              </a:rPr>
              <a:t>Cable fault</a:t>
            </a:r>
            <a:endParaRPr lang="en-US" sz="10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OpenAI stack</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One voice, a team of specialist models</a:t>
            </a:r>
            <a:endParaRPr lang="en-US" sz="3000" dirty="0"/>
          </a:p>
        </p:txBody>
      </p:sp>
      <p:sp>
        <p:nvSpPr>
          <p:cNvPr id="4" name="narrative-48"/>
          <p:cNvSpPr txBox="1"/>
          <p:nvPr/>
        </p:nvSpPr>
        <p:spPr>
          <a:xfrm>
            <a:off x="548640" y="1508760"/>
            <a:ext cx="4572000" cy="4709160"/>
          </a:xfrm>
          <a:prstGeom prst="rect">
            <a:avLst/>
          </a:prstGeom>
          <a:noFill/>
          <a:ln/>
        </p:spPr>
        <p:txBody>
          <a:bodyPr wrap="square" lIns="0" tIns="0" rIns="0" bIns="0" rtlCol="0" anchor="t"/>
          <a:lstStyle/>
          <a:p>
            <a:pPr indent="0" marL="0">
              <a:lnSpc>
                <a:spcPct val="108000"/>
              </a:lnSpc>
              <a:spcAft>
                <a:spcPts val="1400"/>
              </a:spcAft>
              <a:buNone/>
            </a:pPr>
            <a:r>
              <a:rPr lang="en-US" sz="1500" b="1" dirty="0">
                <a:solidFill>
                  <a:schemeClr val="tx1"/>
                </a:solidFill>
              </a:rPr>
              <a:t>Voice. </a:t>
            </a:r>
            <a:pPr indent="0" marL="0">
              <a:lnSpc>
                <a:spcPct val="108000"/>
              </a:lnSpc>
              <a:spcAft>
                <a:spcPts val="1400"/>
              </a:spcAft>
              <a:buNone/>
            </a:pPr>
            <a:r>
              <a:rPr lang="en-US" sz="1500" dirty="0">
                <a:solidFill>
                  <a:schemeClr val="tx2"/>
                </a:solidFill>
              </a:rPr>
              <a:t>GPT-Live (gpt-live-1) talks with the worker. It is full duplex — it listens while it speaks — and delegates real work the moment it hears it.</a:t>
            </a:r>
            <a:endParaRPr lang="en-US" sz="1500" dirty="0"/>
          </a:p>
          <a:p>
            <a:pPr indent="0" marL="0">
              <a:lnSpc>
                <a:spcPct val="108000"/>
              </a:lnSpc>
              <a:spcAft>
                <a:spcPts val="1400"/>
              </a:spcAft>
              <a:buNone/>
            </a:pPr>
            <a:r>
              <a:rPr lang="en-US" sz="1500" b="1" dirty="0">
                <a:solidFill>
                  <a:schemeClr val="tx1"/>
                </a:solidFill>
              </a:rPr>
              <a:t>Reasoning. </a:t>
            </a:r>
            <a:pPr indent="0" marL="0">
              <a:lnSpc>
                <a:spcPct val="108000"/>
              </a:lnSpc>
              <a:spcAft>
                <a:spcPts val="1400"/>
              </a:spcAft>
              <a:buNone/>
            </a:pPr>
            <a:r>
              <a:rPr lang="en-US" sz="1500" dirty="0">
                <a:solidFill>
                  <a:schemeClr val="tx2"/>
                </a:solidFill>
              </a:rPr>
              <a:t>The OpenAI Agents SDK runs the ARIA agent on gpt-5.6-terra, which plans the investigation, chooses tests and writes the report.</a:t>
            </a:r>
            <a:endParaRPr lang="en-US" sz="1500" dirty="0"/>
          </a:p>
          <a:p>
            <a:pPr indent="0" marL="0">
              <a:lnSpc>
                <a:spcPct val="108000"/>
              </a:lnSpc>
              <a:spcAft>
                <a:spcPts val="1400"/>
              </a:spcAft>
              <a:buNone/>
            </a:pPr>
            <a:r>
              <a:rPr lang="en-US" sz="1500" b="1" dirty="0">
                <a:solidFill>
                  <a:schemeClr val="tx1"/>
                </a:solidFill>
              </a:rPr>
              <a:t>Speed and knowledge. </a:t>
            </a:r>
            <a:pPr indent="0" marL="0">
              <a:lnSpc>
                <a:spcPct val="108000"/>
              </a:lnSpc>
              <a:spcAft>
                <a:spcPts val="1400"/>
              </a:spcAft>
              <a:buNone/>
            </a:pPr>
            <a:r>
              <a:rPr lang="en-US" sz="1500" dirty="0">
                <a:solidFill>
                  <a:schemeClr val="tx2"/>
                </a:solidFill>
              </a:rPr>
              <a:t>gpt-5.6-luna handles the fast jobs: reranking, grounding audits and fact extraction. text-embedding-3-large powers search across manuals and incident memory.</a:t>
            </a:r>
            <a:endParaRPr lang="en-US" sz="1500" dirty="0"/>
          </a:p>
          <a:p>
            <a:pPr indent="0" marL="0">
              <a:lnSpc>
                <a:spcPct val="108000"/>
              </a:lnSpc>
              <a:spcAft>
                <a:spcPts val="1400"/>
              </a:spcAft>
              <a:buNone/>
            </a:pPr>
            <a:r>
              <a:rPr lang="en-US" sz="1500" b="1" dirty="0">
                <a:solidFill>
                  <a:schemeClr val="tx1"/>
                </a:solidFill>
              </a:rPr>
              <a:t>Back into the call. </a:t>
            </a:r>
            <a:pPr indent="0" marL="0">
              <a:lnSpc>
                <a:spcPct val="108000"/>
              </a:lnSpc>
              <a:spcAft>
                <a:spcPts val="1400"/>
              </a:spcAft>
              <a:buNone/>
            </a:pPr>
            <a:r>
              <a:rPr lang="en-US" sz="1500" dirty="0">
                <a:solidFill>
                  <a:schemeClr val="tx2"/>
                </a:solidFill>
              </a:rPr>
              <a:t>Results are injected as commentary to speak and thinking to know, so the worker is never left in silence.</a:t>
            </a:r>
            <a:endParaRPr lang="en-US" sz="1500" dirty="0"/>
          </a:p>
        </p:txBody>
      </p:sp>
      <p:sp>
        <p:nvSpPr>
          <p:cNvPr id="5" name="box-49"/>
          <p:cNvSpPr/>
          <p:nvPr/>
        </p:nvSpPr>
        <p:spPr>
          <a:xfrm>
            <a:off x="5486400" y="1463040"/>
            <a:ext cx="6153912" cy="4754880"/>
          </a:xfrm>
          <a:prstGeom prst="roundRect">
            <a:avLst>
              <a:gd name="adj" fmla="val 2692"/>
            </a:avLst>
          </a:prstGeom>
          <a:solidFill>
            <a:srgbClr val="111827"/>
          </a:solidFill>
          <a:ln w="12700">
            <a:solidFill>
              <a:srgbClr val="111827"/>
            </a:solidFill>
            <a:prstDash val="solid"/>
          </a:ln>
        </p:spPr>
      </p:sp>
      <p:sp>
        <p:nvSpPr>
          <p:cNvPr id="6" name="box-50"/>
          <p:cNvSpPr/>
          <p:nvPr/>
        </p:nvSpPr>
        <p:spPr>
          <a:xfrm>
            <a:off x="5669280" y="1691640"/>
            <a:ext cx="5788152" cy="749808"/>
          </a:xfrm>
          <a:prstGeom prst="roundRect">
            <a:avLst>
              <a:gd name="adj" fmla="val 9756"/>
            </a:avLst>
          </a:prstGeom>
          <a:solidFill>
            <a:srgbClr val="1F2937"/>
          </a:solidFill>
          <a:ln w="12700">
            <a:solidFill>
              <a:srgbClr val="1F2937"/>
            </a:solidFill>
            <a:prstDash val="solid"/>
          </a:ln>
        </p:spPr>
      </p:sp>
      <p:sp>
        <p:nvSpPr>
          <p:cNvPr id="7" name="badge-51"/>
          <p:cNvSpPr/>
          <p:nvPr/>
        </p:nvSpPr>
        <p:spPr>
          <a:xfrm>
            <a:off x="5815584" y="1828800"/>
            <a:ext cx="475488" cy="475488"/>
          </a:xfrm>
          <a:prstGeom prst="ellipse">
            <a:avLst/>
          </a:prstGeom>
          <a:solidFill>
            <a:srgbClr val="7C3AED"/>
          </a:solidFill>
          <a:ln w="12700">
            <a:solidFill>
              <a:srgbClr val="7C3AED"/>
            </a:solidFill>
            <a:prstDash val="solid"/>
          </a:ln>
        </p:spPr>
      </p:sp>
      <p:pic>
        <p:nvPicPr>
          <p:cNvPr id="8" name="icon-52" descr="preencoded.png">    </p:cNvPr>
          <p:cNvPicPr>
            <a:picLocks noChangeAspect="1"/>
          </p:cNvPicPr>
          <p:nvPr/>
        </p:nvPicPr>
        <p:blipFill>
          <a:blip r:embed="rId1"/>
          <a:stretch>
            <a:fillRect/>
          </a:stretch>
        </p:blipFill>
        <p:spPr>
          <a:xfrm>
            <a:off x="5929701" y="1942917"/>
            <a:ext cx="247254" cy="247254"/>
          </a:xfrm>
          <a:prstGeom prst="rect">
            <a:avLst/>
          </a:prstGeom>
        </p:spPr>
      </p:pic>
      <p:sp>
        <p:nvSpPr>
          <p:cNvPr id="9" name="text-53"/>
          <p:cNvSpPr txBox="1"/>
          <p:nvPr/>
        </p:nvSpPr>
        <p:spPr>
          <a:xfrm>
            <a:off x="6400800" y="1691640"/>
            <a:ext cx="1371600" cy="749808"/>
          </a:xfrm>
          <a:prstGeom prst="rect">
            <a:avLst/>
          </a:prstGeom>
          <a:noFill/>
          <a:ln/>
        </p:spPr>
        <p:txBody>
          <a:bodyPr wrap="square" lIns="508" tIns="508" rIns="508" bIns="508" rtlCol="0" anchor="ctr"/>
          <a:lstStyle/>
          <a:p>
            <a:pPr algn="l" indent="0" marL="0">
              <a:buNone/>
            </a:pPr>
            <a:r>
              <a:rPr lang="en-US" sz="1400" b="1" dirty="0">
                <a:solidFill>
                  <a:srgbClr val="FFFFFF"/>
                </a:solidFill>
              </a:rPr>
              <a:t>Voice</a:t>
            </a:r>
            <a:endParaRPr lang="en-US" sz="1400" dirty="0"/>
          </a:p>
        </p:txBody>
      </p:sp>
      <p:sp>
        <p:nvSpPr>
          <p:cNvPr id="10" name="box-54"/>
          <p:cNvSpPr/>
          <p:nvPr/>
        </p:nvSpPr>
        <p:spPr>
          <a:xfrm>
            <a:off x="8503920" y="1901952"/>
            <a:ext cx="822960" cy="329184"/>
          </a:xfrm>
          <a:prstGeom prst="roundRect">
            <a:avLst>
              <a:gd name="adj" fmla="val 50000"/>
            </a:avLst>
          </a:prstGeom>
          <a:solidFill>
            <a:srgbClr val="374151"/>
          </a:solidFill>
          <a:ln w="12700">
            <a:solidFill>
              <a:srgbClr val="374151"/>
            </a:solidFill>
            <a:prstDash val="solid"/>
          </a:ln>
        </p:spPr>
      </p:sp>
      <p:sp>
        <p:nvSpPr>
          <p:cNvPr id="11" name="text-55"/>
          <p:cNvSpPr txBox="1"/>
          <p:nvPr/>
        </p:nvSpPr>
        <p:spPr>
          <a:xfrm>
            <a:off x="8503920" y="1901952"/>
            <a:ext cx="822960" cy="329184"/>
          </a:xfrm>
          <a:prstGeom prst="rect">
            <a:avLst/>
          </a:prstGeom>
          <a:noFill/>
          <a:ln/>
        </p:spPr>
        <p:txBody>
          <a:bodyPr wrap="square" lIns="0" tIns="0" rIns="0" bIns="0" rtlCol="0" anchor="ctr"/>
          <a:lstStyle/>
          <a:p>
            <a:pPr algn="ctr" indent="0" marL="0">
              <a:buNone/>
            </a:pPr>
            <a:r>
              <a:rPr lang="en-US" sz="1050" dirty="0">
                <a:solidFill>
                  <a:srgbClr val="E5E7EB"/>
                </a:solidFill>
              </a:rPr>
              <a:t>gpt-live-1</a:t>
            </a:r>
            <a:endParaRPr lang="en-US" sz="1050" dirty="0"/>
          </a:p>
        </p:txBody>
      </p:sp>
      <p:sp>
        <p:nvSpPr>
          <p:cNvPr id="12" name="box-56"/>
          <p:cNvSpPr/>
          <p:nvPr/>
        </p:nvSpPr>
        <p:spPr>
          <a:xfrm>
            <a:off x="9390888" y="1901952"/>
            <a:ext cx="731520" cy="329184"/>
          </a:xfrm>
          <a:prstGeom prst="roundRect">
            <a:avLst>
              <a:gd name="adj" fmla="val 50000"/>
            </a:avLst>
          </a:prstGeom>
          <a:solidFill>
            <a:srgbClr val="374151"/>
          </a:solidFill>
          <a:ln w="12700">
            <a:solidFill>
              <a:srgbClr val="374151"/>
            </a:solidFill>
            <a:prstDash val="solid"/>
          </a:ln>
        </p:spPr>
      </p:sp>
      <p:sp>
        <p:nvSpPr>
          <p:cNvPr id="13" name="text-57"/>
          <p:cNvSpPr txBox="1"/>
          <p:nvPr/>
        </p:nvSpPr>
        <p:spPr>
          <a:xfrm>
            <a:off x="9390888" y="1901952"/>
            <a:ext cx="731520" cy="329184"/>
          </a:xfrm>
          <a:prstGeom prst="rect">
            <a:avLst/>
          </a:prstGeom>
          <a:noFill/>
          <a:ln/>
        </p:spPr>
        <p:txBody>
          <a:bodyPr wrap="square" lIns="0" tIns="0" rIns="0" bIns="0" rtlCol="0" anchor="ctr"/>
          <a:lstStyle/>
          <a:p>
            <a:pPr algn="ctr" indent="0" marL="0">
              <a:buNone/>
            </a:pPr>
            <a:r>
              <a:rPr lang="en-US" sz="1050" dirty="0">
                <a:solidFill>
                  <a:srgbClr val="E5E7EB"/>
                </a:solidFill>
              </a:rPr>
              <a:t>WebRTC</a:t>
            </a:r>
            <a:endParaRPr lang="en-US" sz="1050" dirty="0"/>
          </a:p>
        </p:txBody>
      </p:sp>
      <p:sp>
        <p:nvSpPr>
          <p:cNvPr id="14" name="box-58"/>
          <p:cNvSpPr/>
          <p:nvPr/>
        </p:nvSpPr>
        <p:spPr>
          <a:xfrm>
            <a:off x="10186416" y="1901952"/>
            <a:ext cx="1133856" cy="329184"/>
          </a:xfrm>
          <a:prstGeom prst="roundRect">
            <a:avLst>
              <a:gd name="adj" fmla="val 50000"/>
            </a:avLst>
          </a:prstGeom>
          <a:solidFill>
            <a:srgbClr val="374151"/>
          </a:solidFill>
          <a:ln w="12700">
            <a:solidFill>
              <a:srgbClr val="374151"/>
            </a:solidFill>
            <a:prstDash val="solid"/>
          </a:ln>
        </p:spPr>
      </p:sp>
      <p:sp>
        <p:nvSpPr>
          <p:cNvPr id="15" name="text-59"/>
          <p:cNvSpPr txBox="1"/>
          <p:nvPr/>
        </p:nvSpPr>
        <p:spPr>
          <a:xfrm>
            <a:off x="10186416" y="1901952"/>
            <a:ext cx="1133856" cy="329184"/>
          </a:xfrm>
          <a:prstGeom prst="rect">
            <a:avLst/>
          </a:prstGeom>
          <a:noFill/>
          <a:ln/>
        </p:spPr>
        <p:txBody>
          <a:bodyPr wrap="square" lIns="0" tIns="0" rIns="0" bIns="0" rtlCol="0" anchor="ctr"/>
          <a:lstStyle/>
          <a:p>
            <a:pPr algn="ctr" indent="0" marL="0">
              <a:buNone/>
            </a:pPr>
            <a:r>
              <a:rPr lang="en-US" sz="1050" dirty="0">
                <a:solidFill>
                  <a:srgbClr val="E5E7EB"/>
                </a:solidFill>
              </a:rPr>
              <a:t>live delegation</a:t>
            </a:r>
            <a:endParaRPr lang="en-US" sz="1050" dirty="0"/>
          </a:p>
        </p:txBody>
      </p:sp>
      <p:sp>
        <p:nvSpPr>
          <p:cNvPr id="16" name="box-60"/>
          <p:cNvSpPr/>
          <p:nvPr/>
        </p:nvSpPr>
        <p:spPr>
          <a:xfrm>
            <a:off x="5669280" y="2578608"/>
            <a:ext cx="5788152" cy="749808"/>
          </a:xfrm>
          <a:prstGeom prst="roundRect">
            <a:avLst>
              <a:gd name="adj" fmla="val 9756"/>
            </a:avLst>
          </a:prstGeom>
          <a:solidFill>
            <a:srgbClr val="1F2937"/>
          </a:solidFill>
          <a:ln w="12700">
            <a:solidFill>
              <a:srgbClr val="1F2937"/>
            </a:solidFill>
            <a:prstDash val="solid"/>
          </a:ln>
        </p:spPr>
      </p:sp>
      <p:sp>
        <p:nvSpPr>
          <p:cNvPr id="17" name="badge-61"/>
          <p:cNvSpPr/>
          <p:nvPr/>
        </p:nvSpPr>
        <p:spPr>
          <a:xfrm>
            <a:off x="5815584" y="2715768"/>
            <a:ext cx="475488" cy="475488"/>
          </a:xfrm>
          <a:prstGeom prst="ellipse">
            <a:avLst/>
          </a:prstGeom>
          <a:solidFill>
            <a:srgbClr val="2563EB"/>
          </a:solidFill>
          <a:ln w="12700">
            <a:solidFill>
              <a:srgbClr val="2563EB"/>
            </a:solidFill>
            <a:prstDash val="solid"/>
          </a:ln>
        </p:spPr>
      </p:sp>
      <p:pic>
        <p:nvPicPr>
          <p:cNvPr id="18" name="icon-62" descr="preencoded.png">    </p:cNvPr>
          <p:cNvPicPr>
            <a:picLocks noChangeAspect="1"/>
          </p:cNvPicPr>
          <p:nvPr/>
        </p:nvPicPr>
        <p:blipFill>
          <a:blip r:embed="rId2"/>
          <a:stretch>
            <a:fillRect/>
          </a:stretch>
        </p:blipFill>
        <p:spPr>
          <a:xfrm>
            <a:off x="5929701" y="2829885"/>
            <a:ext cx="247254" cy="247254"/>
          </a:xfrm>
          <a:prstGeom prst="rect">
            <a:avLst/>
          </a:prstGeom>
        </p:spPr>
      </p:pic>
      <p:sp>
        <p:nvSpPr>
          <p:cNvPr id="19" name="text-63"/>
          <p:cNvSpPr txBox="1"/>
          <p:nvPr/>
        </p:nvSpPr>
        <p:spPr>
          <a:xfrm>
            <a:off x="6400800" y="2578608"/>
            <a:ext cx="1371600" cy="749808"/>
          </a:xfrm>
          <a:prstGeom prst="rect">
            <a:avLst/>
          </a:prstGeom>
          <a:noFill/>
          <a:ln/>
        </p:spPr>
        <p:txBody>
          <a:bodyPr wrap="square" lIns="508" tIns="508" rIns="508" bIns="508" rtlCol="0" anchor="ctr"/>
          <a:lstStyle/>
          <a:p>
            <a:pPr algn="l" indent="0" marL="0">
              <a:buNone/>
            </a:pPr>
            <a:r>
              <a:rPr lang="en-US" sz="1400" b="1" dirty="0">
                <a:solidFill>
                  <a:srgbClr val="FFFFFF"/>
                </a:solidFill>
              </a:rPr>
              <a:t>Orchestration</a:t>
            </a:r>
            <a:endParaRPr lang="en-US" sz="1400" dirty="0"/>
          </a:p>
        </p:txBody>
      </p:sp>
      <p:sp>
        <p:nvSpPr>
          <p:cNvPr id="20" name="box-64"/>
          <p:cNvSpPr/>
          <p:nvPr/>
        </p:nvSpPr>
        <p:spPr>
          <a:xfrm>
            <a:off x="8412480" y="2788920"/>
            <a:ext cx="822960" cy="329184"/>
          </a:xfrm>
          <a:prstGeom prst="roundRect">
            <a:avLst>
              <a:gd name="adj" fmla="val 50000"/>
            </a:avLst>
          </a:prstGeom>
          <a:solidFill>
            <a:srgbClr val="374151"/>
          </a:solidFill>
          <a:ln w="12700">
            <a:solidFill>
              <a:srgbClr val="374151"/>
            </a:solidFill>
            <a:prstDash val="solid"/>
          </a:ln>
        </p:spPr>
      </p:sp>
      <p:sp>
        <p:nvSpPr>
          <p:cNvPr id="21" name="text-65"/>
          <p:cNvSpPr txBox="1"/>
          <p:nvPr/>
        </p:nvSpPr>
        <p:spPr>
          <a:xfrm>
            <a:off x="8412480" y="2788920"/>
            <a:ext cx="822960" cy="329184"/>
          </a:xfrm>
          <a:prstGeom prst="rect">
            <a:avLst/>
          </a:prstGeom>
          <a:noFill/>
          <a:ln/>
        </p:spPr>
        <p:txBody>
          <a:bodyPr wrap="square" lIns="0" tIns="0" rIns="0" bIns="0" rtlCol="0" anchor="ctr"/>
          <a:lstStyle/>
          <a:p>
            <a:pPr algn="ctr" indent="0" marL="0">
              <a:buNone/>
            </a:pPr>
            <a:r>
              <a:rPr lang="en-US" sz="1050" dirty="0">
                <a:solidFill>
                  <a:srgbClr val="E5E7EB"/>
                </a:solidFill>
              </a:rPr>
              <a:t>Agents SDK</a:t>
            </a:r>
            <a:endParaRPr lang="en-US" sz="1050" dirty="0"/>
          </a:p>
        </p:txBody>
      </p:sp>
      <p:sp>
        <p:nvSpPr>
          <p:cNvPr id="22" name="box-66"/>
          <p:cNvSpPr/>
          <p:nvPr/>
        </p:nvSpPr>
        <p:spPr>
          <a:xfrm>
            <a:off x="9299448" y="2788920"/>
            <a:ext cx="1009498" cy="329184"/>
          </a:xfrm>
          <a:prstGeom prst="roundRect">
            <a:avLst>
              <a:gd name="adj" fmla="val 50000"/>
            </a:avLst>
          </a:prstGeom>
          <a:solidFill>
            <a:srgbClr val="374151"/>
          </a:solidFill>
          <a:ln w="12700">
            <a:solidFill>
              <a:srgbClr val="374151"/>
            </a:solidFill>
            <a:prstDash val="solid"/>
          </a:ln>
        </p:spPr>
      </p:sp>
      <p:sp>
        <p:nvSpPr>
          <p:cNvPr id="23" name="text-67"/>
          <p:cNvSpPr txBox="1"/>
          <p:nvPr/>
        </p:nvSpPr>
        <p:spPr>
          <a:xfrm>
            <a:off x="9299448" y="2788920"/>
            <a:ext cx="1009498" cy="329184"/>
          </a:xfrm>
          <a:prstGeom prst="rect">
            <a:avLst/>
          </a:prstGeom>
          <a:noFill/>
          <a:ln/>
        </p:spPr>
        <p:txBody>
          <a:bodyPr wrap="square" lIns="0" tIns="0" rIns="0" bIns="0" rtlCol="0" anchor="ctr"/>
          <a:lstStyle/>
          <a:p>
            <a:pPr algn="ctr" indent="0" marL="0">
              <a:buNone/>
            </a:pPr>
            <a:r>
              <a:rPr lang="en-US" sz="1050" dirty="0">
                <a:solidFill>
                  <a:srgbClr val="E5E7EB"/>
                </a:solidFill>
              </a:rPr>
              <a:t>streamed runs</a:t>
            </a:r>
            <a:endParaRPr lang="en-US" sz="1050" dirty="0"/>
          </a:p>
        </p:txBody>
      </p:sp>
      <p:sp>
        <p:nvSpPr>
          <p:cNvPr id="24" name="box-68"/>
          <p:cNvSpPr/>
          <p:nvPr/>
        </p:nvSpPr>
        <p:spPr>
          <a:xfrm>
            <a:off x="10372954" y="2788920"/>
            <a:ext cx="947318" cy="329184"/>
          </a:xfrm>
          <a:prstGeom prst="roundRect">
            <a:avLst>
              <a:gd name="adj" fmla="val 50000"/>
            </a:avLst>
          </a:prstGeom>
          <a:solidFill>
            <a:srgbClr val="374151"/>
          </a:solidFill>
          <a:ln w="12700">
            <a:solidFill>
              <a:srgbClr val="374151"/>
            </a:solidFill>
            <a:prstDash val="solid"/>
          </a:ln>
        </p:spPr>
      </p:sp>
      <p:sp>
        <p:nvSpPr>
          <p:cNvPr id="25" name="text-69"/>
          <p:cNvSpPr txBox="1"/>
          <p:nvPr/>
        </p:nvSpPr>
        <p:spPr>
          <a:xfrm>
            <a:off x="10372954" y="2788920"/>
            <a:ext cx="947318" cy="329184"/>
          </a:xfrm>
          <a:prstGeom prst="rect">
            <a:avLst/>
          </a:prstGeom>
          <a:noFill/>
          <a:ln/>
        </p:spPr>
        <p:txBody>
          <a:bodyPr wrap="square" lIns="0" tIns="0" rIns="0" bIns="0" rtlCol="0" anchor="ctr"/>
          <a:lstStyle/>
          <a:p>
            <a:pPr algn="ctr" indent="0" marL="0">
              <a:buNone/>
            </a:pPr>
            <a:r>
              <a:rPr lang="en-US" sz="1050" dirty="0">
                <a:solidFill>
                  <a:srgbClr val="E5E7EB"/>
                </a:solidFill>
              </a:rPr>
              <a:t>strict tools</a:t>
            </a:r>
            <a:endParaRPr lang="en-US" sz="1050" dirty="0"/>
          </a:p>
        </p:txBody>
      </p:sp>
      <p:sp>
        <p:nvSpPr>
          <p:cNvPr id="26" name="box-70"/>
          <p:cNvSpPr/>
          <p:nvPr/>
        </p:nvSpPr>
        <p:spPr>
          <a:xfrm>
            <a:off x="5669280" y="3465576"/>
            <a:ext cx="5788152" cy="749808"/>
          </a:xfrm>
          <a:prstGeom prst="roundRect">
            <a:avLst>
              <a:gd name="adj" fmla="val 9756"/>
            </a:avLst>
          </a:prstGeom>
          <a:solidFill>
            <a:srgbClr val="1F2937"/>
          </a:solidFill>
          <a:ln w="12700">
            <a:solidFill>
              <a:srgbClr val="1F2937"/>
            </a:solidFill>
            <a:prstDash val="solid"/>
          </a:ln>
        </p:spPr>
      </p:sp>
      <p:sp>
        <p:nvSpPr>
          <p:cNvPr id="27" name="badge-71"/>
          <p:cNvSpPr/>
          <p:nvPr/>
        </p:nvSpPr>
        <p:spPr>
          <a:xfrm>
            <a:off x="5815584" y="3602736"/>
            <a:ext cx="475488" cy="475488"/>
          </a:xfrm>
          <a:prstGeom prst="ellipse">
            <a:avLst/>
          </a:prstGeom>
          <a:solidFill>
            <a:srgbClr val="2563EB"/>
          </a:solidFill>
          <a:ln w="12700">
            <a:solidFill>
              <a:srgbClr val="2563EB"/>
            </a:solidFill>
            <a:prstDash val="solid"/>
          </a:ln>
        </p:spPr>
      </p:sp>
      <p:pic>
        <p:nvPicPr>
          <p:cNvPr id="28" name="icon-72" descr="preencoded.png">    </p:cNvPr>
          <p:cNvPicPr>
            <a:picLocks noChangeAspect="1"/>
          </p:cNvPicPr>
          <p:nvPr/>
        </p:nvPicPr>
        <p:blipFill>
          <a:blip r:embed="rId3"/>
          <a:stretch>
            <a:fillRect/>
          </a:stretch>
        </p:blipFill>
        <p:spPr>
          <a:xfrm>
            <a:off x="5929701" y="3716853"/>
            <a:ext cx="247254" cy="247254"/>
          </a:xfrm>
          <a:prstGeom prst="rect">
            <a:avLst/>
          </a:prstGeom>
        </p:spPr>
      </p:pic>
      <p:sp>
        <p:nvSpPr>
          <p:cNvPr id="29" name="text-73"/>
          <p:cNvSpPr txBox="1"/>
          <p:nvPr/>
        </p:nvSpPr>
        <p:spPr>
          <a:xfrm>
            <a:off x="6400800" y="3465576"/>
            <a:ext cx="1371600" cy="749808"/>
          </a:xfrm>
          <a:prstGeom prst="rect">
            <a:avLst/>
          </a:prstGeom>
          <a:noFill/>
          <a:ln/>
        </p:spPr>
        <p:txBody>
          <a:bodyPr wrap="square" lIns="508" tIns="508" rIns="508" bIns="508" rtlCol="0" anchor="ctr"/>
          <a:lstStyle/>
          <a:p>
            <a:pPr algn="l" indent="0" marL="0">
              <a:buNone/>
            </a:pPr>
            <a:r>
              <a:rPr lang="en-US" sz="1400" b="1" dirty="0">
                <a:solidFill>
                  <a:srgbClr val="FFFFFF"/>
                </a:solidFill>
              </a:rPr>
              <a:t>Reasoning</a:t>
            </a:r>
            <a:endParaRPr lang="en-US" sz="1400" dirty="0"/>
          </a:p>
        </p:txBody>
      </p:sp>
      <p:sp>
        <p:nvSpPr>
          <p:cNvPr id="30" name="box-74"/>
          <p:cNvSpPr/>
          <p:nvPr/>
        </p:nvSpPr>
        <p:spPr>
          <a:xfrm>
            <a:off x="8225942" y="3675888"/>
            <a:ext cx="1009498" cy="329184"/>
          </a:xfrm>
          <a:prstGeom prst="roundRect">
            <a:avLst>
              <a:gd name="adj" fmla="val 50000"/>
            </a:avLst>
          </a:prstGeom>
          <a:solidFill>
            <a:srgbClr val="374151"/>
          </a:solidFill>
          <a:ln w="12700">
            <a:solidFill>
              <a:srgbClr val="374151"/>
            </a:solidFill>
            <a:prstDash val="solid"/>
          </a:ln>
        </p:spPr>
      </p:sp>
      <p:sp>
        <p:nvSpPr>
          <p:cNvPr id="31" name="text-75"/>
          <p:cNvSpPr txBox="1"/>
          <p:nvPr/>
        </p:nvSpPr>
        <p:spPr>
          <a:xfrm>
            <a:off x="8225942" y="3675888"/>
            <a:ext cx="1009498" cy="329184"/>
          </a:xfrm>
          <a:prstGeom prst="rect">
            <a:avLst/>
          </a:prstGeom>
          <a:noFill/>
          <a:ln/>
        </p:spPr>
        <p:txBody>
          <a:bodyPr wrap="square" lIns="0" tIns="0" rIns="0" bIns="0" rtlCol="0" anchor="ctr"/>
          <a:lstStyle/>
          <a:p>
            <a:pPr algn="ctr" indent="0" marL="0">
              <a:buNone/>
            </a:pPr>
            <a:r>
              <a:rPr lang="en-US" sz="1050" dirty="0">
                <a:solidFill>
                  <a:srgbClr val="E5E7EB"/>
                </a:solidFill>
              </a:rPr>
              <a:t>gpt-5.6-terra</a:t>
            </a:r>
            <a:endParaRPr lang="en-US" sz="1050" dirty="0"/>
          </a:p>
        </p:txBody>
      </p:sp>
      <p:sp>
        <p:nvSpPr>
          <p:cNvPr id="32" name="box-76"/>
          <p:cNvSpPr/>
          <p:nvPr/>
        </p:nvSpPr>
        <p:spPr>
          <a:xfrm>
            <a:off x="9299448" y="3675888"/>
            <a:ext cx="947318" cy="329184"/>
          </a:xfrm>
          <a:prstGeom prst="roundRect">
            <a:avLst>
              <a:gd name="adj" fmla="val 50000"/>
            </a:avLst>
          </a:prstGeom>
          <a:solidFill>
            <a:srgbClr val="374151"/>
          </a:solidFill>
          <a:ln w="12700">
            <a:solidFill>
              <a:srgbClr val="374151"/>
            </a:solidFill>
            <a:prstDash val="solid"/>
          </a:ln>
        </p:spPr>
      </p:sp>
      <p:sp>
        <p:nvSpPr>
          <p:cNvPr id="33" name="text-77"/>
          <p:cNvSpPr txBox="1"/>
          <p:nvPr/>
        </p:nvSpPr>
        <p:spPr>
          <a:xfrm>
            <a:off x="9299448" y="3675888"/>
            <a:ext cx="947318" cy="329184"/>
          </a:xfrm>
          <a:prstGeom prst="rect">
            <a:avLst/>
          </a:prstGeom>
          <a:noFill/>
          <a:ln/>
        </p:spPr>
        <p:txBody>
          <a:bodyPr wrap="square" lIns="0" tIns="0" rIns="0" bIns="0" rtlCol="0" anchor="ctr"/>
          <a:lstStyle/>
          <a:p>
            <a:pPr algn="ctr" indent="0" marL="0">
              <a:buNone/>
            </a:pPr>
            <a:r>
              <a:rPr lang="en-US" sz="1050" dirty="0">
                <a:solidFill>
                  <a:srgbClr val="E5E7EB"/>
                </a:solidFill>
              </a:rPr>
              <a:t>gpt-5.6-luna</a:t>
            </a:r>
            <a:endParaRPr lang="en-US" sz="1050" dirty="0"/>
          </a:p>
        </p:txBody>
      </p:sp>
      <p:sp>
        <p:nvSpPr>
          <p:cNvPr id="34" name="box-78"/>
          <p:cNvSpPr/>
          <p:nvPr/>
        </p:nvSpPr>
        <p:spPr>
          <a:xfrm>
            <a:off x="10310774" y="3675888"/>
            <a:ext cx="1009498" cy="329184"/>
          </a:xfrm>
          <a:prstGeom prst="roundRect">
            <a:avLst>
              <a:gd name="adj" fmla="val 50000"/>
            </a:avLst>
          </a:prstGeom>
          <a:solidFill>
            <a:srgbClr val="374151"/>
          </a:solidFill>
          <a:ln w="12700">
            <a:solidFill>
              <a:srgbClr val="374151"/>
            </a:solidFill>
            <a:prstDash val="solid"/>
          </a:ln>
        </p:spPr>
      </p:sp>
      <p:sp>
        <p:nvSpPr>
          <p:cNvPr id="35" name="text-79"/>
          <p:cNvSpPr txBox="1"/>
          <p:nvPr/>
        </p:nvSpPr>
        <p:spPr>
          <a:xfrm>
            <a:off x="10310774" y="3675888"/>
            <a:ext cx="1009498" cy="329184"/>
          </a:xfrm>
          <a:prstGeom prst="rect">
            <a:avLst/>
          </a:prstGeom>
          <a:noFill/>
          <a:ln/>
        </p:spPr>
        <p:txBody>
          <a:bodyPr wrap="square" lIns="0" tIns="0" rIns="0" bIns="0" rtlCol="0" anchor="ctr"/>
          <a:lstStyle/>
          <a:p>
            <a:pPr algn="ctr" indent="0" marL="0">
              <a:buNone/>
            </a:pPr>
            <a:r>
              <a:rPr lang="en-US" sz="1050" dirty="0">
                <a:solidFill>
                  <a:srgbClr val="E5E7EB"/>
                </a:solidFill>
              </a:rPr>
              <a:t>Responses API</a:t>
            </a:r>
            <a:endParaRPr lang="en-US" sz="1050" dirty="0"/>
          </a:p>
        </p:txBody>
      </p:sp>
      <p:sp>
        <p:nvSpPr>
          <p:cNvPr id="36" name="box-80"/>
          <p:cNvSpPr/>
          <p:nvPr/>
        </p:nvSpPr>
        <p:spPr>
          <a:xfrm>
            <a:off x="5669280" y="4352544"/>
            <a:ext cx="5788152" cy="749808"/>
          </a:xfrm>
          <a:prstGeom prst="roundRect">
            <a:avLst>
              <a:gd name="adj" fmla="val 9756"/>
            </a:avLst>
          </a:prstGeom>
          <a:solidFill>
            <a:srgbClr val="1F2937"/>
          </a:solidFill>
          <a:ln w="12700">
            <a:solidFill>
              <a:srgbClr val="1F2937"/>
            </a:solidFill>
            <a:prstDash val="solid"/>
          </a:ln>
        </p:spPr>
      </p:sp>
      <p:sp>
        <p:nvSpPr>
          <p:cNvPr id="37" name="badge-81"/>
          <p:cNvSpPr/>
          <p:nvPr/>
        </p:nvSpPr>
        <p:spPr>
          <a:xfrm>
            <a:off x="5815584" y="4489704"/>
            <a:ext cx="475488" cy="475488"/>
          </a:xfrm>
          <a:prstGeom prst="ellipse">
            <a:avLst/>
          </a:prstGeom>
          <a:solidFill>
            <a:srgbClr val="10B981"/>
          </a:solidFill>
          <a:ln w="12700">
            <a:solidFill>
              <a:srgbClr val="10B981"/>
            </a:solidFill>
            <a:prstDash val="solid"/>
          </a:ln>
        </p:spPr>
      </p:sp>
      <p:pic>
        <p:nvPicPr>
          <p:cNvPr id="38" name="icon-82" descr="preencoded.png">    </p:cNvPr>
          <p:cNvPicPr>
            <a:picLocks noChangeAspect="1"/>
          </p:cNvPicPr>
          <p:nvPr/>
        </p:nvPicPr>
        <p:blipFill>
          <a:blip r:embed="rId4"/>
          <a:stretch>
            <a:fillRect/>
          </a:stretch>
        </p:blipFill>
        <p:spPr>
          <a:xfrm>
            <a:off x="5929701" y="4603821"/>
            <a:ext cx="247254" cy="247254"/>
          </a:xfrm>
          <a:prstGeom prst="rect">
            <a:avLst/>
          </a:prstGeom>
        </p:spPr>
      </p:pic>
      <p:sp>
        <p:nvSpPr>
          <p:cNvPr id="39" name="text-83"/>
          <p:cNvSpPr txBox="1"/>
          <p:nvPr/>
        </p:nvSpPr>
        <p:spPr>
          <a:xfrm>
            <a:off x="6400800" y="4352544"/>
            <a:ext cx="1371600" cy="749808"/>
          </a:xfrm>
          <a:prstGeom prst="rect">
            <a:avLst/>
          </a:prstGeom>
          <a:noFill/>
          <a:ln/>
        </p:spPr>
        <p:txBody>
          <a:bodyPr wrap="square" lIns="508" tIns="508" rIns="508" bIns="508" rtlCol="0" anchor="ctr"/>
          <a:lstStyle/>
          <a:p>
            <a:pPr algn="l" indent="0" marL="0">
              <a:buNone/>
            </a:pPr>
            <a:r>
              <a:rPr lang="en-US" sz="1400" b="1" dirty="0">
                <a:solidFill>
                  <a:srgbClr val="FFFFFF"/>
                </a:solidFill>
              </a:rPr>
              <a:t>Knowledge</a:t>
            </a:r>
            <a:endParaRPr lang="en-US" sz="1400" dirty="0"/>
          </a:p>
        </p:txBody>
      </p:sp>
      <p:sp>
        <p:nvSpPr>
          <p:cNvPr id="40" name="box-84"/>
          <p:cNvSpPr/>
          <p:nvPr/>
        </p:nvSpPr>
        <p:spPr>
          <a:xfrm>
            <a:off x="7915046" y="4562856"/>
            <a:ext cx="1569110" cy="329184"/>
          </a:xfrm>
          <a:prstGeom prst="roundRect">
            <a:avLst>
              <a:gd name="adj" fmla="val 50000"/>
            </a:avLst>
          </a:prstGeom>
          <a:solidFill>
            <a:srgbClr val="374151"/>
          </a:solidFill>
          <a:ln w="12700">
            <a:solidFill>
              <a:srgbClr val="374151"/>
            </a:solidFill>
            <a:prstDash val="solid"/>
          </a:ln>
        </p:spPr>
      </p:sp>
      <p:sp>
        <p:nvSpPr>
          <p:cNvPr id="41" name="text-85"/>
          <p:cNvSpPr txBox="1"/>
          <p:nvPr/>
        </p:nvSpPr>
        <p:spPr>
          <a:xfrm>
            <a:off x="7915046" y="4562856"/>
            <a:ext cx="1569110" cy="329184"/>
          </a:xfrm>
          <a:prstGeom prst="rect">
            <a:avLst/>
          </a:prstGeom>
          <a:noFill/>
          <a:ln/>
        </p:spPr>
        <p:txBody>
          <a:bodyPr wrap="square" lIns="0" tIns="0" rIns="0" bIns="0" rtlCol="0" anchor="ctr"/>
          <a:lstStyle/>
          <a:p>
            <a:pPr algn="ctr" indent="0" marL="0">
              <a:buNone/>
            </a:pPr>
            <a:r>
              <a:rPr lang="en-US" sz="1050" dirty="0">
                <a:solidFill>
                  <a:srgbClr val="E5E7EB"/>
                </a:solidFill>
              </a:rPr>
              <a:t>text-embedding-3-large</a:t>
            </a:r>
            <a:endParaRPr lang="en-US" sz="1050" dirty="0"/>
          </a:p>
        </p:txBody>
      </p:sp>
      <p:sp>
        <p:nvSpPr>
          <p:cNvPr id="42" name="box-86"/>
          <p:cNvSpPr/>
          <p:nvPr/>
        </p:nvSpPr>
        <p:spPr>
          <a:xfrm>
            <a:off x="9548165" y="4562856"/>
            <a:ext cx="822960" cy="329184"/>
          </a:xfrm>
          <a:prstGeom prst="roundRect">
            <a:avLst>
              <a:gd name="adj" fmla="val 50000"/>
            </a:avLst>
          </a:prstGeom>
          <a:solidFill>
            <a:srgbClr val="374151"/>
          </a:solidFill>
          <a:ln w="12700">
            <a:solidFill>
              <a:srgbClr val="374151"/>
            </a:solidFill>
            <a:prstDash val="solid"/>
          </a:ln>
        </p:spPr>
      </p:sp>
      <p:sp>
        <p:nvSpPr>
          <p:cNvPr id="43" name="text-87"/>
          <p:cNvSpPr txBox="1"/>
          <p:nvPr/>
        </p:nvSpPr>
        <p:spPr>
          <a:xfrm>
            <a:off x="9548165" y="4562856"/>
            <a:ext cx="822960" cy="329184"/>
          </a:xfrm>
          <a:prstGeom prst="rect">
            <a:avLst/>
          </a:prstGeom>
          <a:noFill/>
          <a:ln/>
        </p:spPr>
        <p:txBody>
          <a:bodyPr wrap="square" lIns="0" tIns="0" rIns="0" bIns="0" rtlCol="0" anchor="ctr"/>
          <a:lstStyle/>
          <a:p>
            <a:pPr algn="ctr" indent="0" marL="0">
              <a:buNone/>
            </a:pPr>
            <a:r>
              <a:rPr lang="en-US" sz="1050" dirty="0">
                <a:solidFill>
                  <a:srgbClr val="E5E7EB"/>
                </a:solidFill>
              </a:rPr>
              <a:t>hybrid RAG</a:t>
            </a:r>
            <a:endParaRPr lang="en-US" sz="1050" dirty="0"/>
          </a:p>
        </p:txBody>
      </p:sp>
      <p:sp>
        <p:nvSpPr>
          <p:cNvPr id="44" name="box-88"/>
          <p:cNvSpPr/>
          <p:nvPr/>
        </p:nvSpPr>
        <p:spPr>
          <a:xfrm>
            <a:off x="10435133" y="4562856"/>
            <a:ext cx="885139" cy="329184"/>
          </a:xfrm>
          <a:prstGeom prst="roundRect">
            <a:avLst>
              <a:gd name="adj" fmla="val 50000"/>
            </a:avLst>
          </a:prstGeom>
          <a:solidFill>
            <a:srgbClr val="374151"/>
          </a:solidFill>
          <a:ln w="12700">
            <a:solidFill>
              <a:srgbClr val="374151"/>
            </a:solidFill>
            <a:prstDash val="solid"/>
          </a:ln>
        </p:spPr>
      </p:sp>
      <p:sp>
        <p:nvSpPr>
          <p:cNvPr id="45" name="text-89"/>
          <p:cNvSpPr txBox="1"/>
          <p:nvPr/>
        </p:nvSpPr>
        <p:spPr>
          <a:xfrm>
            <a:off x="10435133" y="4562856"/>
            <a:ext cx="885139" cy="329184"/>
          </a:xfrm>
          <a:prstGeom prst="rect">
            <a:avLst/>
          </a:prstGeom>
          <a:noFill/>
          <a:ln/>
        </p:spPr>
        <p:txBody>
          <a:bodyPr wrap="square" lIns="0" tIns="0" rIns="0" bIns="0" rtlCol="0" anchor="ctr"/>
          <a:lstStyle/>
          <a:p>
            <a:pPr algn="ctr" indent="0" marL="0">
              <a:buNone/>
            </a:pPr>
            <a:r>
              <a:rPr lang="en-US" sz="1050" dirty="0">
                <a:solidFill>
                  <a:srgbClr val="E5E7EB"/>
                </a:solidFill>
              </a:rPr>
              <a:t>temporal KB</a:t>
            </a:r>
            <a:endParaRPr lang="en-US" sz="1050" dirty="0"/>
          </a:p>
        </p:txBody>
      </p:sp>
      <p:sp>
        <p:nvSpPr>
          <p:cNvPr id="46" name="box-90"/>
          <p:cNvSpPr/>
          <p:nvPr/>
        </p:nvSpPr>
        <p:spPr>
          <a:xfrm>
            <a:off x="5669280" y="5239512"/>
            <a:ext cx="5788152" cy="749808"/>
          </a:xfrm>
          <a:prstGeom prst="roundRect">
            <a:avLst>
              <a:gd name="adj" fmla="val 9756"/>
            </a:avLst>
          </a:prstGeom>
          <a:solidFill>
            <a:srgbClr val="1F2937"/>
          </a:solidFill>
          <a:ln w="12700">
            <a:solidFill>
              <a:srgbClr val="1F2937"/>
            </a:solidFill>
            <a:prstDash val="solid"/>
          </a:ln>
        </p:spPr>
      </p:sp>
      <p:sp>
        <p:nvSpPr>
          <p:cNvPr id="47" name="badge-91"/>
          <p:cNvSpPr/>
          <p:nvPr/>
        </p:nvSpPr>
        <p:spPr>
          <a:xfrm>
            <a:off x="5815584" y="5376672"/>
            <a:ext cx="475488" cy="475488"/>
          </a:xfrm>
          <a:prstGeom prst="ellipse">
            <a:avLst/>
          </a:prstGeom>
          <a:solidFill>
            <a:srgbClr val="F59E0B"/>
          </a:solidFill>
          <a:ln w="12700">
            <a:solidFill>
              <a:srgbClr val="F59E0B"/>
            </a:solidFill>
            <a:prstDash val="solid"/>
          </a:ln>
        </p:spPr>
      </p:sp>
      <p:pic>
        <p:nvPicPr>
          <p:cNvPr id="48" name="icon-92" descr="preencoded.png">    </p:cNvPr>
          <p:cNvPicPr>
            <a:picLocks noChangeAspect="1"/>
          </p:cNvPicPr>
          <p:nvPr/>
        </p:nvPicPr>
        <p:blipFill>
          <a:blip r:embed="rId5"/>
          <a:stretch>
            <a:fillRect/>
          </a:stretch>
        </p:blipFill>
        <p:spPr>
          <a:xfrm>
            <a:off x="5929701" y="5490789"/>
            <a:ext cx="247254" cy="247254"/>
          </a:xfrm>
          <a:prstGeom prst="rect">
            <a:avLst/>
          </a:prstGeom>
        </p:spPr>
      </p:pic>
      <p:sp>
        <p:nvSpPr>
          <p:cNvPr id="49" name="text-93"/>
          <p:cNvSpPr txBox="1"/>
          <p:nvPr/>
        </p:nvSpPr>
        <p:spPr>
          <a:xfrm>
            <a:off x="6400800" y="5239512"/>
            <a:ext cx="1371600" cy="749808"/>
          </a:xfrm>
          <a:prstGeom prst="rect">
            <a:avLst/>
          </a:prstGeom>
          <a:noFill/>
          <a:ln/>
        </p:spPr>
        <p:txBody>
          <a:bodyPr wrap="square" lIns="508" tIns="508" rIns="508" bIns="508" rtlCol="0" anchor="ctr"/>
          <a:lstStyle/>
          <a:p>
            <a:pPr algn="l" indent="0" marL="0">
              <a:buNone/>
            </a:pPr>
            <a:r>
              <a:rPr lang="en-US" sz="1400" b="1" dirty="0">
                <a:solidFill>
                  <a:srgbClr val="FFFFFF"/>
                </a:solidFill>
              </a:rPr>
              <a:t>Quality</a:t>
            </a:r>
            <a:endParaRPr lang="en-US" sz="1400" dirty="0"/>
          </a:p>
        </p:txBody>
      </p:sp>
      <p:sp>
        <p:nvSpPr>
          <p:cNvPr id="50" name="box-94"/>
          <p:cNvSpPr/>
          <p:nvPr/>
        </p:nvSpPr>
        <p:spPr>
          <a:xfrm>
            <a:off x="8163763" y="5449824"/>
            <a:ext cx="1133856" cy="329184"/>
          </a:xfrm>
          <a:prstGeom prst="roundRect">
            <a:avLst>
              <a:gd name="adj" fmla="val 50000"/>
            </a:avLst>
          </a:prstGeom>
          <a:solidFill>
            <a:srgbClr val="374151"/>
          </a:solidFill>
          <a:ln w="12700">
            <a:solidFill>
              <a:srgbClr val="374151"/>
            </a:solidFill>
            <a:prstDash val="solid"/>
          </a:ln>
        </p:spPr>
      </p:sp>
      <p:sp>
        <p:nvSpPr>
          <p:cNvPr id="51" name="text-95"/>
          <p:cNvSpPr txBox="1"/>
          <p:nvPr/>
        </p:nvSpPr>
        <p:spPr>
          <a:xfrm>
            <a:off x="8163763" y="5449824"/>
            <a:ext cx="1133856" cy="329184"/>
          </a:xfrm>
          <a:prstGeom prst="rect">
            <a:avLst/>
          </a:prstGeom>
          <a:noFill/>
          <a:ln/>
        </p:spPr>
        <p:txBody>
          <a:bodyPr wrap="square" lIns="0" tIns="0" rIns="0" bIns="0" rtlCol="0" anchor="ctr"/>
          <a:lstStyle/>
          <a:p>
            <a:pPr algn="ctr" indent="0" marL="0">
              <a:buNone/>
            </a:pPr>
            <a:r>
              <a:rPr lang="en-US" sz="1050" dirty="0">
                <a:solidFill>
                  <a:srgbClr val="E5E7EB"/>
                </a:solidFill>
              </a:rPr>
              <a:t>GPT-Live caller</a:t>
            </a:r>
            <a:endParaRPr lang="en-US" sz="1050" dirty="0"/>
          </a:p>
        </p:txBody>
      </p:sp>
      <p:sp>
        <p:nvSpPr>
          <p:cNvPr id="52" name="box-96"/>
          <p:cNvSpPr/>
          <p:nvPr/>
        </p:nvSpPr>
        <p:spPr>
          <a:xfrm>
            <a:off x="9361627" y="5449824"/>
            <a:ext cx="885139" cy="329184"/>
          </a:xfrm>
          <a:prstGeom prst="roundRect">
            <a:avLst>
              <a:gd name="adj" fmla="val 50000"/>
            </a:avLst>
          </a:prstGeom>
          <a:solidFill>
            <a:srgbClr val="374151"/>
          </a:solidFill>
          <a:ln w="12700">
            <a:solidFill>
              <a:srgbClr val="374151"/>
            </a:solidFill>
            <a:prstDash val="solid"/>
          </a:ln>
        </p:spPr>
      </p:sp>
      <p:sp>
        <p:nvSpPr>
          <p:cNvPr id="53" name="text-97"/>
          <p:cNvSpPr txBox="1"/>
          <p:nvPr/>
        </p:nvSpPr>
        <p:spPr>
          <a:xfrm>
            <a:off x="9361627" y="5449824"/>
            <a:ext cx="885139" cy="329184"/>
          </a:xfrm>
          <a:prstGeom prst="rect">
            <a:avLst/>
          </a:prstGeom>
          <a:noFill/>
          <a:ln/>
        </p:spPr>
        <p:txBody>
          <a:bodyPr wrap="square" lIns="0" tIns="0" rIns="0" bIns="0" rtlCol="0" anchor="ctr"/>
          <a:lstStyle/>
          <a:p>
            <a:pPr algn="ctr" indent="0" marL="0">
              <a:buNone/>
            </a:pPr>
            <a:r>
              <a:rPr lang="en-US" sz="1050" dirty="0">
                <a:solidFill>
                  <a:srgbClr val="E5E7EB"/>
                </a:solidFill>
              </a:rPr>
              <a:t>terra judge</a:t>
            </a:r>
            <a:endParaRPr lang="en-US" sz="1050" dirty="0"/>
          </a:p>
        </p:txBody>
      </p:sp>
      <p:sp>
        <p:nvSpPr>
          <p:cNvPr id="54" name="box-98"/>
          <p:cNvSpPr/>
          <p:nvPr/>
        </p:nvSpPr>
        <p:spPr>
          <a:xfrm>
            <a:off x="10310774" y="5449824"/>
            <a:ext cx="1009498" cy="329184"/>
          </a:xfrm>
          <a:prstGeom prst="roundRect">
            <a:avLst>
              <a:gd name="adj" fmla="val 50000"/>
            </a:avLst>
          </a:prstGeom>
          <a:solidFill>
            <a:srgbClr val="374151"/>
          </a:solidFill>
          <a:ln w="12700">
            <a:solidFill>
              <a:srgbClr val="374151"/>
            </a:solidFill>
            <a:prstDash val="solid"/>
          </a:ln>
        </p:spPr>
      </p:sp>
      <p:sp>
        <p:nvSpPr>
          <p:cNvPr id="55" name="text-99"/>
          <p:cNvSpPr txBox="1"/>
          <p:nvPr/>
        </p:nvSpPr>
        <p:spPr>
          <a:xfrm>
            <a:off x="10310774" y="5449824"/>
            <a:ext cx="1009498" cy="329184"/>
          </a:xfrm>
          <a:prstGeom prst="rect">
            <a:avLst/>
          </a:prstGeom>
          <a:noFill/>
          <a:ln/>
        </p:spPr>
        <p:txBody>
          <a:bodyPr wrap="square" lIns="0" tIns="0" rIns="0" bIns="0" rtlCol="0" anchor="ctr"/>
          <a:lstStyle/>
          <a:p>
            <a:pPr algn="ctr" indent="0" marL="0">
              <a:buNone/>
            </a:pPr>
            <a:r>
              <a:rPr lang="en-US" sz="1050" dirty="0">
                <a:solidFill>
                  <a:srgbClr val="E5E7EB"/>
                </a:solidFill>
              </a:rPr>
              <a:t>safety scores</a:t>
            </a:r>
            <a:endParaRPr lang="en-US" sz="10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Inside ARIA</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An investigation, not a chatbot</a:t>
            </a:r>
            <a:endParaRPr lang="en-US" sz="3000" dirty="0"/>
          </a:p>
        </p:txBody>
      </p:sp>
      <p:sp>
        <p:nvSpPr>
          <p:cNvPr id="4" name="narrative-100"/>
          <p:cNvSpPr txBox="1"/>
          <p:nvPr/>
        </p:nvSpPr>
        <p:spPr>
          <a:xfrm>
            <a:off x="548640" y="1508760"/>
            <a:ext cx="4572000" cy="4709160"/>
          </a:xfrm>
          <a:prstGeom prst="rect">
            <a:avLst/>
          </a:prstGeom>
          <a:noFill/>
          <a:ln/>
        </p:spPr>
        <p:txBody>
          <a:bodyPr wrap="square" lIns="0" tIns="0" rIns="0" bIns="0" rtlCol="0" anchor="t"/>
          <a:lstStyle/>
          <a:p>
            <a:pPr indent="0" marL="0">
              <a:lnSpc>
                <a:spcPct val="108000"/>
              </a:lnSpc>
              <a:spcAft>
                <a:spcPts val="1400"/>
              </a:spcAft>
              <a:buNone/>
            </a:pPr>
            <a:r>
              <a:rPr lang="en-US" sz="1500" b="1" dirty="0">
                <a:solidFill>
                  <a:schemeClr val="tx1"/>
                </a:solidFill>
              </a:rPr>
              <a:t>Understand. </a:t>
            </a:r>
            <a:pPr indent="0" marL="0">
              <a:lnSpc>
                <a:spcPct val="108000"/>
              </a:lnSpc>
              <a:spcAft>
                <a:spcPts val="1400"/>
              </a:spcAft>
              <a:buNone/>
            </a:pPr>
            <a:r>
              <a:rPr lang="en-US" sz="1500" dirty="0">
                <a:solidFill>
                  <a:schemeClr val="tx2"/>
                </a:solidFill>
              </a:rPr>
              <a:t>GPT-Live hears the problem and hands it to ARIA straight away.</a:t>
            </a:r>
            <a:endParaRPr lang="en-US" sz="1500" dirty="0"/>
          </a:p>
          <a:p>
            <a:pPr indent="0" marL="0">
              <a:lnSpc>
                <a:spcPct val="108000"/>
              </a:lnSpc>
              <a:spcAft>
                <a:spcPts val="1400"/>
              </a:spcAft>
              <a:buNone/>
            </a:pPr>
            <a:r>
              <a:rPr lang="en-US" sz="1500" b="1" dirty="0">
                <a:solidFill>
                  <a:schemeClr val="tx1"/>
                </a:solidFill>
              </a:rPr>
              <a:t>Gather. </a:t>
            </a:r>
            <a:pPr indent="0" marL="0">
              <a:lnSpc>
                <a:spcPct val="108000"/>
              </a:lnSpc>
              <a:spcAft>
                <a:spcPts val="1400"/>
              </a:spcAft>
              <a:buNone/>
            </a:pPr>
            <a:r>
              <a:rPr lang="en-US" sz="1500" dirty="0">
                <a:solidFill>
                  <a:schemeClr val="tx2"/>
                </a:solidFill>
              </a:rPr>
              <a:t>Machine snapshot, alarm history, sequence trace, the manual and past incidents on this line.</a:t>
            </a:r>
            <a:endParaRPr lang="en-US" sz="1500" dirty="0"/>
          </a:p>
          <a:p>
            <a:pPr indent="0" marL="0">
              <a:lnSpc>
                <a:spcPct val="108000"/>
              </a:lnSpc>
              <a:spcAft>
                <a:spcPts val="1400"/>
              </a:spcAft>
              <a:buNone/>
            </a:pPr>
            <a:r>
              <a:rPr lang="en-US" sz="1500" b="1" dirty="0">
                <a:solidFill>
                  <a:schemeClr val="tx1"/>
                </a:solidFill>
              </a:rPr>
              <a:t>Reason. </a:t>
            </a:r>
            <a:pPr indent="0" marL="0">
              <a:lnSpc>
                <a:spcPct val="108000"/>
              </a:lnSpc>
              <a:spcAft>
                <a:spcPts val="1400"/>
              </a:spcAft>
              <a:buNone/>
            </a:pPr>
            <a:r>
              <a:rPr lang="en-US" sz="1500" dirty="0">
                <a:solidFill>
                  <a:schemeClr val="tx2"/>
                </a:solidFill>
              </a:rPr>
              <a:t>Hypotheses with evidence for and against. The engine runs the safe test that separates them most.</a:t>
            </a:r>
            <a:endParaRPr lang="en-US" sz="1500" dirty="0"/>
          </a:p>
          <a:p>
            <a:pPr indent="0" marL="0">
              <a:lnSpc>
                <a:spcPct val="108000"/>
              </a:lnSpc>
              <a:spcAft>
                <a:spcPts val="1400"/>
              </a:spcAft>
              <a:buNone/>
            </a:pPr>
            <a:r>
              <a:rPr lang="en-US" sz="1500" b="1" dirty="0">
                <a:solidFill>
                  <a:schemeClr val="tx1"/>
                </a:solidFill>
              </a:rPr>
              <a:t>Decide. </a:t>
            </a:r>
            <a:pPr indent="0" marL="0">
              <a:lnSpc>
                <a:spcPct val="108000"/>
              </a:lnSpc>
              <a:spcAft>
                <a:spcPts val="1400"/>
              </a:spcAft>
              <a:buNone/>
            </a:pPr>
            <a:r>
              <a:rPr lang="en-US" sz="1500" dirty="0">
                <a:solidFill>
                  <a:schemeClr val="tx2"/>
                </a:solidFill>
              </a:rPr>
              <a:t>Stop at 90% confidence with supporting evidence — or say it is uncertain and call a technician.</a:t>
            </a:r>
            <a:endParaRPr lang="en-US" sz="1500" dirty="0"/>
          </a:p>
          <a:p>
            <a:pPr indent="0" marL="0">
              <a:lnSpc>
                <a:spcPct val="108000"/>
              </a:lnSpc>
              <a:spcAft>
                <a:spcPts val="1400"/>
              </a:spcAft>
              <a:buNone/>
            </a:pPr>
            <a:r>
              <a:rPr lang="en-US" sz="1500" b="1" dirty="0">
                <a:solidFill>
                  <a:schemeClr val="tx1"/>
                </a:solidFill>
              </a:rPr>
              <a:t>Report. </a:t>
            </a:r>
            <a:pPr indent="0" marL="0">
              <a:lnSpc>
                <a:spcPct val="108000"/>
              </a:lnSpc>
              <a:spcAft>
                <a:spcPts val="1400"/>
              </a:spcAft>
              <a:buNone/>
            </a:pPr>
            <a:r>
              <a:rPr lang="en-US" sz="1500" dirty="0">
                <a:solidFill>
                  <a:schemeClr val="tx2"/>
                </a:solidFill>
              </a:rPr>
              <a:t>Written from tool results, verified against them, then spoken. Restart, reset and bypass are always declined.</a:t>
            </a:r>
            <a:endParaRPr lang="en-US" sz="1500" dirty="0"/>
          </a:p>
        </p:txBody>
      </p:sp>
      <p:sp>
        <p:nvSpPr>
          <p:cNvPr id="5" name="box-101"/>
          <p:cNvSpPr/>
          <p:nvPr/>
        </p:nvSpPr>
        <p:spPr>
          <a:xfrm>
            <a:off x="5486400" y="1463040"/>
            <a:ext cx="6153912" cy="4754880"/>
          </a:xfrm>
          <a:prstGeom prst="roundRect">
            <a:avLst>
              <a:gd name="adj" fmla="val 2692"/>
            </a:avLst>
          </a:prstGeom>
          <a:solidFill>
            <a:srgbClr val="111827"/>
          </a:solidFill>
          <a:ln w="12700">
            <a:solidFill>
              <a:srgbClr val="111827"/>
            </a:solidFill>
            <a:prstDash val="solid"/>
          </a:ln>
        </p:spPr>
      </p:sp>
      <p:sp>
        <p:nvSpPr>
          <p:cNvPr id="6" name="ring-102"/>
          <p:cNvSpPr/>
          <p:nvPr/>
        </p:nvSpPr>
        <p:spPr>
          <a:xfrm>
            <a:off x="6460236" y="2194560"/>
            <a:ext cx="4206240" cy="2834640"/>
          </a:xfrm>
          <a:prstGeom prst="ellipse">
            <a:avLst/>
          </a:prstGeom>
          <a:solidFill>
            <a:srgbClr val="111827"/>
          </a:solidFill>
          <a:ln w="19050">
            <a:solidFill>
              <a:srgbClr val="4B5563"/>
            </a:solidFill>
            <a:prstDash val="dash"/>
          </a:ln>
        </p:spPr>
      </p:sp>
      <p:sp>
        <p:nvSpPr>
          <p:cNvPr id="7" name="hub-103"/>
          <p:cNvSpPr/>
          <p:nvPr/>
        </p:nvSpPr>
        <p:spPr>
          <a:xfrm>
            <a:off x="7904988" y="2953512"/>
            <a:ext cx="1316736" cy="1316736"/>
          </a:xfrm>
          <a:prstGeom prst="ellipse">
            <a:avLst/>
          </a:prstGeom>
          <a:solidFill>
            <a:srgbClr val="7C3AED"/>
          </a:solidFill>
          <a:ln w="31750">
            <a:solidFill>
              <a:srgbClr val="C4B5FD"/>
            </a:solidFill>
            <a:prstDash val="solid"/>
          </a:ln>
        </p:spPr>
      </p:sp>
      <p:sp>
        <p:nvSpPr>
          <p:cNvPr id="8" name="text-104"/>
          <p:cNvSpPr txBox="1"/>
          <p:nvPr/>
        </p:nvSpPr>
        <p:spPr>
          <a:xfrm>
            <a:off x="7904988" y="3264408"/>
            <a:ext cx="1316736" cy="365760"/>
          </a:xfrm>
          <a:prstGeom prst="rect">
            <a:avLst/>
          </a:prstGeom>
          <a:noFill/>
          <a:ln/>
        </p:spPr>
        <p:txBody>
          <a:bodyPr wrap="square" lIns="0" tIns="0" rIns="0" bIns="0" rtlCol="0" anchor="ctr"/>
          <a:lstStyle/>
          <a:p>
            <a:pPr algn="ctr" indent="0" marL="0">
              <a:buNone/>
            </a:pPr>
            <a:r>
              <a:rPr lang="en-US" sz="1800" b="1" dirty="0">
                <a:solidFill>
                  <a:srgbClr val="FFFFFF"/>
                </a:solidFill>
              </a:rPr>
              <a:t>ARIA</a:t>
            </a:r>
            <a:endParaRPr lang="en-US" sz="1800" dirty="0"/>
          </a:p>
        </p:txBody>
      </p:sp>
      <p:sp>
        <p:nvSpPr>
          <p:cNvPr id="9" name="text-105"/>
          <p:cNvSpPr txBox="1"/>
          <p:nvPr/>
        </p:nvSpPr>
        <p:spPr>
          <a:xfrm>
            <a:off x="7904988" y="3630168"/>
            <a:ext cx="1316736" cy="274320"/>
          </a:xfrm>
          <a:prstGeom prst="rect">
            <a:avLst/>
          </a:prstGeom>
          <a:noFill/>
          <a:ln/>
        </p:spPr>
        <p:txBody>
          <a:bodyPr wrap="square" lIns="0" tIns="0" rIns="0" bIns="0" rtlCol="0" anchor="ctr"/>
          <a:lstStyle/>
          <a:p>
            <a:pPr algn="ctr" indent="0" marL="0">
              <a:buNone/>
            </a:pPr>
            <a:r>
              <a:rPr lang="en-US" sz="1100" dirty="0">
                <a:solidFill>
                  <a:srgbClr val="EDE9FE"/>
                </a:solidFill>
              </a:rPr>
              <a:t>engine</a:t>
            </a:r>
            <a:endParaRPr lang="en-US" sz="1100" dirty="0"/>
          </a:p>
        </p:txBody>
      </p:sp>
      <p:sp>
        <p:nvSpPr>
          <p:cNvPr id="10" name="badge-106"/>
          <p:cNvSpPr/>
          <p:nvPr/>
        </p:nvSpPr>
        <p:spPr>
          <a:xfrm>
            <a:off x="7182612" y="2055261"/>
            <a:ext cx="658368" cy="658368"/>
          </a:xfrm>
          <a:prstGeom prst="ellipse">
            <a:avLst/>
          </a:prstGeom>
          <a:solidFill>
            <a:srgbClr val="2563EB"/>
          </a:solidFill>
          <a:ln w="12700">
            <a:solidFill>
              <a:srgbClr val="2563EB"/>
            </a:solidFill>
            <a:prstDash val="solid"/>
          </a:ln>
        </p:spPr>
      </p:sp>
      <p:pic>
        <p:nvPicPr>
          <p:cNvPr id="11" name="icon-107" descr="preencoded.png">    </p:cNvPr>
          <p:cNvPicPr>
            <a:picLocks noChangeAspect="1"/>
          </p:cNvPicPr>
          <p:nvPr/>
        </p:nvPicPr>
        <p:blipFill>
          <a:blip r:embed="rId1"/>
          <a:stretch>
            <a:fillRect/>
          </a:stretch>
        </p:blipFill>
        <p:spPr>
          <a:xfrm>
            <a:off x="7340620" y="2213269"/>
            <a:ext cx="342351" cy="342351"/>
          </a:xfrm>
          <a:prstGeom prst="rect">
            <a:avLst/>
          </a:prstGeom>
        </p:spPr>
      </p:pic>
      <p:sp>
        <p:nvSpPr>
          <p:cNvPr id="12" name="text-108"/>
          <p:cNvSpPr txBox="1"/>
          <p:nvPr/>
        </p:nvSpPr>
        <p:spPr>
          <a:xfrm>
            <a:off x="6734556" y="1726077"/>
            <a:ext cx="1554480" cy="274320"/>
          </a:xfrm>
          <a:prstGeom prst="rect">
            <a:avLst/>
          </a:prstGeom>
          <a:noFill/>
          <a:ln/>
        </p:spPr>
        <p:txBody>
          <a:bodyPr wrap="square" lIns="0" tIns="0" rIns="0" bIns="0" rtlCol="0" anchor="t"/>
          <a:lstStyle/>
          <a:p>
            <a:pPr algn="ctr" indent="0" marL="0">
              <a:buNone/>
            </a:pPr>
            <a:r>
              <a:rPr lang="en-US" sz="1200" b="1" dirty="0">
                <a:solidFill>
                  <a:srgbClr val="E5E7EB"/>
                </a:solidFill>
              </a:rPr>
              <a:t>1  Gather</a:t>
            </a:r>
            <a:endParaRPr lang="en-US" sz="1200" dirty="0"/>
          </a:p>
        </p:txBody>
      </p:sp>
      <p:sp>
        <p:nvSpPr>
          <p:cNvPr id="13" name="badge-109"/>
          <p:cNvSpPr/>
          <p:nvPr/>
        </p:nvSpPr>
        <p:spPr>
          <a:xfrm>
            <a:off x="9285732" y="2055261"/>
            <a:ext cx="658368" cy="658368"/>
          </a:xfrm>
          <a:prstGeom prst="ellipse">
            <a:avLst/>
          </a:prstGeom>
          <a:solidFill>
            <a:srgbClr val="7C3AED"/>
          </a:solidFill>
          <a:ln w="12700">
            <a:solidFill>
              <a:srgbClr val="7C3AED"/>
            </a:solidFill>
            <a:prstDash val="solid"/>
          </a:ln>
        </p:spPr>
      </p:sp>
      <p:pic>
        <p:nvPicPr>
          <p:cNvPr id="14" name="icon-110" descr="preencoded.png">    </p:cNvPr>
          <p:cNvPicPr>
            <a:picLocks noChangeAspect="1"/>
          </p:cNvPicPr>
          <p:nvPr/>
        </p:nvPicPr>
        <p:blipFill>
          <a:blip r:embed="rId2"/>
          <a:stretch>
            <a:fillRect/>
          </a:stretch>
        </p:blipFill>
        <p:spPr>
          <a:xfrm>
            <a:off x="9443740" y="2213269"/>
            <a:ext cx="342351" cy="342351"/>
          </a:xfrm>
          <a:prstGeom prst="rect">
            <a:avLst/>
          </a:prstGeom>
        </p:spPr>
      </p:pic>
      <p:sp>
        <p:nvSpPr>
          <p:cNvPr id="15" name="text-111"/>
          <p:cNvSpPr txBox="1"/>
          <p:nvPr/>
        </p:nvSpPr>
        <p:spPr>
          <a:xfrm>
            <a:off x="8837676" y="1726077"/>
            <a:ext cx="1554480" cy="274320"/>
          </a:xfrm>
          <a:prstGeom prst="rect">
            <a:avLst/>
          </a:prstGeom>
          <a:noFill/>
          <a:ln/>
        </p:spPr>
        <p:txBody>
          <a:bodyPr wrap="square" lIns="0" tIns="0" rIns="0" bIns="0" rtlCol="0" anchor="t"/>
          <a:lstStyle/>
          <a:p>
            <a:pPr algn="ctr" indent="0" marL="0">
              <a:buNone/>
            </a:pPr>
            <a:r>
              <a:rPr lang="en-US" sz="1200" b="1" dirty="0">
                <a:solidFill>
                  <a:srgbClr val="E5E7EB"/>
                </a:solidFill>
              </a:rPr>
              <a:t>2  Hypothesize</a:t>
            </a:r>
            <a:endParaRPr lang="en-US" sz="1200" dirty="0"/>
          </a:p>
        </p:txBody>
      </p:sp>
      <p:sp>
        <p:nvSpPr>
          <p:cNvPr id="16" name="badge-112"/>
          <p:cNvSpPr/>
          <p:nvPr/>
        </p:nvSpPr>
        <p:spPr>
          <a:xfrm>
            <a:off x="10337292" y="3282696"/>
            <a:ext cx="658368" cy="658368"/>
          </a:xfrm>
          <a:prstGeom prst="ellipse">
            <a:avLst/>
          </a:prstGeom>
          <a:solidFill>
            <a:srgbClr val="7C3AED"/>
          </a:solidFill>
          <a:ln w="12700">
            <a:solidFill>
              <a:srgbClr val="7C3AED"/>
            </a:solidFill>
            <a:prstDash val="solid"/>
          </a:ln>
        </p:spPr>
      </p:sp>
      <p:pic>
        <p:nvPicPr>
          <p:cNvPr id="17" name="icon-113" descr="preencoded.png">    </p:cNvPr>
          <p:cNvPicPr>
            <a:picLocks noChangeAspect="1"/>
          </p:cNvPicPr>
          <p:nvPr/>
        </p:nvPicPr>
        <p:blipFill>
          <a:blip r:embed="rId3"/>
          <a:stretch>
            <a:fillRect/>
          </a:stretch>
        </p:blipFill>
        <p:spPr>
          <a:xfrm>
            <a:off x="10495300" y="3440704"/>
            <a:ext cx="342351" cy="342351"/>
          </a:xfrm>
          <a:prstGeom prst="rect">
            <a:avLst/>
          </a:prstGeom>
        </p:spPr>
      </p:pic>
      <p:sp>
        <p:nvSpPr>
          <p:cNvPr id="18" name="text-114"/>
          <p:cNvSpPr txBox="1"/>
          <p:nvPr/>
        </p:nvSpPr>
        <p:spPr>
          <a:xfrm>
            <a:off x="9889236" y="3977640"/>
            <a:ext cx="1554480" cy="274320"/>
          </a:xfrm>
          <a:prstGeom prst="rect">
            <a:avLst/>
          </a:prstGeom>
          <a:noFill/>
          <a:ln/>
        </p:spPr>
        <p:txBody>
          <a:bodyPr wrap="square" lIns="0" tIns="0" rIns="0" bIns="0" rtlCol="0" anchor="t"/>
          <a:lstStyle/>
          <a:p>
            <a:pPr algn="ctr" indent="0" marL="0">
              <a:buNone/>
            </a:pPr>
            <a:r>
              <a:rPr lang="en-US" sz="1200" b="1" dirty="0">
                <a:solidFill>
                  <a:srgbClr val="E5E7EB"/>
                </a:solidFill>
              </a:rPr>
              <a:t>3  Pick safe test</a:t>
            </a:r>
            <a:endParaRPr lang="en-US" sz="1200" dirty="0"/>
          </a:p>
        </p:txBody>
      </p:sp>
      <p:sp>
        <p:nvSpPr>
          <p:cNvPr id="19" name="badge-115"/>
          <p:cNvSpPr/>
          <p:nvPr/>
        </p:nvSpPr>
        <p:spPr>
          <a:xfrm>
            <a:off x="9285732" y="4510131"/>
            <a:ext cx="658368" cy="658368"/>
          </a:xfrm>
          <a:prstGeom prst="ellipse">
            <a:avLst/>
          </a:prstGeom>
          <a:solidFill>
            <a:srgbClr val="64748B"/>
          </a:solidFill>
          <a:ln w="12700">
            <a:solidFill>
              <a:srgbClr val="64748B"/>
            </a:solidFill>
            <a:prstDash val="solid"/>
          </a:ln>
        </p:spPr>
      </p:sp>
      <p:pic>
        <p:nvPicPr>
          <p:cNvPr id="20" name="icon-116" descr="preencoded.png">    </p:cNvPr>
          <p:cNvPicPr>
            <a:picLocks noChangeAspect="1"/>
          </p:cNvPicPr>
          <p:nvPr/>
        </p:nvPicPr>
        <p:blipFill>
          <a:blip r:embed="rId4"/>
          <a:stretch>
            <a:fillRect/>
          </a:stretch>
        </p:blipFill>
        <p:spPr>
          <a:xfrm>
            <a:off x="9443740" y="4668139"/>
            <a:ext cx="342351" cy="342351"/>
          </a:xfrm>
          <a:prstGeom prst="rect">
            <a:avLst/>
          </a:prstGeom>
        </p:spPr>
      </p:pic>
      <p:sp>
        <p:nvSpPr>
          <p:cNvPr id="21" name="text-117"/>
          <p:cNvSpPr txBox="1"/>
          <p:nvPr/>
        </p:nvSpPr>
        <p:spPr>
          <a:xfrm>
            <a:off x="8837676" y="5205075"/>
            <a:ext cx="1554480" cy="274320"/>
          </a:xfrm>
          <a:prstGeom prst="rect">
            <a:avLst/>
          </a:prstGeom>
          <a:noFill/>
          <a:ln/>
        </p:spPr>
        <p:txBody>
          <a:bodyPr wrap="square" lIns="0" tIns="0" rIns="0" bIns="0" rtlCol="0" anchor="t"/>
          <a:lstStyle/>
          <a:p>
            <a:pPr algn="ctr" indent="0" marL="0">
              <a:buNone/>
            </a:pPr>
            <a:r>
              <a:rPr lang="en-US" sz="1200" b="1" dirty="0">
                <a:solidFill>
                  <a:srgbClr val="E5E7EB"/>
                </a:solidFill>
              </a:rPr>
              <a:t>4  Run test</a:t>
            </a:r>
            <a:endParaRPr lang="en-US" sz="1200" dirty="0"/>
          </a:p>
        </p:txBody>
      </p:sp>
      <p:sp>
        <p:nvSpPr>
          <p:cNvPr id="22" name="badge-118"/>
          <p:cNvSpPr/>
          <p:nvPr/>
        </p:nvSpPr>
        <p:spPr>
          <a:xfrm>
            <a:off x="7182612" y="4510131"/>
            <a:ext cx="658368" cy="658368"/>
          </a:xfrm>
          <a:prstGeom prst="ellipse">
            <a:avLst/>
          </a:prstGeom>
          <a:solidFill>
            <a:srgbClr val="7C3AED"/>
          </a:solidFill>
          <a:ln w="12700">
            <a:solidFill>
              <a:srgbClr val="7C3AED"/>
            </a:solidFill>
            <a:prstDash val="solid"/>
          </a:ln>
        </p:spPr>
      </p:sp>
      <p:pic>
        <p:nvPicPr>
          <p:cNvPr id="23" name="icon-119" descr="preencoded.png">    </p:cNvPr>
          <p:cNvPicPr>
            <a:picLocks noChangeAspect="1"/>
          </p:cNvPicPr>
          <p:nvPr/>
        </p:nvPicPr>
        <p:blipFill>
          <a:blip r:embed="rId5"/>
          <a:stretch>
            <a:fillRect/>
          </a:stretch>
        </p:blipFill>
        <p:spPr>
          <a:xfrm>
            <a:off x="7340620" y="4668139"/>
            <a:ext cx="342351" cy="342351"/>
          </a:xfrm>
          <a:prstGeom prst="rect">
            <a:avLst/>
          </a:prstGeom>
        </p:spPr>
      </p:pic>
      <p:sp>
        <p:nvSpPr>
          <p:cNvPr id="24" name="text-120"/>
          <p:cNvSpPr txBox="1"/>
          <p:nvPr/>
        </p:nvSpPr>
        <p:spPr>
          <a:xfrm>
            <a:off x="6734556" y="5205075"/>
            <a:ext cx="1554480" cy="274320"/>
          </a:xfrm>
          <a:prstGeom prst="rect">
            <a:avLst/>
          </a:prstGeom>
          <a:noFill/>
          <a:ln/>
        </p:spPr>
        <p:txBody>
          <a:bodyPr wrap="square" lIns="0" tIns="0" rIns="0" bIns="0" rtlCol="0" anchor="t"/>
          <a:lstStyle/>
          <a:p>
            <a:pPr algn="ctr" indent="0" marL="0">
              <a:buNone/>
            </a:pPr>
            <a:r>
              <a:rPr lang="en-US" sz="1200" b="1" dirty="0">
                <a:solidFill>
                  <a:srgbClr val="E5E7EB"/>
                </a:solidFill>
              </a:rPr>
              <a:t>5  Update belief</a:t>
            </a:r>
            <a:endParaRPr lang="en-US" sz="1200" dirty="0"/>
          </a:p>
        </p:txBody>
      </p:sp>
      <p:sp>
        <p:nvSpPr>
          <p:cNvPr id="25" name="badge-121"/>
          <p:cNvSpPr/>
          <p:nvPr/>
        </p:nvSpPr>
        <p:spPr>
          <a:xfrm>
            <a:off x="6131052" y="3282696"/>
            <a:ext cx="658368" cy="658368"/>
          </a:xfrm>
          <a:prstGeom prst="ellipse">
            <a:avLst/>
          </a:prstGeom>
          <a:solidFill>
            <a:srgbClr val="10B981"/>
          </a:solidFill>
          <a:ln w="12700">
            <a:solidFill>
              <a:srgbClr val="10B981"/>
            </a:solidFill>
            <a:prstDash val="solid"/>
          </a:ln>
        </p:spPr>
      </p:sp>
      <p:pic>
        <p:nvPicPr>
          <p:cNvPr id="26" name="icon-122" descr="preencoded.png">    </p:cNvPr>
          <p:cNvPicPr>
            <a:picLocks noChangeAspect="1"/>
          </p:cNvPicPr>
          <p:nvPr/>
        </p:nvPicPr>
        <p:blipFill>
          <a:blip r:embed="rId6"/>
          <a:stretch>
            <a:fillRect/>
          </a:stretch>
        </p:blipFill>
        <p:spPr>
          <a:xfrm>
            <a:off x="6289060" y="3440704"/>
            <a:ext cx="342351" cy="342351"/>
          </a:xfrm>
          <a:prstGeom prst="rect">
            <a:avLst/>
          </a:prstGeom>
        </p:spPr>
      </p:pic>
      <p:sp>
        <p:nvSpPr>
          <p:cNvPr id="27" name="text-123"/>
          <p:cNvSpPr txBox="1"/>
          <p:nvPr/>
        </p:nvSpPr>
        <p:spPr>
          <a:xfrm>
            <a:off x="5682996" y="3977640"/>
            <a:ext cx="1554480" cy="274320"/>
          </a:xfrm>
          <a:prstGeom prst="rect">
            <a:avLst/>
          </a:prstGeom>
          <a:noFill/>
          <a:ln/>
        </p:spPr>
        <p:txBody>
          <a:bodyPr wrap="square" lIns="0" tIns="0" rIns="0" bIns="0" rtlCol="0" anchor="t"/>
          <a:lstStyle/>
          <a:p>
            <a:pPr algn="ctr" indent="0" marL="0">
              <a:buNone/>
            </a:pPr>
            <a:r>
              <a:rPr lang="en-US" sz="1200" b="1" dirty="0">
                <a:solidFill>
                  <a:srgbClr val="E5E7EB"/>
                </a:solidFill>
              </a:rPr>
              <a:t>6  Verify &amp; speak</a:t>
            </a:r>
            <a:endParaRPr lang="en-US" sz="1200" dirty="0"/>
          </a:p>
        </p:txBody>
      </p:sp>
      <p:sp>
        <p:nvSpPr>
          <p:cNvPr id="28" name="rule-124"/>
          <p:cNvSpPr/>
          <p:nvPr/>
        </p:nvSpPr>
        <p:spPr>
          <a:xfrm>
            <a:off x="5852160" y="5486400"/>
            <a:ext cx="5422392" cy="0"/>
          </a:xfrm>
          <a:prstGeom prst="line">
            <a:avLst/>
          </a:prstGeom>
          <a:noFill/>
          <a:ln w="12700">
            <a:solidFill>
              <a:srgbClr val="374151"/>
            </a:solidFill>
            <a:prstDash val="solid"/>
          </a:ln>
        </p:spPr>
      </p:sp>
      <p:sp>
        <p:nvSpPr>
          <p:cNvPr id="29" name="box-125"/>
          <p:cNvSpPr/>
          <p:nvPr/>
        </p:nvSpPr>
        <p:spPr>
          <a:xfrm>
            <a:off x="5637276" y="5650992"/>
            <a:ext cx="1417320" cy="329184"/>
          </a:xfrm>
          <a:prstGeom prst="roundRect">
            <a:avLst>
              <a:gd name="adj" fmla="val 50000"/>
            </a:avLst>
          </a:prstGeom>
          <a:solidFill>
            <a:srgbClr val="374151"/>
          </a:solidFill>
          <a:ln w="12700">
            <a:solidFill>
              <a:srgbClr val="374151"/>
            </a:solidFill>
            <a:prstDash val="solid"/>
          </a:ln>
        </p:spPr>
      </p:sp>
      <p:sp>
        <p:nvSpPr>
          <p:cNvPr id="30" name="text-126"/>
          <p:cNvSpPr txBox="1"/>
          <p:nvPr/>
        </p:nvSpPr>
        <p:spPr>
          <a:xfrm>
            <a:off x="5637276" y="5650992"/>
            <a:ext cx="1417320" cy="329184"/>
          </a:xfrm>
          <a:prstGeom prst="rect">
            <a:avLst/>
          </a:prstGeom>
          <a:noFill/>
          <a:ln/>
        </p:spPr>
        <p:txBody>
          <a:bodyPr wrap="square" lIns="0" tIns="0" rIns="0" bIns="0" rtlCol="0" anchor="ctr"/>
          <a:lstStyle/>
          <a:p>
            <a:pPr algn="ctr" indent="0" marL="0">
              <a:buNone/>
            </a:pPr>
            <a:r>
              <a:rPr lang="en-US" sz="1050" dirty="0">
                <a:solidFill>
                  <a:srgbClr val="E5E7EB"/>
                </a:solidFill>
              </a:rPr>
              <a:t>Rule out &lt; 2%</a:t>
            </a:r>
            <a:endParaRPr lang="en-US" sz="1050" dirty="0"/>
          </a:p>
        </p:txBody>
      </p:sp>
      <p:sp>
        <p:nvSpPr>
          <p:cNvPr id="31" name="box-127"/>
          <p:cNvSpPr/>
          <p:nvPr/>
        </p:nvSpPr>
        <p:spPr>
          <a:xfrm>
            <a:off x="7146036" y="5650992"/>
            <a:ext cx="1234440" cy="329184"/>
          </a:xfrm>
          <a:prstGeom prst="roundRect">
            <a:avLst>
              <a:gd name="adj" fmla="val 50000"/>
            </a:avLst>
          </a:prstGeom>
          <a:solidFill>
            <a:srgbClr val="374151"/>
          </a:solidFill>
          <a:ln w="12700">
            <a:solidFill>
              <a:srgbClr val="374151"/>
            </a:solidFill>
            <a:prstDash val="solid"/>
          </a:ln>
        </p:spPr>
      </p:sp>
      <p:sp>
        <p:nvSpPr>
          <p:cNvPr id="32" name="text-128"/>
          <p:cNvSpPr txBox="1"/>
          <p:nvPr/>
        </p:nvSpPr>
        <p:spPr>
          <a:xfrm>
            <a:off x="7146036" y="5650992"/>
            <a:ext cx="1234440" cy="329184"/>
          </a:xfrm>
          <a:prstGeom prst="rect">
            <a:avLst/>
          </a:prstGeom>
          <a:noFill/>
          <a:ln/>
        </p:spPr>
        <p:txBody>
          <a:bodyPr wrap="square" lIns="0" tIns="0" rIns="0" bIns="0" rtlCol="0" anchor="ctr"/>
          <a:lstStyle/>
          <a:p>
            <a:pPr algn="ctr" indent="0" marL="0">
              <a:buNone/>
            </a:pPr>
            <a:r>
              <a:rPr lang="en-US" sz="1050" dirty="0">
                <a:solidFill>
                  <a:srgbClr val="E5E7EB"/>
                </a:solidFill>
              </a:rPr>
              <a:t>Stop ≥ 90%</a:t>
            </a:r>
            <a:endParaRPr lang="en-US" sz="1050" dirty="0"/>
          </a:p>
        </p:txBody>
      </p:sp>
      <p:sp>
        <p:nvSpPr>
          <p:cNvPr id="33" name="box-129"/>
          <p:cNvSpPr/>
          <p:nvPr/>
        </p:nvSpPr>
        <p:spPr>
          <a:xfrm>
            <a:off x="8471916" y="5650992"/>
            <a:ext cx="1508760" cy="329184"/>
          </a:xfrm>
          <a:prstGeom prst="roundRect">
            <a:avLst>
              <a:gd name="adj" fmla="val 50000"/>
            </a:avLst>
          </a:prstGeom>
          <a:solidFill>
            <a:srgbClr val="374151"/>
          </a:solidFill>
          <a:ln w="12700">
            <a:solidFill>
              <a:srgbClr val="374151"/>
            </a:solidFill>
            <a:prstDash val="solid"/>
          </a:ln>
        </p:spPr>
      </p:sp>
      <p:sp>
        <p:nvSpPr>
          <p:cNvPr id="34" name="text-130"/>
          <p:cNvSpPr txBox="1"/>
          <p:nvPr/>
        </p:nvSpPr>
        <p:spPr>
          <a:xfrm>
            <a:off x="8471916" y="5650992"/>
            <a:ext cx="1508760" cy="329184"/>
          </a:xfrm>
          <a:prstGeom prst="rect">
            <a:avLst/>
          </a:prstGeom>
          <a:noFill/>
          <a:ln/>
        </p:spPr>
        <p:txBody>
          <a:bodyPr wrap="square" lIns="0" tIns="0" rIns="0" bIns="0" rtlCol="0" anchor="ctr"/>
          <a:lstStyle/>
          <a:p>
            <a:pPr algn="ctr" indent="0" marL="0">
              <a:buNone/>
            </a:pPr>
            <a:r>
              <a:rPr lang="en-US" sz="1050" dirty="0">
                <a:solidFill>
                  <a:srgbClr val="E5E7EB"/>
                </a:solidFill>
              </a:rPr>
              <a:t>Budget + timeout</a:t>
            </a:r>
            <a:endParaRPr lang="en-US" sz="1050" dirty="0"/>
          </a:p>
        </p:txBody>
      </p:sp>
      <p:sp>
        <p:nvSpPr>
          <p:cNvPr id="35" name="box-131"/>
          <p:cNvSpPr/>
          <p:nvPr/>
        </p:nvSpPr>
        <p:spPr>
          <a:xfrm>
            <a:off x="10072116" y="5650992"/>
            <a:ext cx="1417320" cy="329184"/>
          </a:xfrm>
          <a:prstGeom prst="roundRect">
            <a:avLst>
              <a:gd name="adj" fmla="val 50000"/>
            </a:avLst>
          </a:prstGeom>
          <a:solidFill>
            <a:srgbClr val="374151"/>
          </a:solidFill>
          <a:ln w="12700">
            <a:solidFill>
              <a:srgbClr val="374151"/>
            </a:solidFill>
            <a:prstDash val="solid"/>
          </a:ln>
        </p:spPr>
      </p:sp>
      <p:sp>
        <p:nvSpPr>
          <p:cNvPr id="36" name="text-132"/>
          <p:cNvSpPr txBox="1"/>
          <p:nvPr/>
        </p:nvSpPr>
        <p:spPr>
          <a:xfrm>
            <a:off x="10072116" y="5650992"/>
            <a:ext cx="1417320" cy="329184"/>
          </a:xfrm>
          <a:prstGeom prst="rect">
            <a:avLst/>
          </a:prstGeom>
          <a:noFill/>
          <a:ln/>
        </p:spPr>
        <p:txBody>
          <a:bodyPr wrap="square" lIns="0" tIns="0" rIns="0" bIns="0" rtlCol="0" anchor="ctr"/>
          <a:lstStyle/>
          <a:p>
            <a:pPr algn="ctr" indent="0" marL="0">
              <a:buNone/>
            </a:pPr>
            <a:r>
              <a:rPr lang="en-US" sz="1050" dirty="0">
                <a:solidFill>
                  <a:srgbClr val="E5E7EB"/>
                </a:solidFill>
              </a:rPr>
              <a:t>Report verified</a:t>
            </a:r>
            <a:endParaRPr lang="en-US" sz="10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ARIA">
  <a:themeElements>
    <a:clrScheme name="ARIA">
      <a:dk1>
        <a:srgbClr val="111827"/>
      </a:dk1>
      <a:lt1>
        <a:srgbClr val="FFFFFF"/>
      </a:lt1>
      <a:dk2>
        <a:srgbClr val="1F2937"/>
      </a:dk2>
      <a:lt2>
        <a:srgbClr val="F3F4F6"/>
      </a:lt2>
      <a:accent1>
        <a:srgbClr val="7C3AED"/>
      </a:accent1>
      <a:accent2>
        <a:srgbClr val="2563EB"/>
      </a:accent2>
      <a:accent3>
        <a:srgbClr val="F59E0B"/>
      </a:accent3>
      <a:accent4>
        <a:srgbClr val="10B981"/>
      </a:accent4>
      <a:accent5>
        <a:srgbClr val="DC2626"/>
      </a:accent5>
      <a:accent6>
        <a:srgbClr val="64748B"/>
      </a:accent6>
      <a:hlink>
        <a:srgbClr val="2563EB"/>
      </a:hlink>
      <a:folHlink>
        <a:srgbClr val="7C3AED"/>
      </a:folHlink>
    </a:clrScheme>
    <a:fontScheme name="AR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 — technical overview</dc:title>
  <dc:subject>PptxGenJS Presentation</dc:subject>
  <dc:creator>ARIA team</dc:creator>
  <cp:lastModifiedBy>ARIA team</cp:lastModifiedBy>
  <cp:revision>1</cp:revision>
  <dcterms:created xsi:type="dcterms:W3CDTF">2026-10-16T03:55:29Z</dcterms:created>
  <dcterms:modified xsi:type="dcterms:W3CDTF">2026-10-16T03:55:29Z</dcterms:modified>
</cp:coreProperties>
</file>