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chnical overview" id="{e3df710a-9937-7df5-9d6d-4b57852130c8}">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cell runs a fixed PLC sequence. At step 30 the close command Y4 is on but the closed sensor B21 never confirms within 1.5 s, so the PLC raises A-301 and stops. The operator sees only the stop. ARIA's job is to tell which of five physical causes is behind the same alarm, using machine evidence and safe tests. All plant data in the demo 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GPT-Live owns the conversation over WebRTC. The moment it hears real work it delegates to the backend; the Agents SDK runner streams the ARIA agent on gpt-5.6-terra. Luna handles the cheap, fast jobs; text-embedding-3-large backs both the manual RAG and the incident memory. Results go back into the call as commentary to speak and thinking for background. The same stack powers the evals: a simulated GPT-Live caller talks to ARIA and terra grades the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Gather evidence, register hypotheses from the fault model, pick the permitted test with the highest information gain, run it against the simulated PLC, update every hypothesis with the real result, and check the stop rules. No → next test. Yes → write the report, re-read and verify it, then GPT-Live speaks it. The stop thresholds, safety preconditions and verification checks are in code, so the model cannot talk its way past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ARIA · industrial voice copilot · demo uses simulated plant data</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Technical use case</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Robotic palletizing cell — gripper-close fault A-301 at step 30</a:t>
            </a:r>
            <a:endParaRPr lang="en-US" sz="2800" dirty="0"/>
          </a:p>
        </p:txBody>
      </p:sp>
      <p:sp>
        <p:nvSpPr>
          <p:cNvPr id="4" name="node-1"/>
          <p:cNvSpPr/>
          <p:nvPr/>
        </p:nvSpPr>
        <p:spPr>
          <a:xfrm>
            <a:off x="548640" y="1554480"/>
            <a:ext cx="1965960" cy="960120"/>
          </a:xfrm>
          <a:prstGeom prst="roundRect">
            <a:avLst>
              <a:gd name="adj" fmla="val 9524"/>
            </a:avLst>
          </a:prstGeom>
          <a:solidFill>
            <a:srgbClr val="F3F4F6"/>
          </a:solidFill>
          <a:ln w="19050">
            <a:solidFill>
              <a:srgbClr val="64748B"/>
            </a:solidFill>
            <a:prstDash val="solid"/>
          </a:ln>
        </p:spPr>
      </p:sp>
      <p:sp>
        <p:nvSpPr>
          <p:cNvPr id="5" name="node-text-2"/>
          <p:cNvSpPr txBox="1"/>
          <p:nvPr/>
        </p:nvSpPr>
        <p:spPr>
          <a:xfrm>
            <a:off x="594360" y="1581912"/>
            <a:ext cx="1874520" cy="905256"/>
          </a:xfrm>
          <a:prstGeom prst="rect">
            <a:avLst/>
          </a:prstGeom>
          <a:noFill/>
          <a:ln/>
        </p:spPr>
        <p:txBody>
          <a:bodyPr wrap="square" lIns="635" tIns="635" rIns="635" bIns="635" rtlCol="0" anchor="ctr"/>
          <a:lstStyle/>
          <a:p>
            <a:pPr algn="ctr" indent="0" marL="0">
              <a:buNone/>
            </a:pPr>
            <a:r>
              <a:rPr lang="en-US" sz="1300" b="1" dirty="0">
                <a:solidFill>
                  <a:schemeClr val="tx1"/>
                </a:solidFill>
              </a:rPr>
              <a:t>Infeed conveyor</a:t>
            </a:r>
            <a:endParaRPr lang="en-US" sz="1300" dirty="0"/>
          </a:p>
          <a:p>
            <a:pPr algn="ctr" indent="0" marL="0">
              <a:buNone/>
            </a:pPr>
            <a:r>
              <a:rPr lang="en-US" sz="1050" dirty="0">
                <a:solidFill>
                  <a:schemeClr val="tx2"/>
                </a:solidFill>
              </a:rPr>
              <a:t>case arrives</a:t>
            </a:r>
            <a:endParaRPr lang="en-US" sz="1300" dirty="0"/>
          </a:p>
          <a:p>
            <a:pPr algn="ctr" indent="0" marL="0">
              <a:buNone/>
            </a:pPr>
            <a:r>
              <a:rPr lang="en-US" sz="1050" dirty="0">
                <a:solidFill>
                  <a:schemeClr val="tx2"/>
                </a:solidFill>
              </a:rPr>
              <a:t>B11 pick photo-eye</a:t>
            </a:r>
            <a:endParaRPr lang="en-US" sz="1300" dirty="0"/>
          </a:p>
        </p:txBody>
      </p:sp>
      <p:sp>
        <p:nvSpPr>
          <p:cNvPr id="6" name="edge-3"/>
          <p:cNvSpPr/>
          <p:nvPr/>
        </p:nvSpPr>
        <p:spPr>
          <a:xfrm>
            <a:off x="2514600" y="2029968"/>
            <a:ext cx="274320" cy="0"/>
          </a:xfrm>
          <a:prstGeom prst="line">
            <a:avLst/>
          </a:prstGeom>
          <a:noFill/>
          <a:ln w="19050">
            <a:solidFill>
              <a:srgbClr val="64748B"/>
            </a:solidFill>
            <a:prstDash val="solid"/>
            <a:tailEnd type="triangle"/>
          </a:ln>
        </p:spPr>
      </p:sp>
      <p:sp>
        <p:nvSpPr>
          <p:cNvPr id="7" name="edge-4"/>
          <p:cNvSpPr/>
          <p:nvPr/>
        </p:nvSpPr>
        <p:spPr>
          <a:xfrm flipV="1">
            <a:off x="1531620" y="2514600"/>
            <a:ext cx="0" cy="457200"/>
          </a:xfrm>
          <a:prstGeom prst="line">
            <a:avLst/>
          </a:prstGeom>
          <a:noFill/>
          <a:ln w="15875">
            <a:solidFill>
              <a:srgbClr val="2563EB"/>
            </a:solidFill>
            <a:prstDash val="dash"/>
            <a:tailEnd type="triangle"/>
          </a:ln>
        </p:spPr>
      </p:sp>
      <p:sp>
        <p:nvSpPr>
          <p:cNvPr id="8" name="node-5"/>
          <p:cNvSpPr/>
          <p:nvPr/>
        </p:nvSpPr>
        <p:spPr>
          <a:xfrm>
            <a:off x="2788920" y="1554480"/>
            <a:ext cx="1965960" cy="960120"/>
          </a:xfrm>
          <a:prstGeom prst="roundRect">
            <a:avLst>
              <a:gd name="adj" fmla="val 9524"/>
            </a:avLst>
          </a:prstGeom>
          <a:solidFill>
            <a:srgbClr val="F3F4F6"/>
          </a:solidFill>
          <a:ln w="19050">
            <a:solidFill>
              <a:srgbClr val="64748B"/>
            </a:solidFill>
            <a:prstDash val="solid"/>
          </a:ln>
        </p:spPr>
      </p:sp>
      <p:sp>
        <p:nvSpPr>
          <p:cNvPr id="9" name="node-text-6"/>
          <p:cNvSpPr txBox="1"/>
          <p:nvPr/>
        </p:nvSpPr>
        <p:spPr>
          <a:xfrm>
            <a:off x="2834640" y="1581912"/>
            <a:ext cx="1874520" cy="905256"/>
          </a:xfrm>
          <a:prstGeom prst="rect">
            <a:avLst/>
          </a:prstGeom>
          <a:noFill/>
          <a:ln/>
        </p:spPr>
        <p:txBody>
          <a:bodyPr wrap="square" lIns="635" tIns="635" rIns="635" bIns="635" rtlCol="0" anchor="ctr"/>
          <a:lstStyle/>
          <a:p>
            <a:pPr algn="ctr" indent="0" marL="0">
              <a:buNone/>
            </a:pPr>
            <a:r>
              <a:rPr lang="en-US" sz="1300" b="1" dirty="0">
                <a:solidFill>
                  <a:schemeClr val="tx1"/>
                </a:solidFill>
              </a:rPr>
              <a:t>Robot to pick</a:t>
            </a:r>
            <a:endParaRPr lang="en-US" sz="1300" dirty="0"/>
          </a:p>
          <a:p>
            <a:pPr algn="ctr" indent="0" marL="0">
              <a:buNone/>
            </a:pPr>
            <a:r>
              <a:rPr lang="en-US" sz="1050" dirty="0">
                <a:solidFill>
                  <a:schemeClr val="tx2"/>
                </a:solidFill>
              </a:rPr>
              <a:t>S20 · robot at pick</a:t>
            </a:r>
            <a:endParaRPr lang="en-US" sz="1300" dirty="0"/>
          </a:p>
          <a:p>
            <a:pPr algn="ctr" indent="0" marL="0">
              <a:buNone/>
            </a:pPr>
            <a:r>
              <a:rPr lang="en-US" sz="1050" dirty="0">
                <a:solidFill>
                  <a:schemeClr val="tx2"/>
                </a:solidFill>
              </a:rPr>
              <a:t>position confirmed</a:t>
            </a:r>
            <a:endParaRPr lang="en-US" sz="1300" dirty="0"/>
          </a:p>
        </p:txBody>
      </p:sp>
      <p:sp>
        <p:nvSpPr>
          <p:cNvPr id="10" name="edge-7"/>
          <p:cNvSpPr/>
          <p:nvPr/>
        </p:nvSpPr>
        <p:spPr>
          <a:xfrm>
            <a:off x="4754880" y="2029968"/>
            <a:ext cx="274320" cy="0"/>
          </a:xfrm>
          <a:prstGeom prst="line">
            <a:avLst/>
          </a:prstGeom>
          <a:noFill/>
          <a:ln w="19050">
            <a:solidFill>
              <a:srgbClr val="64748B"/>
            </a:solidFill>
            <a:prstDash val="solid"/>
            <a:tailEnd type="triangle"/>
          </a:ln>
        </p:spPr>
      </p:sp>
      <p:sp>
        <p:nvSpPr>
          <p:cNvPr id="11" name="edge-8"/>
          <p:cNvSpPr/>
          <p:nvPr/>
        </p:nvSpPr>
        <p:spPr>
          <a:xfrm flipV="1">
            <a:off x="3771900" y="2514600"/>
            <a:ext cx="0" cy="457200"/>
          </a:xfrm>
          <a:prstGeom prst="line">
            <a:avLst/>
          </a:prstGeom>
          <a:noFill/>
          <a:ln w="15875">
            <a:solidFill>
              <a:srgbClr val="2563EB"/>
            </a:solidFill>
            <a:prstDash val="dash"/>
            <a:tailEnd type="triangle"/>
          </a:ln>
        </p:spPr>
      </p:sp>
      <p:sp>
        <p:nvSpPr>
          <p:cNvPr id="12" name="node-9"/>
          <p:cNvSpPr/>
          <p:nvPr/>
        </p:nvSpPr>
        <p:spPr>
          <a:xfrm>
            <a:off x="5029200" y="1554480"/>
            <a:ext cx="1965960" cy="960120"/>
          </a:xfrm>
          <a:prstGeom prst="roundRect">
            <a:avLst>
              <a:gd name="adj" fmla="val 9524"/>
            </a:avLst>
          </a:prstGeom>
          <a:solidFill>
            <a:srgbClr val="FEE2E2"/>
          </a:solidFill>
          <a:ln w="19050">
            <a:solidFill>
              <a:srgbClr val="DC2626"/>
            </a:solidFill>
            <a:prstDash val="solid"/>
          </a:ln>
        </p:spPr>
      </p:sp>
      <p:sp>
        <p:nvSpPr>
          <p:cNvPr id="13" name="node-text-10"/>
          <p:cNvSpPr txBox="1"/>
          <p:nvPr/>
        </p:nvSpPr>
        <p:spPr>
          <a:xfrm>
            <a:off x="5074920" y="1581912"/>
            <a:ext cx="1874520" cy="905256"/>
          </a:xfrm>
          <a:prstGeom prst="rect">
            <a:avLst/>
          </a:prstGeom>
          <a:noFill/>
          <a:ln/>
        </p:spPr>
        <p:txBody>
          <a:bodyPr wrap="square" lIns="635" tIns="635" rIns="635" bIns="635" rtlCol="0" anchor="ctr"/>
          <a:lstStyle/>
          <a:p>
            <a:pPr algn="ctr" indent="0" marL="0">
              <a:buNone/>
            </a:pPr>
            <a:r>
              <a:rPr lang="en-US" sz="1300" b="1" dirty="0">
                <a:solidFill>
                  <a:schemeClr val="tx1"/>
                </a:solidFill>
              </a:rPr>
              <a:t>Gripper close · S30</a:t>
            </a:r>
            <a:endParaRPr lang="en-US" sz="1300" dirty="0"/>
          </a:p>
          <a:p>
            <a:pPr algn="ctr" indent="0" marL="0">
              <a:buNone/>
            </a:pPr>
            <a:r>
              <a:rPr lang="en-US" sz="1050" dirty="0">
                <a:solidFill>
                  <a:schemeClr val="tx2"/>
                </a:solidFill>
              </a:rPr>
              <a:t>Y4 valve → jaws</a:t>
            </a:r>
            <a:endParaRPr lang="en-US" sz="1300" dirty="0"/>
          </a:p>
          <a:p>
            <a:pPr algn="ctr" indent="0" marL="0">
              <a:buNone/>
            </a:pPr>
            <a:r>
              <a:rPr lang="en-US" sz="1050" dirty="0">
                <a:solidFill>
                  <a:schemeClr val="tx2"/>
                </a:solidFill>
              </a:rPr>
              <a:t>B21 must confirm ≤ 1.5 s</a:t>
            </a:r>
            <a:endParaRPr lang="en-US" sz="1300" dirty="0"/>
          </a:p>
        </p:txBody>
      </p:sp>
      <p:sp>
        <p:nvSpPr>
          <p:cNvPr id="14" name="edge-11"/>
          <p:cNvSpPr/>
          <p:nvPr/>
        </p:nvSpPr>
        <p:spPr>
          <a:xfrm>
            <a:off x="6995160" y="2029968"/>
            <a:ext cx="274320" cy="0"/>
          </a:xfrm>
          <a:prstGeom prst="line">
            <a:avLst/>
          </a:prstGeom>
          <a:noFill/>
          <a:ln w="19050">
            <a:solidFill>
              <a:srgbClr val="64748B"/>
            </a:solidFill>
            <a:prstDash val="solid"/>
            <a:tailEnd type="triangle"/>
          </a:ln>
        </p:spPr>
      </p:sp>
      <p:sp>
        <p:nvSpPr>
          <p:cNvPr id="15" name="edge-12"/>
          <p:cNvSpPr/>
          <p:nvPr/>
        </p:nvSpPr>
        <p:spPr>
          <a:xfrm flipV="1">
            <a:off x="6012180" y="2514600"/>
            <a:ext cx="0" cy="457200"/>
          </a:xfrm>
          <a:prstGeom prst="line">
            <a:avLst/>
          </a:prstGeom>
          <a:noFill/>
          <a:ln w="15875">
            <a:solidFill>
              <a:srgbClr val="2563EB"/>
            </a:solidFill>
            <a:prstDash val="dash"/>
            <a:tailEnd type="triangle"/>
          </a:ln>
        </p:spPr>
      </p:sp>
      <p:sp>
        <p:nvSpPr>
          <p:cNvPr id="16" name="node-13"/>
          <p:cNvSpPr/>
          <p:nvPr/>
        </p:nvSpPr>
        <p:spPr>
          <a:xfrm>
            <a:off x="7269480" y="1554480"/>
            <a:ext cx="1965960" cy="960120"/>
          </a:xfrm>
          <a:prstGeom prst="roundRect">
            <a:avLst>
              <a:gd name="adj" fmla="val 9524"/>
            </a:avLst>
          </a:prstGeom>
          <a:solidFill>
            <a:srgbClr val="F3F4F6"/>
          </a:solidFill>
          <a:ln w="19050">
            <a:solidFill>
              <a:srgbClr val="64748B"/>
            </a:solidFill>
            <a:prstDash val="solid"/>
          </a:ln>
        </p:spPr>
      </p:sp>
      <p:sp>
        <p:nvSpPr>
          <p:cNvPr id="17" name="node-text-14"/>
          <p:cNvSpPr txBox="1"/>
          <p:nvPr/>
        </p:nvSpPr>
        <p:spPr>
          <a:xfrm>
            <a:off x="7315200" y="1581912"/>
            <a:ext cx="1874520" cy="905256"/>
          </a:xfrm>
          <a:prstGeom prst="rect">
            <a:avLst/>
          </a:prstGeom>
          <a:noFill/>
          <a:ln/>
        </p:spPr>
        <p:txBody>
          <a:bodyPr wrap="square" lIns="635" tIns="635" rIns="635" bIns="635" rtlCol="0" anchor="ctr"/>
          <a:lstStyle/>
          <a:p>
            <a:pPr algn="ctr" indent="0" marL="0">
              <a:buNone/>
            </a:pPr>
            <a:r>
              <a:rPr lang="en-US" sz="1300" b="1" dirty="0">
                <a:solidFill>
                  <a:schemeClr val="tx1"/>
                </a:solidFill>
              </a:rPr>
              <a:t>Place on pallet</a:t>
            </a:r>
            <a:endParaRPr lang="en-US" sz="1300" dirty="0"/>
          </a:p>
          <a:p>
            <a:pPr algn="ctr" indent="0" marL="0">
              <a:buNone/>
            </a:pPr>
            <a:r>
              <a:rPr lang="en-US" sz="1050" dirty="0">
                <a:solidFill>
                  <a:schemeClr val="tx2"/>
                </a:solidFill>
              </a:rPr>
              <a:t>S40 · layer pattern</a:t>
            </a:r>
            <a:endParaRPr lang="en-US" sz="1300" dirty="0"/>
          </a:p>
          <a:p>
            <a:pPr algn="ctr" indent="0" marL="0">
              <a:buNone/>
            </a:pPr>
            <a:r>
              <a:rPr lang="en-US" sz="1050" dirty="0">
                <a:solidFill>
                  <a:schemeClr val="tx2"/>
                </a:solidFill>
              </a:rPr>
              <a:t>light curtain clear</a:t>
            </a:r>
            <a:endParaRPr lang="en-US" sz="1300" dirty="0"/>
          </a:p>
        </p:txBody>
      </p:sp>
      <p:sp>
        <p:nvSpPr>
          <p:cNvPr id="18" name="edge-15"/>
          <p:cNvSpPr/>
          <p:nvPr/>
        </p:nvSpPr>
        <p:spPr>
          <a:xfrm>
            <a:off x="9235440" y="2029968"/>
            <a:ext cx="274320" cy="0"/>
          </a:xfrm>
          <a:prstGeom prst="line">
            <a:avLst/>
          </a:prstGeom>
          <a:noFill/>
          <a:ln w="19050">
            <a:solidFill>
              <a:srgbClr val="64748B"/>
            </a:solidFill>
            <a:prstDash val="solid"/>
            <a:tailEnd type="triangle"/>
          </a:ln>
        </p:spPr>
      </p:sp>
      <p:sp>
        <p:nvSpPr>
          <p:cNvPr id="19" name="edge-16"/>
          <p:cNvSpPr/>
          <p:nvPr/>
        </p:nvSpPr>
        <p:spPr>
          <a:xfrm flipV="1">
            <a:off x="8252460" y="2514600"/>
            <a:ext cx="0" cy="457200"/>
          </a:xfrm>
          <a:prstGeom prst="line">
            <a:avLst/>
          </a:prstGeom>
          <a:noFill/>
          <a:ln w="15875">
            <a:solidFill>
              <a:srgbClr val="2563EB"/>
            </a:solidFill>
            <a:prstDash val="dash"/>
            <a:tailEnd type="triangle"/>
          </a:ln>
        </p:spPr>
      </p:sp>
      <p:sp>
        <p:nvSpPr>
          <p:cNvPr id="20" name="node-17"/>
          <p:cNvSpPr/>
          <p:nvPr/>
        </p:nvSpPr>
        <p:spPr>
          <a:xfrm>
            <a:off x="9509760" y="1554480"/>
            <a:ext cx="1965960" cy="960120"/>
          </a:xfrm>
          <a:prstGeom prst="roundRect">
            <a:avLst>
              <a:gd name="adj" fmla="val 9524"/>
            </a:avLst>
          </a:prstGeom>
          <a:solidFill>
            <a:srgbClr val="F3F4F6"/>
          </a:solidFill>
          <a:ln w="19050">
            <a:solidFill>
              <a:srgbClr val="64748B"/>
            </a:solidFill>
            <a:prstDash val="solid"/>
          </a:ln>
        </p:spPr>
      </p:sp>
      <p:sp>
        <p:nvSpPr>
          <p:cNvPr id="21" name="node-text-18"/>
          <p:cNvSpPr txBox="1"/>
          <p:nvPr/>
        </p:nvSpPr>
        <p:spPr>
          <a:xfrm>
            <a:off x="9555480" y="1581912"/>
            <a:ext cx="1874520" cy="905256"/>
          </a:xfrm>
          <a:prstGeom prst="rect">
            <a:avLst/>
          </a:prstGeom>
          <a:noFill/>
          <a:ln/>
        </p:spPr>
        <p:txBody>
          <a:bodyPr wrap="square" lIns="635" tIns="635" rIns="635" bIns="635" rtlCol="0" anchor="ctr"/>
          <a:lstStyle/>
          <a:p>
            <a:pPr algn="ctr" indent="0" marL="0">
              <a:buNone/>
            </a:pPr>
            <a:r>
              <a:rPr lang="en-US" sz="1300" b="1" dirty="0">
                <a:solidFill>
                  <a:schemeClr val="tx1"/>
                </a:solidFill>
              </a:rPr>
              <a:t>Return home</a:t>
            </a:r>
            <a:endParaRPr lang="en-US" sz="1300" dirty="0"/>
          </a:p>
          <a:p>
            <a:pPr algn="ctr" indent="0" marL="0">
              <a:buNone/>
            </a:pPr>
            <a:r>
              <a:rPr lang="en-US" sz="1050" dirty="0">
                <a:solidFill>
                  <a:schemeClr val="tx2"/>
                </a:solidFill>
              </a:rPr>
              <a:t>S50 · next cycle</a:t>
            </a:r>
            <a:endParaRPr lang="en-US" sz="1300" dirty="0"/>
          </a:p>
        </p:txBody>
      </p:sp>
      <p:sp>
        <p:nvSpPr>
          <p:cNvPr id="22" name="edge-19"/>
          <p:cNvSpPr/>
          <p:nvPr/>
        </p:nvSpPr>
        <p:spPr>
          <a:xfrm flipV="1">
            <a:off x="10492740" y="2514600"/>
            <a:ext cx="0" cy="457200"/>
          </a:xfrm>
          <a:prstGeom prst="line">
            <a:avLst/>
          </a:prstGeom>
          <a:noFill/>
          <a:ln w="15875">
            <a:solidFill>
              <a:srgbClr val="2563EB"/>
            </a:solidFill>
            <a:prstDash val="dash"/>
            <a:tailEnd type="triangle"/>
          </a:ln>
        </p:spPr>
      </p:sp>
      <p:sp>
        <p:nvSpPr>
          <p:cNvPr id="23" name="node-20"/>
          <p:cNvSpPr/>
          <p:nvPr/>
        </p:nvSpPr>
        <p:spPr>
          <a:xfrm>
            <a:off x="548640" y="2971800"/>
            <a:ext cx="11064240" cy="566928"/>
          </a:xfrm>
          <a:prstGeom prst="roundRect">
            <a:avLst>
              <a:gd name="adj" fmla="val 16129"/>
            </a:avLst>
          </a:prstGeom>
          <a:solidFill>
            <a:srgbClr val="DBEAFE"/>
          </a:solidFill>
          <a:ln w="19050">
            <a:solidFill>
              <a:srgbClr val="2563EB"/>
            </a:solidFill>
            <a:prstDash val="solid"/>
          </a:ln>
        </p:spPr>
      </p:sp>
      <p:sp>
        <p:nvSpPr>
          <p:cNvPr id="24" name="node-text-21"/>
          <p:cNvSpPr txBox="1"/>
          <p:nvPr/>
        </p:nvSpPr>
        <p:spPr>
          <a:xfrm>
            <a:off x="594360" y="2999232"/>
            <a:ext cx="10972800" cy="512064"/>
          </a:xfrm>
          <a:prstGeom prst="rect">
            <a:avLst/>
          </a:prstGeom>
          <a:noFill/>
          <a:ln/>
        </p:spPr>
        <p:txBody>
          <a:bodyPr wrap="square" lIns="635" tIns="635" rIns="635" bIns="635" rtlCol="0" anchor="ctr"/>
          <a:lstStyle/>
          <a:p>
            <a:pPr algn="ctr" indent="0" marL="0">
              <a:buNone/>
            </a:pPr>
            <a:r>
              <a:rPr lang="en-US" sz="1300" b="1" dirty="0">
                <a:solidFill>
                  <a:schemeClr val="tx1"/>
                </a:solidFill>
              </a:rPr>
              <a:t>PLC sequence controller</a:t>
            </a:r>
            <a:endParaRPr lang="en-US" sz="1300" dirty="0"/>
          </a:p>
          <a:p>
            <a:pPr algn="ctr" indent="0" marL="0">
              <a:buNone/>
            </a:pPr>
            <a:r>
              <a:rPr lang="en-US" sz="1150" dirty="0">
                <a:solidFill>
                  <a:schemeClr val="tx2"/>
                </a:solidFill>
              </a:rPr>
              <a:t>checks each step condition · enforces interlocks (light curtain, robot home, air pressure) · raises alarms</a:t>
            </a:r>
            <a:endParaRPr lang="en-US" sz="1300" dirty="0"/>
          </a:p>
        </p:txBody>
      </p:sp>
      <p:sp>
        <p:nvSpPr>
          <p:cNvPr id="25" name="node-22"/>
          <p:cNvSpPr/>
          <p:nvPr/>
        </p:nvSpPr>
        <p:spPr>
          <a:xfrm>
            <a:off x="548640" y="3886200"/>
            <a:ext cx="4937760" cy="2286000"/>
          </a:xfrm>
          <a:prstGeom prst="roundRect">
            <a:avLst>
              <a:gd name="adj" fmla="val 4000"/>
            </a:avLst>
          </a:prstGeom>
          <a:solidFill>
            <a:srgbClr val="FFFFFF"/>
          </a:solidFill>
          <a:ln w="19050">
            <a:solidFill>
              <a:srgbClr val="DC2626"/>
            </a:solidFill>
            <a:prstDash val="solid"/>
          </a:ln>
        </p:spPr>
      </p:sp>
      <p:sp>
        <p:nvSpPr>
          <p:cNvPr id="26" name="node-text-23"/>
          <p:cNvSpPr txBox="1"/>
          <p:nvPr/>
        </p:nvSpPr>
        <p:spPr>
          <a:xfrm>
            <a:off x="594360" y="3913632"/>
            <a:ext cx="4846320" cy="2231136"/>
          </a:xfrm>
          <a:prstGeom prst="rect">
            <a:avLst/>
          </a:prstGeom>
          <a:noFill/>
          <a:ln/>
        </p:spPr>
        <p:txBody>
          <a:bodyPr wrap="square" lIns="635" tIns="635" rIns="635" bIns="635" rtlCol="0" anchor="ctr"/>
          <a:lstStyle/>
          <a:p>
            <a:pPr algn="l" indent="0" marL="0">
              <a:buNone/>
            </a:pPr>
            <a:endParaRPr lang="en-US" sz="1300" dirty="0"/>
          </a:p>
        </p:txBody>
      </p:sp>
      <p:sp>
        <p:nvSpPr>
          <p:cNvPr id="27" name="text-24"/>
          <p:cNvSpPr txBox="1"/>
          <p:nvPr/>
        </p:nvSpPr>
        <p:spPr>
          <a:xfrm>
            <a:off x="731520" y="3977640"/>
            <a:ext cx="4572000" cy="365760"/>
          </a:xfrm>
          <a:prstGeom prst="rect">
            <a:avLst/>
          </a:prstGeom>
          <a:noFill/>
          <a:ln/>
        </p:spPr>
        <p:txBody>
          <a:bodyPr wrap="square" lIns="762" tIns="762" rIns="762" bIns="762" rtlCol="0" anchor="t"/>
          <a:lstStyle/>
          <a:p>
            <a:pPr algn="l" indent="0" marL="0">
              <a:buNone/>
            </a:pPr>
            <a:r>
              <a:rPr lang="en-US" sz="1500" b="1" dirty="0">
                <a:solidFill>
                  <a:schemeClr val="accent5"/>
                </a:solidFill>
              </a:rPr>
              <a:t>What the PLC sees at the stop</a:t>
            </a:r>
            <a:endParaRPr lang="en-US" sz="1500" dirty="0"/>
          </a:p>
        </p:txBody>
      </p:sp>
      <p:sp>
        <p:nvSpPr>
          <p:cNvPr id="28" name="text-25"/>
          <p:cNvSpPr txBox="1"/>
          <p:nvPr/>
        </p:nvSpPr>
        <p:spPr>
          <a:xfrm>
            <a:off x="731520" y="4434840"/>
            <a:ext cx="2377440" cy="365760"/>
          </a:xfrm>
          <a:prstGeom prst="rect">
            <a:avLst/>
          </a:prstGeom>
          <a:noFill/>
          <a:ln/>
        </p:spPr>
        <p:txBody>
          <a:bodyPr wrap="square" lIns="762" tIns="762" rIns="762" bIns="762" rtlCol="0" anchor="ctr"/>
          <a:lstStyle/>
          <a:p>
            <a:pPr algn="l" indent="0" marL="0">
              <a:buNone/>
            </a:pPr>
            <a:r>
              <a:rPr lang="en-US" sz="1300" dirty="0">
                <a:solidFill>
                  <a:schemeClr val="tx1"/>
                </a:solidFill>
                <a:latin typeface="Consolas" pitchFamily="34" charset="0"/>
                <a:ea typeface="Consolas" pitchFamily="34" charset="-122"/>
                <a:cs typeface="Consolas" pitchFamily="34" charset="-120"/>
              </a:rPr>
              <a:t>Y4  close command</a:t>
            </a:r>
            <a:endParaRPr lang="en-US" sz="1300" dirty="0"/>
          </a:p>
        </p:txBody>
      </p:sp>
      <p:sp>
        <p:nvSpPr>
          <p:cNvPr id="29" name="text-26"/>
          <p:cNvSpPr txBox="1"/>
          <p:nvPr/>
        </p:nvSpPr>
        <p:spPr>
          <a:xfrm>
            <a:off x="3108960" y="4434840"/>
            <a:ext cx="2240280" cy="365760"/>
          </a:xfrm>
          <a:prstGeom prst="rect">
            <a:avLst/>
          </a:prstGeom>
          <a:noFill/>
          <a:ln/>
        </p:spPr>
        <p:txBody>
          <a:bodyPr wrap="square" lIns="762" tIns="762" rIns="762" bIns="762" rtlCol="0" anchor="ctr"/>
          <a:lstStyle/>
          <a:p>
            <a:pPr algn="l" indent="0" marL="0">
              <a:buNone/>
            </a:pPr>
            <a:r>
              <a:rPr lang="en-US" sz="1300" b="1" dirty="0">
                <a:solidFill>
                  <a:srgbClr val="10B981"/>
                </a:solidFill>
              </a:rPr>
              <a:t>ON</a:t>
            </a:r>
            <a:endParaRPr lang="en-US" sz="1300" dirty="0"/>
          </a:p>
        </p:txBody>
      </p:sp>
      <p:sp>
        <p:nvSpPr>
          <p:cNvPr id="30" name="text-27"/>
          <p:cNvSpPr txBox="1"/>
          <p:nvPr/>
        </p:nvSpPr>
        <p:spPr>
          <a:xfrm>
            <a:off x="731520" y="4846320"/>
            <a:ext cx="2377440" cy="365760"/>
          </a:xfrm>
          <a:prstGeom prst="rect">
            <a:avLst/>
          </a:prstGeom>
          <a:noFill/>
          <a:ln/>
        </p:spPr>
        <p:txBody>
          <a:bodyPr wrap="square" lIns="762" tIns="762" rIns="762" bIns="762" rtlCol="0" anchor="ctr"/>
          <a:lstStyle/>
          <a:p>
            <a:pPr algn="l" indent="0" marL="0">
              <a:buNone/>
            </a:pPr>
            <a:r>
              <a:rPr lang="en-US" sz="1300" dirty="0">
                <a:solidFill>
                  <a:schemeClr val="tx1"/>
                </a:solidFill>
                <a:latin typeface="Consolas" pitchFamily="34" charset="0"/>
                <a:ea typeface="Consolas" pitchFamily="34" charset="-122"/>
                <a:cs typeface="Consolas" pitchFamily="34" charset="-120"/>
              </a:rPr>
              <a:t>B21 closed feedback</a:t>
            </a:r>
            <a:endParaRPr lang="en-US" sz="1300" dirty="0"/>
          </a:p>
        </p:txBody>
      </p:sp>
      <p:sp>
        <p:nvSpPr>
          <p:cNvPr id="31" name="text-28"/>
          <p:cNvSpPr txBox="1"/>
          <p:nvPr/>
        </p:nvSpPr>
        <p:spPr>
          <a:xfrm>
            <a:off x="3108960" y="4846320"/>
            <a:ext cx="2240280" cy="365760"/>
          </a:xfrm>
          <a:prstGeom prst="rect">
            <a:avLst/>
          </a:prstGeom>
          <a:noFill/>
          <a:ln/>
        </p:spPr>
        <p:txBody>
          <a:bodyPr wrap="square" lIns="762" tIns="762" rIns="762" bIns="762" rtlCol="0" anchor="ctr"/>
          <a:lstStyle/>
          <a:p>
            <a:pPr algn="l" indent="0" marL="0">
              <a:buNone/>
            </a:pPr>
            <a:r>
              <a:rPr lang="en-US" sz="1300" b="1" dirty="0">
                <a:solidFill>
                  <a:srgbClr val="DC2626"/>
                </a:solidFill>
              </a:rPr>
              <a:t>OFF</a:t>
            </a:r>
            <a:endParaRPr lang="en-US" sz="1300" dirty="0"/>
          </a:p>
        </p:txBody>
      </p:sp>
      <p:sp>
        <p:nvSpPr>
          <p:cNvPr id="32" name="text-29"/>
          <p:cNvSpPr txBox="1"/>
          <p:nvPr/>
        </p:nvSpPr>
        <p:spPr>
          <a:xfrm>
            <a:off x="731520" y="5257800"/>
            <a:ext cx="2377440" cy="365760"/>
          </a:xfrm>
          <a:prstGeom prst="rect">
            <a:avLst/>
          </a:prstGeom>
          <a:noFill/>
          <a:ln/>
        </p:spPr>
        <p:txBody>
          <a:bodyPr wrap="square" lIns="762" tIns="762" rIns="762" bIns="762" rtlCol="0" anchor="ctr"/>
          <a:lstStyle/>
          <a:p>
            <a:pPr algn="l" indent="0" marL="0">
              <a:buNone/>
            </a:pPr>
            <a:r>
              <a:rPr lang="en-US" sz="1300" dirty="0">
                <a:solidFill>
                  <a:schemeClr val="tx1"/>
                </a:solidFill>
                <a:latin typeface="Consolas" pitchFamily="34" charset="0"/>
                <a:ea typeface="Consolas" pitchFamily="34" charset="-122"/>
                <a:cs typeface="Consolas" pitchFamily="34" charset="-120"/>
              </a:rPr>
              <a:t>Condition timeout</a:t>
            </a:r>
            <a:endParaRPr lang="en-US" sz="1300" dirty="0"/>
          </a:p>
        </p:txBody>
      </p:sp>
      <p:sp>
        <p:nvSpPr>
          <p:cNvPr id="33" name="text-30"/>
          <p:cNvSpPr txBox="1"/>
          <p:nvPr/>
        </p:nvSpPr>
        <p:spPr>
          <a:xfrm>
            <a:off x="3108960" y="5257800"/>
            <a:ext cx="2240280" cy="365760"/>
          </a:xfrm>
          <a:prstGeom prst="rect">
            <a:avLst/>
          </a:prstGeom>
          <a:noFill/>
          <a:ln/>
        </p:spPr>
        <p:txBody>
          <a:bodyPr wrap="square" lIns="762" tIns="762" rIns="762" bIns="762" rtlCol="0" anchor="ctr"/>
          <a:lstStyle/>
          <a:p>
            <a:pPr algn="l" indent="0" marL="0">
              <a:buNone/>
            </a:pPr>
            <a:r>
              <a:rPr lang="en-US" sz="1300" b="1" dirty="0">
                <a:solidFill>
                  <a:srgbClr val="F59E0B"/>
                </a:solidFill>
              </a:rPr>
              <a:t>1.5 s exceeded</a:t>
            </a:r>
            <a:endParaRPr lang="en-US" sz="1300" dirty="0"/>
          </a:p>
        </p:txBody>
      </p:sp>
      <p:sp>
        <p:nvSpPr>
          <p:cNvPr id="34" name="text-31"/>
          <p:cNvSpPr txBox="1"/>
          <p:nvPr/>
        </p:nvSpPr>
        <p:spPr>
          <a:xfrm>
            <a:off x="731520" y="5669280"/>
            <a:ext cx="2377440" cy="365760"/>
          </a:xfrm>
          <a:prstGeom prst="rect">
            <a:avLst/>
          </a:prstGeom>
          <a:noFill/>
          <a:ln/>
        </p:spPr>
        <p:txBody>
          <a:bodyPr wrap="square" lIns="762" tIns="762" rIns="762" bIns="762" rtlCol="0" anchor="ctr"/>
          <a:lstStyle/>
          <a:p>
            <a:pPr algn="l" indent="0" marL="0">
              <a:buNone/>
            </a:pPr>
            <a:r>
              <a:rPr lang="en-US" sz="1300" dirty="0">
                <a:solidFill>
                  <a:schemeClr val="tx1"/>
                </a:solidFill>
                <a:latin typeface="Consolas" pitchFamily="34" charset="0"/>
                <a:ea typeface="Consolas" pitchFamily="34" charset="-122"/>
                <a:cs typeface="Consolas" pitchFamily="34" charset="-120"/>
              </a:rPr>
              <a:t>Result</a:t>
            </a:r>
            <a:endParaRPr lang="en-US" sz="1300" dirty="0"/>
          </a:p>
        </p:txBody>
      </p:sp>
      <p:sp>
        <p:nvSpPr>
          <p:cNvPr id="35" name="text-32"/>
          <p:cNvSpPr txBox="1"/>
          <p:nvPr/>
        </p:nvSpPr>
        <p:spPr>
          <a:xfrm>
            <a:off x="3108960" y="5669280"/>
            <a:ext cx="2240280" cy="365760"/>
          </a:xfrm>
          <a:prstGeom prst="rect">
            <a:avLst/>
          </a:prstGeom>
          <a:noFill/>
          <a:ln/>
        </p:spPr>
        <p:txBody>
          <a:bodyPr wrap="square" lIns="762" tIns="762" rIns="762" bIns="762" rtlCol="0" anchor="ctr"/>
          <a:lstStyle/>
          <a:p>
            <a:pPr algn="l" indent="0" marL="0">
              <a:buNone/>
            </a:pPr>
            <a:r>
              <a:rPr lang="en-US" sz="1300" b="1" dirty="0">
                <a:solidFill>
                  <a:srgbClr val="DC2626"/>
                </a:solidFill>
              </a:rPr>
              <a:t>A-301 · cell FAULT at S30</a:t>
            </a:r>
            <a:endParaRPr lang="en-US" sz="1300" dirty="0"/>
          </a:p>
        </p:txBody>
      </p:sp>
      <p:sp>
        <p:nvSpPr>
          <p:cNvPr id="36" name="edge-33"/>
          <p:cNvSpPr/>
          <p:nvPr/>
        </p:nvSpPr>
        <p:spPr>
          <a:xfrm>
            <a:off x="5486400" y="5029200"/>
            <a:ext cx="822960" cy="0"/>
          </a:xfrm>
          <a:prstGeom prst="line">
            <a:avLst/>
          </a:prstGeom>
          <a:noFill/>
          <a:ln w="25400">
            <a:solidFill>
              <a:srgbClr val="7C3AED"/>
            </a:solidFill>
            <a:prstDash val="solid"/>
            <a:tailEnd type="triangle"/>
          </a:ln>
        </p:spPr>
      </p:sp>
      <p:sp>
        <p:nvSpPr>
          <p:cNvPr id="37" name="text-34"/>
          <p:cNvSpPr txBox="1"/>
          <p:nvPr/>
        </p:nvSpPr>
        <p:spPr>
          <a:xfrm>
            <a:off x="5532120" y="4617720"/>
            <a:ext cx="777240" cy="365760"/>
          </a:xfrm>
          <a:prstGeom prst="rect">
            <a:avLst/>
          </a:prstGeom>
          <a:noFill/>
          <a:ln/>
        </p:spPr>
        <p:txBody>
          <a:bodyPr wrap="square" lIns="762" tIns="762" rIns="762" bIns="762" rtlCol="0" anchor="t"/>
          <a:lstStyle/>
          <a:p>
            <a:pPr algn="ctr" indent="0" marL="0">
              <a:buNone/>
            </a:pPr>
            <a:r>
              <a:rPr lang="en-US" sz="1200" b="1" dirty="0">
                <a:solidFill>
                  <a:schemeClr val="accent1"/>
                </a:solidFill>
              </a:rPr>
              <a:t>ARIA</a:t>
            </a:r>
            <a:endParaRPr lang="en-US" sz="1200" dirty="0"/>
          </a:p>
        </p:txBody>
      </p:sp>
      <p:sp>
        <p:nvSpPr>
          <p:cNvPr id="38" name="node-35"/>
          <p:cNvSpPr/>
          <p:nvPr/>
        </p:nvSpPr>
        <p:spPr>
          <a:xfrm>
            <a:off x="6309360" y="3886200"/>
            <a:ext cx="5303520" cy="2286000"/>
          </a:xfrm>
          <a:prstGeom prst="roundRect">
            <a:avLst>
              <a:gd name="adj" fmla="val 4000"/>
            </a:avLst>
          </a:prstGeom>
          <a:solidFill>
            <a:srgbClr val="EDE9FE"/>
          </a:solidFill>
          <a:ln w="19050">
            <a:solidFill>
              <a:srgbClr val="7C3AED"/>
            </a:solidFill>
            <a:prstDash val="solid"/>
          </a:ln>
        </p:spPr>
      </p:sp>
      <p:sp>
        <p:nvSpPr>
          <p:cNvPr id="39" name="node-text-36"/>
          <p:cNvSpPr txBox="1"/>
          <p:nvPr/>
        </p:nvSpPr>
        <p:spPr>
          <a:xfrm>
            <a:off x="6355080" y="3913632"/>
            <a:ext cx="5212080" cy="2231136"/>
          </a:xfrm>
          <a:prstGeom prst="rect">
            <a:avLst/>
          </a:prstGeom>
          <a:noFill/>
          <a:ln/>
        </p:spPr>
        <p:txBody>
          <a:bodyPr wrap="square" lIns="635" tIns="635" rIns="635" bIns="635" rtlCol="0" anchor="ctr"/>
          <a:lstStyle/>
          <a:p>
            <a:pPr algn="ctr" indent="0" marL="0">
              <a:buNone/>
            </a:pPr>
            <a:endParaRPr lang="en-US" sz="1300" dirty="0"/>
          </a:p>
        </p:txBody>
      </p:sp>
      <p:sp>
        <p:nvSpPr>
          <p:cNvPr id="40" name="text-37"/>
          <p:cNvSpPr txBox="1"/>
          <p:nvPr/>
        </p:nvSpPr>
        <p:spPr>
          <a:xfrm>
            <a:off x="6492240" y="3977640"/>
            <a:ext cx="4937760" cy="365760"/>
          </a:xfrm>
          <a:prstGeom prst="rect">
            <a:avLst/>
          </a:prstGeom>
          <a:noFill/>
          <a:ln/>
        </p:spPr>
        <p:txBody>
          <a:bodyPr wrap="square" lIns="762" tIns="762" rIns="762" bIns="762" rtlCol="0" anchor="t"/>
          <a:lstStyle/>
          <a:p>
            <a:pPr algn="l" indent="0" marL="0">
              <a:buNone/>
            </a:pPr>
            <a:r>
              <a:rPr lang="en-US" sz="1500" b="1" dirty="0">
                <a:solidFill>
                  <a:schemeClr val="accent1"/>
                </a:solidFill>
              </a:rPr>
              <a:t>Candidate causes from the fault model</a:t>
            </a:r>
            <a:endParaRPr lang="en-US" sz="1500" dirty="0"/>
          </a:p>
        </p:txBody>
      </p:sp>
      <p:sp>
        <p:nvSpPr>
          <p:cNvPr id="41" name="chip-38"/>
          <p:cNvSpPr/>
          <p:nvPr/>
        </p:nvSpPr>
        <p:spPr>
          <a:xfrm>
            <a:off x="6492240" y="4434840"/>
            <a:ext cx="2377440" cy="411480"/>
          </a:xfrm>
          <a:prstGeom prst="roundRect">
            <a:avLst>
              <a:gd name="adj" fmla="val 17778"/>
            </a:avLst>
          </a:prstGeom>
          <a:solidFill>
            <a:srgbClr val="FFFFFF"/>
          </a:solidFill>
          <a:ln w="12700">
            <a:solidFill>
              <a:srgbClr val="7C3AED"/>
            </a:solidFill>
            <a:prstDash val="solid"/>
          </a:ln>
        </p:spPr>
      </p:sp>
      <p:sp>
        <p:nvSpPr>
          <p:cNvPr id="42" name="text-39"/>
          <p:cNvSpPr txBox="1"/>
          <p:nvPr/>
        </p:nvSpPr>
        <p:spPr>
          <a:xfrm>
            <a:off x="6492240" y="4434840"/>
            <a:ext cx="2377440" cy="411480"/>
          </a:xfrm>
          <a:prstGeom prst="rect">
            <a:avLst/>
          </a:prstGeom>
          <a:noFill/>
          <a:ln/>
        </p:spPr>
        <p:txBody>
          <a:bodyPr wrap="square" lIns="381" tIns="381" rIns="381" bIns="381" rtlCol="0" anchor="ctr"/>
          <a:lstStyle/>
          <a:p>
            <a:pPr algn="ctr" indent="0" marL="0">
              <a:buNone/>
            </a:pPr>
            <a:r>
              <a:rPr lang="en-US" sz="1150" dirty="0">
                <a:solidFill>
                  <a:schemeClr val="tx1"/>
                </a:solidFill>
              </a:rPr>
              <a:t>B21 closed sensor misaligned</a:t>
            </a:r>
            <a:endParaRPr lang="en-US" sz="1150" dirty="0"/>
          </a:p>
        </p:txBody>
      </p:sp>
      <p:sp>
        <p:nvSpPr>
          <p:cNvPr id="43" name="chip-40"/>
          <p:cNvSpPr/>
          <p:nvPr/>
        </p:nvSpPr>
        <p:spPr>
          <a:xfrm>
            <a:off x="6492240" y="4937760"/>
            <a:ext cx="2377440" cy="411480"/>
          </a:xfrm>
          <a:prstGeom prst="roundRect">
            <a:avLst>
              <a:gd name="adj" fmla="val 17778"/>
            </a:avLst>
          </a:prstGeom>
          <a:solidFill>
            <a:srgbClr val="FFFFFF"/>
          </a:solidFill>
          <a:ln w="12700">
            <a:solidFill>
              <a:srgbClr val="7C3AED"/>
            </a:solidFill>
            <a:prstDash val="solid"/>
          </a:ln>
        </p:spPr>
      </p:sp>
      <p:sp>
        <p:nvSpPr>
          <p:cNvPr id="44" name="text-41"/>
          <p:cNvSpPr txBox="1"/>
          <p:nvPr/>
        </p:nvSpPr>
        <p:spPr>
          <a:xfrm>
            <a:off x="6492240" y="4937760"/>
            <a:ext cx="2377440" cy="411480"/>
          </a:xfrm>
          <a:prstGeom prst="rect">
            <a:avLst/>
          </a:prstGeom>
          <a:noFill/>
          <a:ln/>
        </p:spPr>
        <p:txBody>
          <a:bodyPr wrap="square" lIns="381" tIns="381" rIns="381" bIns="381" rtlCol="0" anchor="ctr"/>
          <a:lstStyle/>
          <a:p>
            <a:pPr algn="ctr" indent="0" marL="0">
              <a:buNone/>
            </a:pPr>
            <a:r>
              <a:rPr lang="en-US" sz="1150" dirty="0">
                <a:solidFill>
                  <a:schemeClr val="tx1"/>
                </a:solidFill>
              </a:rPr>
              <a:t>Gripper air pressure low</a:t>
            </a:r>
            <a:endParaRPr lang="en-US" sz="1150" dirty="0"/>
          </a:p>
        </p:txBody>
      </p:sp>
      <p:sp>
        <p:nvSpPr>
          <p:cNvPr id="45" name="chip-42"/>
          <p:cNvSpPr/>
          <p:nvPr/>
        </p:nvSpPr>
        <p:spPr>
          <a:xfrm>
            <a:off x="6492240" y="5440680"/>
            <a:ext cx="2377440" cy="411480"/>
          </a:xfrm>
          <a:prstGeom prst="roundRect">
            <a:avLst>
              <a:gd name="adj" fmla="val 17778"/>
            </a:avLst>
          </a:prstGeom>
          <a:solidFill>
            <a:srgbClr val="FFFFFF"/>
          </a:solidFill>
          <a:ln w="12700">
            <a:solidFill>
              <a:srgbClr val="7C3AED"/>
            </a:solidFill>
            <a:prstDash val="solid"/>
          </a:ln>
        </p:spPr>
      </p:sp>
      <p:sp>
        <p:nvSpPr>
          <p:cNvPr id="46" name="text-43"/>
          <p:cNvSpPr txBox="1"/>
          <p:nvPr/>
        </p:nvSpPr>
        <p:spPr>
          <a:xfrm>
            <a:off x="6492240" y="5440680"/>
            <a:ext cx="2377440" cy="411480"/>
          </a:xfrm>
          <a:prstGeom prst="rect">
            <a:avLst/>
          </a:prstGeom>
          <a:noFill/>
          <a:ln/>
        </p:spPr>
        <p:txBody>
          <a:bodyPr wrap="square" lIns="381" tIns="381" rIns="381" bIns="381" rtlCol="0" anchor="ctr"/>
          <a:lstStyle/>
          <a:p>
            <a:pPr algn="ctr" indent="0" marL="0">
              <a:buNone/>
            </a:pPr>
            <a:r>
              <a:rPr lang="en-US" sz="1150" dirty="0">
                <a:solidFill>
                  <a:schemeClr val="tx1"/>
                </a:solidFill>
              </a:rPr>
              <a:t>Valve Y4 not switching</a:t>
            </a:r>
            <a:endParaRPr lang="en-US" sz="1150" dirty="0"/>
          </a:p>
        </p:txBody>
      </p:sp>
      <p:sp>
        <p:nvSpPr>
          <p:cNvPr id="47" name="chip-44"/>
          <p:cNvSpPr/>
          <p:nvPr/>
        </p:nvSpPr>
        <p:spPr>
          <a:xfrm>
            <a:off x="9006840" y="4434840"/>
            <a:ext cx="2377440" cy="411480"/>
          </a:xfrm>
          <a:prstGeom prst="roundRect">
            <a:avLst>
              <a:gd name="adj" fmla="val 17778"/>
            </a:avLst>
          </a:prstGeom>
          <a:solidFill>
            <a:srgbClr val="FFFFFF"/>
          </a:solidFill>
          <a:ln w="12700">
            <a:solidFill>
              <a:srgbClr val="7C3AED"/>
            </a:solidFill>
            <a:prstDash val="solid"/>
          </a:ln>
        </p:spPr>
      </p:sp>
      <p:sp>
        <p:nvSpPr>
          <p:cNvPr id="48" name="text-45"/>
          <p:cNvSpPr txBox="1"/>
          <p:nvPr/>
        </p:nvSpPr>
        <p:spPr>
          <a:xfrm>
            <a:off x="9006840" y="4434840"/>
            <a:ext cx="2377440" cy="411480"/>
          </a:xfrm>
          <a:prstGeom prst="rect">
            <a:avLst/>
          </a:prstGeom>
          <a:noFill/>
          <a:ln/>
        </p:spPr>
        <p:txBody>
          <a:bodyPr wrap="square" lIns="381" tIns="381" rIns="381" bIns="381" rtlCol="0" anchor="ctr"/>
          <a:lstStyle/>
          <a:p>
            <a:pPr algn="ctr" indent="0" marL="0">
              <a:buNone/>
            </a:pPr>
            <a:r>
              <a:rPr lang="en-US" sz="1150" dirty="0">
                <a:solidFill>
                  <a:schemeClr val="tx1"/>
                </a:solidFill>
              </a:rPr>
              <a:t>Jaws mechanically jammed</a:t>
            </a:r>
            <a:endParaRPr lang="en-US" sz="1150" dirty="0"/>
          </a:p>
        </p:txBody>
      </p:sp>
      <p:sp>
        <p:nvSpPr>
          <p:cNvPr id="49" name="chip-46"/>
          <p:cNvSpPr/>
          <p:nvPr/>
        </p:nvSpPr>
        <p:spPr>
          <a:xfrm>
            <a:off x="9006840" y="4937760"/>
            <a:ext cx="2377440" cy="411480"/>
          </a:xfrm>
          <a:prstGeom prst="roundRect">
            <a:avLst>
              <a:gd name="adj" fmla="val 17778"/>
            </a:avLst>
          </a:prstGeom>
          <a:solidFill>
            <a:srgbClr val="FFFFFF"/>
          </a:solidFill>
          <a:ln w="12700">
            <a:solidFill>
              <a:srgbClr val="7C3AED"/>
            </a:solidFill>
            <a:prstDash val="solid"/>
          </a:ln>
        </p:spPr>
      </p:sp>
      <p:sp>
        <p:nvSpPr>
          <p:cNvPr id="50" name="text-47"/>
          <p:cNvSpPr txBox="1"/>
          <p:nvPr/>
        </p:nvSpPr>
        <p:spPr>
          <a:xfrm>
            <a:off x="9006840" y="4937760"/>
            <a:ext cx="2377440" cy="411480"/>
          </a:xfrm>
          <a:prstGeom prst="rect">
            <a:avLst/>
          </a:prstGeom>
          <a:noFill/>
          <a:ln/>
        </p:spPr>
        <p:txBody>
          <a:bodyPr wrap="square" lIns="381" tIns="381" rIns="381" bIns="381" rtlCol="0" anchor="ctr"/>
          <a:lstStyle/>
          <a:p>
            <a:pPr algn="ctr" indent="0" marL="0">
              <a:buNone/>
            </a:pPr>
            <a:r>
              <a:rPr lang="en-US" sz="1150" dirty="0">
                <a:solidFill>
                  <a:schemeClr val="tx1"/>
                </a:solidFill>
              </a:rPr>
              <a:t>B21 cable / connector fault</a:t>
            </a:r>
            <a:endParaRPr lang="en-US" sz="1150" dirty="0"/>
          </a:p>
        </p:txBody>
      </p:sp>
      <p:sp>
        <p:nvSpPr>
          <p:cNvPr id="51" name="text-48"/>
          <p:cNvSpPr txBox="1"/>
          <p:nvPr/>
        </p:nvSpPr>
        <p:spPr>
          <a:xfrm>
            <a:off x="9006840" y="5440680"/>
            <a:ext cx="2514600" cy="685800"/>
          </a:xfrm>
          <a:prstGeom prst="rect">
            <a:avLst/>
          </a:prstGeom>
          <a:noFill/>
          <a:ln/>
        </p:spPr>
        <p:txBody>
          <a:bodyPr wrap="square" lIns="762" tIns="762" rIns="762" bIns="762" rtlCol="0" anchor="t"/>
          <a:lstStyle/>
          <a:p>
            <a:pPr algn="l" indent="0" marL="0">
              <a:buNone/>
            </a:pPr>
            <a:r>
              <a:rPr lang="en-US" sz="1050" i="1" dirty="0">
                <a:solidFill>
                  <a:schemeClr val="accent6"/>
                </a:solidFill>
              </a:rPr>
              <a:t>Each has predicted test outcomes; tests carry reliability and safety preconditions.</a:t>
            </a:r>
            <a:endParaRPr lang="en-US" sz="10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OpenAI stack</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GPT-Live talks, reasoning models investigate</a:t>
            </a:r>
            <a:endParaRPr lang="en-US" sz="2800" dirty="0"/>
          </a:p>
        </p:txBody>
      </p:sp>
      <p:sp>
        <p:nvSpPr>
          <p:cNvPr id="4" name="node-49"/>
          <p:cNvSpPr/>
          <p:nvPr/>
        </p:nvSpPr>
        <p:spPr>
          <a:xfrm>
            <a:off x="548640" y="1691640"/>
            <a:ext cx="1828800" cy="1188720"/>
          </a:xfrm>
          <a:prstGeom prst="roundRect">
            <a:avLst>
              <a:gd name="adj" fmla="val 7692"/>
            </a:avLst>
          </a:prstGeom>
          <a:solidFill>
            <a:srgbClr val="F3F4F6"/>
          </a:solidFill>
          <a:ln w="19050">
            <a:solidFill>
              <a:srgbClr val="64748B"/>
            </a:solidFill>
            <a:prstDash val="solid"/>
          </a:ln>
        </p:spPr>
      </p:sp>
      <p:sp>
        <p:nvSpPr>
          <p:cNvPr id="5" name="node-text-50"/>
          <p:cNvSpPr txBox="1"/>
          <p:nvPr/>
        </p:nvSpPr>
        <p:spPr>
          <a:xfrm>
            <a:off x="594360" y="1719072"/>
            <a:ext cx="1737360" cy="1133856"/>
          </a:xfrm>
          <a:prstGeom prst="rect">
            <a:avLst/>
          </a:prstGeom>
          <a:noFill/>
          <a:ln/>
        </p:spPr>
        <p:txBody>
          <a:bodyPr wrap="square" lIns="635" tIns="635" rIns="635" bIns="635" rtlCol="0" anchor="ctr"/>
          <a:lstStyle/>
          <a:p>
            <a:pPr algn="ctr" indent="0" marL="0">
              <a:buNone/>
            </a:pPr>
            <a:r>
              <a:rPr lang="en-US" sz="1300" b="1" dirty="0">
                <a:solidFill>
                  <a:schemeClr val="tx1"/>
                </a:solidFill>
              </a:rPr>
              <a:t>Operator / technician</a:t>
            </a:r>
            <a:endParaRPr lang="en-US" sz="1300" dirty="0"/>
          </a:p>
          <a:p>
            <a:pPr algn="ctr" indent="0" marL="0">
              <a:buNone/>
            </a:pPr>
            <a:r>
              <a:rPr lang="en-US" sz="1050" dirty="0">
                <a:solidFill>
                  <a:schemeClr val="tx2"/>
                </a:solidFill>
              </a:rPr>
              <a:t>hands-free headset</a:t>
            </a:r>
            <a:endParaRPr lang="en-US" sz="1300" dirty="0"/>
          </a:p>
          <a:p>
            <a:pPr algn="ctr" indent="0" marL="0">
              <a:buNone/>
            </a:pPr>
            <a:r>
              <a:rPr lang="en-US" sz="1050" dirty="0">
                <a:solidFill>
                  <a:schemeClr val="tx2"/>
                </a:solidFill>
              </a:rPr>
              <a:t>browser mic</a:t>
            </a:r>
            <a:endParaRPr lang="en-US" sz="1300" dirty="0"/>
          </a:p>
        </p:txBody>
      </p:sp>
      <p:sp>
        <p:nvSpPr>
          <p:cNvPr id="6" name="edge-51"/>
          <p:cNvSpPr/>
          <p:nvPr/>
        </p:nvSpPr>
        <p:spPr>
          <a:xfrm>
            <a:off x="2377440" y="2286000"/>
            <a:ext cx="685800" cy="0"/>
          </a:xfrm>
          <a:prstGeom prst="line">
            <a:avLst/>
          </a:prstGeom>
          <a:noFill/>
          <a:ln w="19050">
            <a:solidFill>
              <a:srgbClr val="64748B"/>
            </a:solidFill>
            <a:prstDash val="solid"/>
            <a:headEnd type="triangle"/>
            <a:tailEnd type="triangle"/>
          </a:ln>
        </p:spPr>
      </p:sp>
      <p:sp>
        <p:nvSpPr>
          <p:cNvPr id="7" name="text-52"/>
          <p:cNvSpPr txBox="1"/>
          <p:nvPr/>
        </p:nvSpPr>
        <p:spPr>
          <a:xfrm>
            <a:off x="2331720" y="1691640"/>
            <a:ext cx="777240" cy="548640"/>
          </a:xfrm>
          <a:prstGeom prst="rect">
            <a:avLst/>
          </a:prstGeom>
          <a:noFill/>
          <a:ln/>
        </p:spPr>
        <p:txBody>
          <a:bodyPr wrap="square" lIns="762" tIns="762" rIns="762" bIns="762" rtlCol="0" anchor="t"/>
          <a:lstStyle/>
          <a:p>
            <a:pPr algn="ctr" indent="0" marL="0">
              <a:buNone/>
            </a:pPr>
            <a:r>
              <a:rPr lang="en-US" sz="1000" dirty="0">
                <a:solidFill>
                  <a:schemeClr val="accent6"/>
                </a:solidFill>
              </a:rPr>
              <a:t>WebRTC</a:t>
            </a:r>
            <a:endParaRPr lang="en-US" sz="1000" dirty="0"/>
          </a:p>
          <a:p>
            <a:pPr algn="ctr" indent="0" marL="0">
              <a:buNone/>
            </a:pPr>
            <a:r>
              <a:rPr lang="en-US" sz="1000" dirty="0">
                <a:solidFill>
                  <a:schemeClr val="accent6"/>
                </a:solidFill>
              </a:rPr>
              <a:t>audio</a:t>
            </a:r>
            <a:endParaRPr lang="en-US" sz="1000" dirty="0"/>
          </a:p>
        </p:txBody>
      </p:sp>
      <p:sp>
        <p:nvSpPr>
          <p:cNvPr id="8" name="node-53"/>
          <p:cNvSpPr/>
          <p:nvPr/>
        </p:nvSpPr>
        <p:spPr>
          <a:xfrm>
            <a:off x="3063240" y="1554480"/>
            <a:ext cx="3108960" cy="1463040"/>
          </a:xfrm>
          <a:prstGeom prst="roundRect">
            <a:avLst>
              <a:gd name="adj" fmla="val 6250"/>
            </a:avLst>
          </a:prstGeom>
          <a:solidFill>
            <a:srgbClr val="EDE9FE"/>
          </a:solidFill>
          <a:ln w="19050">
            <a:solidFill>
              <a:srgbClr val="7C3AED"/>
            </a:solidFill>
            <a:prstDash val="solid"/>
          </a:ln>
        </p:spPr>
      </p:sp>
      <p:sp>
        <p:nvSpPr>
          <p:cNvPr id="9" name="node-text-54"/>
          <p:cNvSpPr txBox="1"/>
          <p:nvPr/>
        </p:nvSpPr>
        <p:spPr>
          <a:xfrm>
            <a:off x="3108960" y="1581912"/>
            <a:ext cx="3017520" cy="1408176"/>
          </a:xfrm>
          <a:prstGeom prst="rect">
            <a:avLst/>
          </a:prstGeom>
          <a:noFill/>
          <a:ln/>
        </p:spPr>
        <p:txBody>
          <a:bodyPr wrap="square" lIns="635" tIns="635" rIns="635" bIns="635" rtlCol="0" anchor="ctr"/>
          <a:lstStyle/>
          <a:p>
            <a:pPr algn="ctr" indent="0" marL="0">
              <a:buNone/>
            </a:pPr>
            <a:r>
              <a:rPr lang="en-US" sz="1400" b="1" dirty="0">
                <a:solidFill>
                  <a:schemeClr val="tx1"/>
                </a:solidFill>
              </a:rPr>
              <a:t>GPT-Live · gpt-live-1</a:t>
            </a:r>
            <a:endParaRPr lang="en-US" sz="1400" dirty="0"/>
          </a:p>
          <a:p>
            <a:pPr algn="ctr" indent="0" marL="0">
              <a:buNone/>
            </a:pPr>
            <a:r>
              <a:rPr lang="en-US" sz="1050" dirty="0">
                <a:solidFill>
                  <a:schemeClr val="tx2"/>
                </a:solidFill>
              </a:rPr>
              <a:t>full-duplex voice (marin)</a:t>
            </a:r>
            <a:endParaRPr lang="en-US" sz="1400" dirty="0"/>
          </a:p>
          <a:p>
            <a:pPr algn="ctr" indent="0" marL="0">
              <a:buNone/>
            </a:pPr>
            <a:r>
              <a:rPr lang="en-US" sz="1050" dirty="0">
                <a:solidFill>
                  <a:schemeClr val="tx2"/>
                </a:solidFill>
              </a:rPr>
              <a:t>listens while it speaks</a:t>
            </a:r>
            <a:endParaRPr lang="en-US" sz="1400" dirty="0"/>
          </a:p>
          <a:p>
            <a:pPr algn="ctr" indent="0" marL="0">
              <a:buNone/>
            </a:pPr>
            <a:r>
              <a:rPr lang="en-US" sz="1050" dirty="0">
                <a:solidFill>
                  <a:schemeClr val="tx2"/>
                </a:solidFill>
              </a:rPr>
              <a:t>live-delegation of real work</a:t>
            </a:r>
            <a:endParaRPr lang="en-US" sz="1400" dirty="0"/>
          </a:p>
        </p:txBody>
      </p:sp>
      <p:sp>
        <p:nvSpPr>
          <p:cNvPr id="10" name="edge-55"/>
          <p:cNvSpPr/>
          <p:nvPr/>
        </p:nvSpPr>
        <p:spPr>
          <a:xfrm>
            <a:off x="4069080" y="3017520"/>
            <a:ext cx="0" cy="777240"/>
          </a:xfrm>
          <a:prstGeom prst="line">
            <a:avLst/>
          </a:prstGeom>
          <a:noFill/>
          <a:ln w="25400">
            <a:solidFill>
              <a:srgbClr val="7C3AED"/>
            </a:solidFill>
            <a:prstDash val="solid"/>
            <a:tailEnd type="triangle"/>
          </a:ln>
        </p:spPr>
      </p:sp>
      <p:sp>
        <p:nvSpPr>
          <p:cNvPr id="11" name="text-56"/>
          <p:cNvSpPr txBox="1"/>
          <p:nvPr/>
        </p:nvSpPr>
        <p:spPr>
          <a:xfrm>
            <a:off x="2788920" y="3154680"/>
            <a:ext cx="1188720" cy="548640"/>
          </a:xfrm>
          <a:prstGeom prst="rect">
            <a:avLst/>
          </a:prstGeom>
          <a:noFill/>
          <a:ln/>
        </p:spPr>
        <p:txBody>
          <a:bodyPr wrap="square" lIns="762" tIns="762" rIns="762" bIns="762" rtlCol="0" anchor="t"/>
          <a:lstStyle/>
          <a:p>
            <a:pPr algn="r" indent="0" marL="0">
              <a:buNone/>
            </a:pPr>
            <a:r>
              <a:rPr lang="en-US" sz="1000" dirty="0">
                <a:solidFill>
                  <a:schemeClr val="accent1"/>
                </a:solidFill>
              </a:rPr>
              <a:t>delegate(task)</a:t>
            </a:r>
            <a:endParaRPr lang="en-US" sz="1000" dirty="0"/>
          </a:p>
          <a:p>
            <a:pPr algn="r" indent="0" marL="0">
              <a:buNone/>
            </a:pPr>
            <a:r>
              <a:rPr lang="en-US" sz="1000" dirty="0">
                <a:solidFill>
                  <a:schemeClr val="accent1"/>
                </a:solidFill>
              </a:rPr>
              <a:t>first words</a:t>
            </a:r>
            <a:endParaRPr lang="en-US" sz="1000" dirty="0"/>
          </a:p>
        </p:txBody>
      </p:sp>
      <p:sp>
        <p:nvSpPr>
          <p:cNvPr id="12" name="edge-57"/>
          <p:cNvSpPr/>
          <p:nvPr/>
        </p:nvSpPr>
        <p:spPr>
          <a:xfrm flipV="1">
            <a:off x="5166360" y="3017520"/>
            <a:ext cx="0" cy="777240"/>
          </a:xfrm>
          <a:prstGeom prst="line">
            <a:avLst/>
          </a:prstGeom>
          <a:noFill/>
          <a:ln w="25400">
            <a:solidFill>
              <a:srgbClr val="10B981"/>
            </a:solidFill>
            <a:prstDash val="solid"/>
            <a:tailEnd type="triangle"/>
          </a:ln>
        </p:spPr>
      </p:sp>
      <p:sp>
        <p:nvSpPr>
          <p:cNvPr id="13" name="text-58"/>
          <p:cNvSpPr txBox="1"/>
          <p:nvPr/>
        </p:nvSpPr>
        <p:spPr>
          <a:xfrm>
            <a:off x="5212080" y="3154680"/>
            <a:ext cx="1371600" cy="548640"/>
          </a:xfrm>
          <a:prstGeom prst="rect">
            <a:avLst/>
          </a:prstGeom>
          <a:noFill/>
          <a:ln/>
        </p:spPr>
        <p:txBody>
          <a:bodyPr wrap="square" lIns="762" tIns="762" rIns="762" bIns="762" rtlCol="0" anchor="t"/>
          <a:lstStyle/>
          <a:p>
            <a:pPr algn="l" indent="0" marL="0">
              <a:buNone/>
            </a:pPr>
            <a:r>
              <a:rPr lang="en-US" sz="1000" dirty="0">
                <a:solidFill>
                  <a:schemeClr val="accent4"/>
                </a:solidFill>
              </a:rPr>
              <a:t>commentary.append</a:t>
            </a:r>
            <a:endParaRPr lang="en-US" sz="1000" dirty="0"/>
          </a:p>
          <a:p>
            <a:pPr algn="l" indent="0" marL="0">
              <a:buNone/>
            </a:pPr>
            <a:r>
              <a:rPr lang="en-US" sz="1000" dirty="0">
                <a:solidFill>
                  <a:schemeClr val="accent4"/>
                </a:solidFill>
              </a:rPr>
              <a:t>+ thinking</a:t>
            </a:r>
            <a:endParaRPr lang="en-US" sz="1000" dirty="0"/>
          </a:p>
        </p:txBody>
      </p:sp>
      <p:sp>
        <p:nvSpPr>
          <p:cNvPr id="14" name="node-59"/>
          <p:cNvSpPr/>
          <p:nvPr/>
        </p:nvSpPr>
        <p:spPr>
          <a:xfrm>
            <a:off x="3063240" y="3794760"/>
            <a:ext cx="3108960" cy="1417320"/>
          </a:xfrm>
          <a:prstGeom prst="roundRect">
            <a:avLst>
              <a:gd name="adj" fmla="val 6452"/>
            </a:avLst>
          </a:prstGeom>
          <a:solidFill>
            <a:srgbClr val="DBEAFE"/>
          </a:solidFill>
          <a:ln w="19050">
            <a:solidFill>
              <a:srgbClr val="2563EB"/>
            </a:solidFill>
            <a:prstDash val="solid"/>
          </a:ln>
        </p:spPr>
      </p:sp>
      <p:sp>
        <p:nvSpPr>
          <p:cNvPr id="15" name="node-text-60"/>
          <p:cNvSpPr txBox="1"/>
          <p:nvPr/>
        </p:nvSpPr>
        <p:spPr>
          <a:xfrm>
            <a:off x="3108960" y="3822192"/>
            <a:ext cx="3017520" cy="1362456"/>
          </a:xfrm>
          <a:prstGeom prst="rect">
            <a:avLst/>
          </a:prstGeom>
          <a:noFill/>
          <a:ln/>
        </p:spPr>
        <p:txBody>
          <a:bodyPr wrap="square" lIns="635" tIns="635" rIns="635" bIns="635" rtlCol="0" anchor="ctr"/>
          <a:lstStyle/>
          <a:p>
            <a:pPr algn="ctr" indent="0" marL="0">
              <a:buNone/>
            </a:pPr>
            <a:r>
              <a:rPr lang="en-US" sz="1400" b="1" dirty="0">
                <a:solidFill>
                  <a:schemeClr val="tx1"/>
                </a:solidFill>
              </a:rPr>
              <a:t>OpenAI Agents SDK</a:t>
            </a:r>
            <a:endParaRPr lang="en-US" sz="1400" dirty="0"/>
          </a:p>
          <a:p>
            <a:pPr algn="ctr" indent="0" marL="0">
              <a:buNone/>
            </a:pPr>
            <a:r>
              <a:rPr lang="en-US" sz="1050" dirty="0">
                <a:solidFill>
                  <a:schemeClr val="tx2"/>
                </a:solidFill>
              </a:rPr>
              <a:t>ARIA agent · streamed run</a:t>
            </a:r>
            <a:endParaRPr lang="en-US" sz="1400" dirty="0"/>
          </a:p>
          <a:p>
            <a:pPr algn="ctr" indent="0" marL="0">
              <a:buNone/>
            </a:pPr>
            <a:r>
              <a:rPr lang="en-US" sz="1050" dirty="0">
                <a:solidFill>
                  <a:schemeClr val="tx2"/>
                </a:solidFill>
              </a:rPr>
              <a:t>strict function tools</a:t>
            </a:r>
            <a:endParaRPr lang="en-US" sz="1400" dirty="0"/>
          </a:p>
          <a:p>
            <a:pPr algn="ctr" indent="0" marL="0">
              <a:buNone/>
            </a:pPr>
            <a:r>
              <a:rPr lang="en-US" sz="1050" dirty="0">
                <a:solidFill>
                  <a:schemeClr val="tx2"/>
                </a:solidFill>
              </a:rPr>
              <a:t>operator inbox for mid-task remarks</a:t>
            </a:r>
            <a:endParaRPr lang="en-US" sz="1400" dirty="0"/>
          </a:p>
        </p:txBody>
      </p:sp>
      <p:sp>
        <p:nvSpPr>
          <p:cNvPr id="16" name="edge-61"/>
          <p:cNvSpPr/>
          <p:nvPr/>
        </p:nvSpPr>
        <p:spPr>
          <a:xfrm>
            <a:off x="6172200" y="4480560"/>
            <a:ext cx="274320" cy="0"/>
          </a:xfrm>
          <a:prstGeom prst="line">
            <a:avLst/>
          </a:prstGeom>
          <a:noFill/>
          <a:ln w="25400">
            <a:solidFill>
              <a:srgbClr val="2563EB"/>
            </a:solidFill>
            <a:prstDash val="solid"/>
          </a:ln>
        </p:spPr>
      </p:sp>
      <p:sp>
        <p:nvSpPr>
          <p:cNvPr id="17" name="edge-62"/>
          <p:cNvSpPr/>
          <p:nvPr/>
        </p:nvSpPr>
        <p:spPr>
          <a:xfrm>
            <a:off x="6446520" y="1874520"/>
            <a:ext cx="0" cy="2606040"/>
          </a:xfrm>
          <a:prstGeom prst="line">
            <a:avLst/>
          </a:prstGeom>
          <a:noFill/>
          <a:ln w="25400">
            <a:solidFill>
              <a:srgbClr val="2563EB"/>
            </a:solidFill>
            <a:prstDash val="solid"/>
          </a:ln>
        </p:spPr>
      </p:sp>
      <p:sp>
        <p:nvSpPr>
          <p:cNvPr id="18" name="edge-63"/>
          <p:cNvSpPr/>
          <p:nvPr/>
        </p:nvSpPr>
        <p:spPr>
          <a:xfrm>
            <a:off x="6446520" y="1874520"/>
            <a:ext cx="274320" cy="0"/>
          </a:xfrm>
          <a:prstGeom prst="line">
            <a:avLst/>
          </a:prstGeom>
          <a:noFill/>
          <a:ln w="19050">
            <a:solidFill>
              <a:srgbClr val="2563EB"/>
            </a:solidFill>
            <a:prstDash val="solid"/>
            <a:tailEnd type="triangle"/>
          </a:ln>
        </p:spPr>
      </p:sp>
      <p:sp>
        <p:nvSpPr>
          <p:cNvPr id="19" name="edge-64"/>
          <p:cNvSpPr/>
          <p:nvPr/>
        </p:nvSpPr>
        <p:spPr>
          <a:xfrm>
            <a:off x="6446520" y="2624328"/>
            <a:ext cx="274320" cy="0"/>
          </a:xfrm>
          <a:prstGeom prst="line">
            <a:avLst/>
          </a:prstGeom>
          <a:noFill/>
          <a:ln w="19050">
            <a:solidFill>
              <a:srgbClr val="2563EB"/>
            </a:solidFill>
            <a:prstDash val="solid"/>
            <a:tailEnd type="triangle"/>
          </a:ln>
        </p:spPr>
      </p:sp>
      <p:sp>
        <p:nvSpPr>
          <p:cNvPr id="20" name="edge-65"/>
          <p:cNvSpPr/>
          <p:nvPr/>
        </p:nvSpPr>
        <p:spPr>
          <a:xfrm>
            <a:off x="6446520" y="3374136"/>
            <a:ext cx="274320" cy="0"/>
          </a:xfrm>
          <a:prstGeom prst="line">
            <a:avLst/>
          </a:prstGeom>
          <a:noFill/>
          <a:ln w="19050">
            <a:solidFill>
              <a:srgbClr val="2563EB"/>
            </a:solidFill>
            <a:prstDash val="solid"/>
            <a:tailEnd type="triangle"/>
          </a:ln>
        </p:spPr>
      </p:sp>
      <p:sp>
        <p:nvSpPr>
          <p:cNvPr id="21" name="edge-66"/>
          <p:cNvSpPr/>
          <p:nvPr/>
        </p:nvSpPr>
        <p:spPr>
          <a:xfrm>
            <a:off x="6446520" y="4123944"/>
            <a:ext cx="274320" cy="0"/>
          </a:xfrm>
          <a:prstGeom prst="line">
            <a:avLst/>
          </a:prstGeom>
          <a:noFill/>
          <a:ln w="19050">
            <a:solidFill>
              <a:srgbClr val="2563EB"/>
            </a:solidFill>
            <a:prstDash val="solid"/>
            <a:tailEnd type="triangle"/>
          </a:ln>
        </p:spPr>
      </p:sp>
      <p:sp>
        <p:nvSpPr>
          <p:cNvPr id="22" name="node-67"/>
          <p:cNvSpPr/>
          <p:nvPr/>
        </p:nvSpPr>
        <p:spPr>
          <a:xfrm>
            <a:off x="6720840" y="1554480"/>
            <a:ext cx="4892040" cy="640080"/>
          </a:xfrm>
          <a:prstGeom prst="roundRect">
            <a:avLst>
              <a:gd name="adj" fmla="val 14286"/>
            </a:avLst>
          </a:prstGeom>
          <a:solidFill>
            <a:srgbClr val="FFFFFF"/>
          </a:solidFill>
          <a:ln w="19050">
            <a:solidFill>
              <a:srgbClr val="2563EB"/>
            </a:solidFill>
            <a:prstDash val="solid"/>
          </a:ln>
        </p:spPr>
      </p:sp>
      <p:sp>
        <p:nvSpPr>
          <p:cNvPr id="23" name="node-text-68"/>
          <p:cNvSpPr txBox="1"/>
          <p:nvPr/>
        </p:nvSpPr>
        <p:spPr>
          <a:xfrm>
            <a:off x="6766560" y="1581912"/>
            <a:ext cx="4800600" cy="585216"/>
          </a:xfrm>
          <a:prstGeom prst="rect">
            <a:avLst/>
          </a:prstGeom>
          <a:noFill/>
          <a:ln/>
        </p:spPr>
        <p:txBody>
          <a:bodyPr wrap="square" lIns="635" tIns="635" rIns="635" bIns="635" rtlCol="0" anchor="ctr"/>
          <a:lstStyle/>
          <a:p>
            <a:pPr algn="l" indent="0" marL="0">
              <a:buNone/>
            </a:pPr>
            <a:r>
              <a:rPr lang="en-US" sz="1250" b="1" dirty="0">
                <a:solidFill>
                  <a:schemeClr val="tx1"/>
                </a:solidFill>
              </a:rPr>
              <a:t>gpt-5.6-terra</a:t>
            </a:r>
            <a:endParaRPr lang="en-US" sz="1250" dirty="0"/>
          </a:p>
          <a:p>
            <a:pPr algn="l" indent="0" marL="0">
              <a:buNone/>
            </a:pPr>
            <a:r>
              <a:rPr lang="en-US" sz="1050" dirty="0">
                <a:solidFill>
                  <a:schemeClr val="tx2"/>
                </a:solidFill>
              </a:rPr>
              <a:t>reasoning agent — hypotheses, test choice, report writing</a:t>
            </a:r>
            <a:endParaRPr lang="en-US" sz="1250" dirty="0"/>
          </a:p>
        </p:txBody>
      </p:sp>
      <p:sp>
        <p:nvSpPr>
          <p:cNvPr id="24" name="node-69"/>
          <p:cNvSpPr/>
          <p:nvPr/>
        </p:nvSpPr>
        <p:spPr>
          <a:xfrm>
            <a:off x="6720840" y="2304288"/>
            <a:ext cx="4892040" cy="640080"/>
          </a:xfrm>
          <a:prstGeom prst="roundRect">
            <a:avLst>
              <a:gd name="adj" fmla="val 14286"/>
            </a:avLst>
          </a:prstGeom>
          <a:solidFill>
            <a:srgbClr val="FFFFFF"/>
          </a:solidFill>
          <a:ln w="19050">
            <a:solidFill>
              <a:srgbClr val="2563EB"/>
            </a:solidFill>
            <a:prstDash val="solid"/>
          </a:ln>
        </p:spPr>
      </p:sp>
      <p:sp>
        <p:nvSpPr>
          <p:cNvPr id="25" name="node-text-70"/>
          <p:cNvSpPr txBox="1"/>
          <p:nvPr/>
        </p:nvSpPr>
        <p:spPr>
          <a:xfrm>
            <a:off x="6766560" y="2331720"/>
            <a:ext cx="4800600" cy="585216"/>
          </a:xfrm>
          <a:prstGeom prst="rect">
            <a:avLst/>
          </a:prstGeom>
          <a:noFill/>
          <a:ln/>
        </p:spPr>
        <p:txBody>
          <a:bodyPr wrap="square" lIns="635" tIns="635" rIns="635" bIns="635" rtlCol="0" anchor="ctr"/>
          <a:lstStyle/>
          <a:p>
            <a:pPr algn="l" indent="0" marL="0">
              <a:buNone/>
            </a:pPr>
            <a:r>
              <a:rPr lang="en-US" sz="1250" b="1" dirty="0">
                <a:solidFill>
                  <a:schemeClr val="tx1"/>
                </a:solidFill>
              </a:rPr>
              <a:t>gpt-5.6-luna</a:t>
            </a:r>
            <a:endParaRPr lang="en-US" sz="1250" dirty="0"/>
          </a:p>
          <a:p>
            <a:pPr algn="l" indent="0" marL="0">
              <a:buNone/>
            </a:pPr>
            <a:r>
              <a:rPr lang="en-US" sz="1050" dirty="0">
                <a:solidFill>
                  <a:schemeClr val="tx2"/>
                </a:solidFill>
              </a:rPr>
              <a:t>fast model — rerank, grounding audit, temporal fact extraction, titles</a:t>
            </a:r>
            <a:endParaRPr lang="en-US" sz="1250" dirty="0"/>
          </a:p>
        </p:txBody>
      </p:sp>
      <p:sp>
        <p:nvSpPr>
          <p:cNvPr id="26" name="node-71"/>
          <p:cNvSpPr/>
          <p:nvPr/>
        </p:nvSpPr>
        <p:spPr>
          <a:xfrm>
            <a:off x="6720840" y="3054096"/>
            <a:ext cx="4892040" cy="640080"/>
          </a:xfrm>
          <a:prstGeom prst="roundRect">
            <a:avLst>
              <a:gd name="adj" fmla="val 14286"/>
            </a:avLst>
          </a:prstGeom>
          <a:solidFill>
            <a:srgbClr val="FFFFFF"/>
          </a:solidFill>
          <a:ln w="19050">
            <a:solidFill>
              <a:srgbClr val="2563EB"/>
            </a:solidFill>
            <a:prstDash val="solid"/>
          </a:ln>
        </p:spPr>
      </p:sp>
      <p:sp>
        <p:nvSpPr>
          <p:cNvPr id="27" name="node-text-72"/>
          <p:cNvSpPr txBox="1"/>
          <p:nvPr/>
        </p:nvSpPr>
        <p:spPr>
          <a:xfrm>
            <a:off x="6766560" y="3081528"/>
            <a:ext cx="4800600" cy="585216"/>
          </a:xfrm>
          <a:prstGeom prst="rect">
            <a:avLst/>
          </a:prstGeom>
          <a:noFill/>
          <a:ln/>
        </p:spPr>
        <p:txBody>
          <a:bodyPr wrap="square" lIns="635" tIns="635" rIns="635" bIns="635" rtlCol="0" anchor="ctr"/>
          <a:lstStyle/>
          <a:p>
            <a:pPr algn="l" indent="0" marL="0">
              <a:buNone/>
            </a:pPr>
            <a:r>
              <a:rPr lang="en-US" sz="1250" b="1" dirty="0">
                <a:solidFill>
                  <a:schemeClr val="tx1"/>
                </a:solidFill>
              </a:rPr>
              <a:t>text-embedding-3-large</a:t>
            </a:r>
            <a:endParaRPr lang="en-US" sz="1250" dirty="0"/>
          </a:p>
          <a:p>
            <a:pPr algn="l" indent="0" marL="0">
              <a:buNone/>
            </a:pPr>
            <a:r>
              <a:rPr lang="en-US" sz="1050" dirty="0">
                <a:solidFill>
                  <a:schemeClr val="tx2"/>
                </a:solidFill>
              </a:rPr>
              <a:t>manual chunks + incident memory vectors</a:t>
            </a:r>
            <a:endParaRPr lang="en-US" sz="1250" dirty="0"/>
          </a:p>
        </p:txBody>
      </p:sp>
      <p:sp>
        <p:nvSpPr>
          <p:cNvPr id="28" name="node-73"/>
          <p:cNvSpPr/>
          <p:nvPr/>
        </p:nvSpPr>
        <p:spPr>
          <a:xfrm>
            <a:off x="6720840" y="3803904"/>
            <a:ext cx="4892040" cy="640080"/>
          </a:xfrm>
          <a:prstGeom prst="roundRect">
            <a:avLst>
              <a:gd name="adj" fmla="val 14286"/>
            </a:avLst>
          </a:prstGeom>
          <a:solidFill>
            <a:srgbClr val="FFFFFF"/>
          </a:solidFill>
          <a:ln w="19050">
            <a:solidFill>
              <a:srgbClr val="2563EB"/>
            </a:solidFill>
            <a:prstDash val="solid"/>
          </a:ln>
        </p:spPr>
      </p:sp>
      <p:sp>
        <p:nvSpPr>
          <p:cNvPr id="29" name="node-text-74"/>
          <p:cNvSpPr txBox="1"/>
          <p:nvPr/>
        </p:nvSpPr>
        <p:spPr>
          <a:xfrm>
            <a:off x="6766560" y="3831336"/>
            <a:ext cx="4800600" cy="585216"/>
          </a:xfrm>
          <a:prstGeom prst="rect">
            <a:avLst/>
          </a:prstGeom>
          <a:noFill/>
          <a:ln/>
        </p:spPr>
        <p:txBody>
          <a:bodyPr wrap="square" lIns="635" tIns="635" rIns="635" bIns="635" rtlCol="0" anchor="ctr"/>
          <a:lstStyle/>
          <a:p>
            <a:pPr algn="l" indent="0" marL="0">
              <a:buNone/>
            </a:pPr>
            <a:r>
              <a:rPr lang="en-US" sz="1250" b="1" dirty="0">
                <a:solidFill>
                  <a:schemeClr val="tx1"/>
                </a:solidFill>
              </a:rPr>
              <a:t>Responses API · structured outputs</a:t>
            </a:r>
            <a:endParaRPr lang="en-US" sz="1250" dirty="0"/>
          </a:p>
          <a:p>
            <a:pPr algn="l" indent="0" marL="0">
              <a:buNone/>
            </a:pPr>
            <a:r>
              <a:rPr lang="en-US" sz="1050" dirty="0">
                <a:solidFill>
                  <a:schemeClr val="tx2"/>
                </a:solidFill>
              </a:rPr>
              <a:t>typed JSON for plans, facts and reports</a:t>
            </a:r>
            <a:endParaRPr lang="en-US" sz="1250" dirty="0"/>
          </a:p>
        </p:txBody>
      </p:sp>
      <p:sp>
        <p:nvSpPr>
          <p:cNvPr id="30" name="node-75"/>
          <p:cNvSpPr/>
          <p:nvPr/>
        </p:nvSpPr>
        <p:spPr>
          <a:xfrm>
            <a:off x="6720840" y="4553712"/>
            <a:ext cx="4892040" cy="640080"/>
          </a:xfrm>
          <a:prstGeom prst="roundRect">
            <a:avLst>
              <a:gd name="adj" fmla="val 14286"/>
            </a:avLst>
          </a:prstGeom>
          <a:solidFill>
            <a:srgbClr val="EDE9FE"/>
          </a:solidFill>
          <a:ln w="19050">
            <a:solidFill>
              <a:srgbClr val="7C3AED"/>
            </a:solidFill>
            <a:prstDash val="solid"/>
          </a:ln>
        </p:spPr>
      </p:sp>
      <p:sp>
        <p:nvSpPr>
          <p:cNvPr id="31" name="node-text-76"/>
          <p:cNvSpPr txBox="1"/>
          <p:nvPr/>
        </p:nvSpPr>
        <p:spPr>
          <a:xfrm>
            <a:off x="6766560" y="4581144"/>
            <a:ext cx="4800600" cy="585216"/>
          </a:xfrm>
          <a:prstGeom prst="rect">
            <a:avLst/>
          </a:prstGeom>
          <a:noFill/>
          <a:ln/>
        </p:spPr>
        <p:txBody>
          <a:bodyPr wrap="square" lIns="635" tIns="635" rIns="635" bIns="635" rtlCol="0" anchor="ctr"/>
          <a:lstStyle/>
          <a:p>
            <a:pPr algn="l" indent="0" marL="0">
              <a:buNone/>
            </a:pPr>
            <a:r>
              <a:rPr lang="en-US" sz="1250" b="1" dirty="0">
                <a:solidFill>
                  <a:schemeClr val="tx1"/>
                </a:solidFill>
              </a:rPr>
              <a:t>Evals · GPT-Live ↔ GPT-Live</a:t>
            </a:r>
            <a:endParaRPr lang="en-US" sz="1250" dirty="0"/>
          </a:p>
          <a:p>
            <a:pPr algn="l" indent="0" marL="0">
              <a:buNone/>
            </a:pPr>
            <a:r>
              <a:rPr lang="en-US" sz="1050" dirty="0">
                <a:solidFill>
                  <a:schemeClr val="tx2"/>
                </a:solidFill>
              </a:rPr>
              <a:t>simulated caller voice relay + gpt-5.6-terra judge</a:t>
            </a:r>
            <a:endParaRPr lang="en-US" sz="1250" dirty="0"/>
          </a:p>
        </p:txBody>
      </p:sp>
      <p:sp>
        <p:nvSpPr>
          <p:cNvPr id="32" name="node-77"/>
          <p:cNvSpPr/>
          <p:nvPr/>
        </p:nvSpPr>
        <p:spPr>
          <a:xfrm>
            <a:off x="548640" y="5486400"/>
            <a:ext cx="11064240" cy="685800"/>
          </a:xfrm>
          <a:prstGeom prst="roundRect">
            <a:avLst>
              <a:gd name="adj" fmla="val 13333"/>
            </a:avLst>
          </a:prstGeom>
          <a:solidFill>
            <a:srgbClr val="FEF3C7"/>
          </a:solidFill>
          <a:ln w="19050">
            <a:solidFill>
              <a:srgbClr val="F59E0B"/>
            </a:solidFill>
            <a:prstDash val="solid"/>
          </a:ln>
        </p:spPr>
      </p:sp>
      <p:sp>
        <p:nvSpPr>
          <p:cNvPr id="33" name="node-text-78"/>
          <p:cNvSpPr txBox="1"/>
          <p:nvPr/>
        </p:nvSpPr>
        <p:spPr>
          <a:xfrm>
            <a:off x="594360" y="5513832"/>
            <a:ext cx="10972800" cy="630936"/>
          </a:xfrm>
          <a:prstGeom prst="rect">
            <a:avLst/>
          </a:prstGeom>
          <a:noFill/>
          <a:ln/>
        </p:spPr>
        <p:txBody>
          <a:bodyPr wrap="square" lIns="635" tIns="635" rIns="635" bIns="635" rtlCol="0" anchor="ctr"/>
          <a:lstStyle/>
          <a:p>
            <a:pPr algn="ctr" indent="0" marL="0">
              <a:buNone/>
            </a:pPr>
            <a:r>
              <a:rPr lang="en-US" sz="1300" b="1" dirty="0">
                <a:solidFill>
                  <a:schemeClr val="tx1"/>
                </a:solidFill>
              </a:rPr>
              <a:t>Streaming UI · Next.js</a:t>
            </a:r>
            <a:endParaRPr lang="en-US" sz="1300" dirty="0"/>
          </a:p>
          <a:p>
            <a:pPr algn="ctr" indent="0" marL="0">
              <a:buNone/>
            </a:pPr>
            <a:r>
              <a:rPr lang="en-US" sz="1150" dirty="0">
                <a:solidFill>
                  <a:schemeClr val="tx2"/>
                </a:solidFill>
              </a:rPr>
              <a:t>SSE events → live tool steps (“Worked for 6s”), generative cards via show_visual, Debug lanes: audio · transcript · delegation · tools · commentary</a:t>
            </a:r>
            <a:endParaRPr lang="en-US" sz="1300" dirty="0"/>
          </a:p>
        </p:txBody>
      </p:sp>
      <p:sp>
        <p:nvSpPr>
          <p:cNvPr id="34" name="edge-79"/>
          <p:cNvSpPr/>
          <p:nvPr/>
        </p:nvSpPr>
        <p:spPr>
          <a:xfrm>
            <a:off x="4617720" y="5212080"/>
            <a:ext cx="0" cy="274320"/>
          </a:xfrm>
          <a:prstGeom prst="line">
            <a:avLst/>
          </a:prstGeom>
          <a:noFill/>
          <a:ln w="19050">
            <a:solidFill>
              <a:srgbClr val="F59E0B"/>
            </a:solidFill>
            <a:prstDash val="solid"/>
            <a:tailEnd type="triangle"/>
          </a:ln>
        </p:spPr>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Inside ARIA</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One bounded loop — the model proposes, the engine decides</a:t>
            </a:r>
            <a:endParaRPr lang="en-US" sz="2800" dirty="0"/>
          </a:p>
        </p:txBody>
      </p:sp>
      <p:sp>
        <p:nvSpPr>
          <p:cNvPr id="4" name="edge-80"/>
          <p:cNvSpPr/>
          <p:nvPr/>
        </p:nvSpPr>
        <p:spPr>
          <a:xfrm flipV="1">
            <a:off x="10789920" y="1481328"/>
            <a:ext cx="0" cy="301752"/>
          </a:xfrm>
          <a:prstGeom prst="line">
            <a:avLst/>
          </a:prstGeom>
          <a:noFill/>
          <a:ln w="19050">
            <a:solidFill>
              <a:srgbClr val="7C3AED"/>
            </a:solidFill>
            <a:prstDash val="solid"/>
          </a:ln>
        </p:spPr>
      </p:sp>
      <p:sp>
        <p:nvSpPr>
          <p:cNvPr id="5" name="edge-81"/>
          <p:cNvSpPr/>
          <p:nvPr/>
        </p:nvSpPr>
        <p:spPr>
          <a:xfrm flipH="1">
            <a:off x="5138928" y="1481328"/>
            <a:ext cx="5650992" cy="0"/>
          </a:xfrm>
          <a:prstGeom prst="line">
            <a:avLst/>
          </a:prstGeom>
          <a:noFill/>
          <a:ln w="19050">
            <a:solidFill>
              <a:srgbClr val="7C3AED"/>
            </a:solidFill>
            <a:prstDash val="solid"/>
          </a:ln>
        </p:spPr>
      </p:sp>
      <p:sp>
        <p:nvSpPr>
          <p:cNvPr id="6" name="edge-82"/>
          <p:cNvSpPr/>
          <p:nvPr/>
        </p:nvSpPr>
        <p:spPr>
          <a:xfrm>
            <a:off x="5138928" y="1481328"/>
            <a:ext cx="0" cy="301752"/>
          </a:xfrm>
          <a:prstGeom prst="line">
            <a:avLst/>
          </a:prstGeom>
          <a:noFill/>
          <a:ln w="19050">
            <a:solidFill>
              <a:srgbClr val="7C3AED"/>
            </a:solidFill>
            <a:prstDash val="solid"/>
            <a:tailEnd type="triangle"/>
          </a:ln>
        </p:spPr>
      </p:sp>
      <p:sp>
        <p:nvSpPr>
          <p:cNvPr id="7" name="text-83"/>
          <p:cNvSpPr txBox="1"/>
          <p:nvPr/>
        </p:nvSpPr>
        <p:spPr>
          <a:xfrm>
            <a:off x="6656832" y="1344168"/>
            <a:ext cx="1554480" cy="274320"/>
          </a:xfrm>
          <a:prstGeom prst="rect">
            <a:avLst/>
          </a:prstGeom>
          <a:solidFill>
            <a:srgbClr val="FFFFFF"/>
          </a:solidFill>
          <a:ln/>
        </p:spPr>
        <p:txBody>
          <a:bodyPr wrap="square" lIns="0" tIns="0" rIns="0" bIns="0" rtlCol="0" anchor="ctr"/>
          <a:lstStyle/>
          <a:p>
            <a:pPr algn="ctr" indent="0" marL="0">
              <a:buNone/>
            </a:pPr>
            <a:r>
              <a:rPr lang="en-US" sz="1050" b="1" dirty="0">
                <a:solidFill>
                  <a:schemeClr val="accent1"/>
                </a:solidFill>
              </a:rPr>
              <a:t>no → next test</a:t>
            </a:r>
            <a:endParaRPr lang="en-US" sz="1050" dirty="0"/>
          </a:p>
        </p:txBody>
      </p:sp>
      <p:sp>
        <p:nvSpPr>
          <p:cNvPr id="8" name="node-84"/>
          <p:cNvSpPr/>
          <p:nvPr/>
        </p:nvSpPr>
        <p:spPr>
          <a:xfrm>
            <a:off x="548640" y="1783080"/>
            <a:ext cx="1645920" cy="914400"/>
          </a:xfrm>
          <a:prstGeom prst="roundRect">
            <a:avLst>
              <a:gd name="adj" fmla="val 10000"/>
            </a:avLst>
          </a:prstGeom>
          <a:solidFill>
            <a:srgbClr val="DBEAFE"/>
          </a:solidFill>
          <a:ln w="19050">
            <a:solidFill>
              <a:srgbClr val="2563EB"/>
            </a:solidFill>
            <a:prstDash val="solid"/>
          </a:ln>
        </p:spPr>
      </p:sp>
      <p:sp>
        <p:nvSpPr>
          <p:cNvPr id="9" name="node-text-85"/>
          <p:cNvSpPr txBox="1"/>
          <p:nvPr/>
        </p:nvSpPr>
        <p:spPr>
          <a:xfrm>
            <a:off x="594360" y="1810512"/>
            <a:ext cx="1554480" cy="859536"/>
          </a:xfrm>
          <a:prstGeom prst="rect">
            <a:avLst/>
          </a:prstGeom>
          <a:noFill/>
          <a:ln/>
        </p:spPr>
        <p:txBody>
          <a:bodyPr wrap="square" lIns="635" tIns="635" rIns="635" bIns="635" rtlCol="0" anchor="ctr"/>
          <a:lstStyle/>
          <a:p>
            <a:pPr algn="ctr" indent="0" marL="0">
              <a:buNone/>
            </a:pPr>
            <a:r>
              <a:rPr lang="en-US" sz="1250" b="1" dirty="0">
                <a:solidFill>
                  <a:schemeClr val="tx1"/>
                </a:solidFill>
              </a:rPr>
              <a:t>Gather evidence</a:t>
            </a:r>
            <a:endParaRPr lang="en-US" sz="1250" dirty="0"/>
          </a:p>
          <a:p>
            <a:pPr algn="ctr" indent="0" marL="0">
              <a:buNone/>
            </a:pPr>
            <a:r>
              <a:rPr lang="en-US" sz="1000" dirty="0">
                <a:solidFill>
                  <a:schemeClr val="tx2"/>
                </a:solidFill>
              </a:rPr>
              <a:t>snapshot · alarms</a:t>
            </a:r>
            <a:endParaRPr lang="en-US" sz="1250" dirty="0"/>
          </a:p>
          <a:p>
            <a:pPr algn="ctr" indent="0" marL="0">
              <a:buNone/>
            </a:pPr>
            <a:r>
              <a:rPr lang="en-US" sz="1000" dirty="0">
                <a:solidFill>
                  <a:schemeClr val="tx2"/>
                </a:solidFill>
              </a:rPr>
              <a:t>sequence trace</a:t>
            </a:r>
            <a:endParaRPr lang="en-US" sz="1250" dirty="0"/>
          </a:p>
        </p:txBody>
      </p:sp>
      <p:sp>
        <p:nvSpPr>
          <p:cNvPr id="10" name="edge-86"/>
          <p:cNvSpPr/>
          <p:nvPr/>
        </p:nvSpPr>
        <p:spPr>
          <a:xfrm>
            <a:off x="2194560" y="2240280"/>
            <a:ext cx="237744" cy="0"/>
          </a:xfrm>
          <a:prstGeom prst="line">
            <a:avLst/>
          </a:prstGeom>
          <a:noFill/>
          <a:ln w="19050">
            <a:solidFill>
              <a:srgbClr val="64748B"/>
            </a:solidFill>
            <a:prstDash val="solid"/>
            <a:tailEnd type="triangle"/>
          </a:ln>
        </p:spPr>
      </p:sp>
      <p:sp>
        <p:nvSpPr>
          <p:cNvPr id="11" name="node-87"/>
          <p:cNvSpPr/>
          <p:nvPr/>
        </p:nvSpPr>
        <p:spPr>
          <a:xfrm>
            <a:off x="2432304" y="1783080"/>
            <a:ext cx="1645920" cy="914400"/>
          </a:xfrm>
          <a:prstGeom prst="roundRect">
            <a:avLst>
              <a:gd name="adj" fmla="val 10000"/>
            </a:avLst>
          </a:prstGeom>
          <a:solidFill>
            <a:srgbClr val="EDE9FE"/>
          </a:solidFill>
          <a:ln w="19050">
            <a:solidFill>
              <a:srgbClr val="7C3AED"/>
            </a:solidFill>
            <a:prstDash val="solid"/>
          </a:ln>
        </p:spPr>
      </p:sp>
      <p:sp>
        <p:nvSpPr>
          <p:cNvPr id="12" name="node-text-88"/>
          <p:cNvSpPr txBox="1"/>
          <p:nvPr/>
        </p:nvSpPr>
        <p:spPr>
          <a:xfrm>
            <a:off x="2478024" y="1810512"/>
            <a:ext cx="1554480" cy="859536"/>
          </a:xfrm>
          <a:prstGeom prst="rect">
            <a:avLst/>
          </a:prstGeom>
          <a:noFill/>
          <a:ln/>
        </p:spPr>
        <p:txBody>
          <a:bodyPr wrap="square" lIns="635" tIns="635" rIns="635" bIns="635" rtlCol="0" anchor="ctr"/>
          <a:lstStyle/>
          <a:p>
            <a:pPr algn="ctr" indent="0" marL="0">
              <a:buNone/>
            </a:pPr>
            <a:r>
              <a:rPr lang="en-US" sz="1250" b="1" dirty="0">
                <a:solidFill>
                  <a:schemeClr val="tx1"/>
                </a:solidFill>
              </a:rPr>
              <a:t>Hypotheses</a:t>
            </a:r>
            <a:endParaRPr lang="en-US" sz="1250" dirty="0"/>
          </a:p>
          <a:p>
            <a:pPr algn="ctr" indent="0" marL="0">
              <a:buNone/>
            </a:pPr>
            <a:r>
              <a:rPr lang="en-US" sz="1000" dirty="0">
                <a:solidFill>
                  <a:schemeClr val="tx2"/>
                </a:solidFill>
              </a:rPr>
              <a:t>fault model + history</a:t>
            </a:r>
            <a:endParaRPr lang="en-US" sz="1250" dirty="0"/>
          </a:p>
          <a:p>
            <a:pPr algn="ctr" indent="0" marL="0">
              <a:buNone/>
            </a:pPr>
            <a:r>
              <a:rPr lang="en-US" sz="1000" dirty="0">
                <a:solidFill>
                  <a:schemeClr val="tx2"/>
                </a:solidFill>
              </a:rPr>
              <a:t>starting likelihoods</a:t>
            </a:r>
            <a:endParaRPr lang="en-US" sz="1250" dirty="0"/>
          </a:p>
        </p:txBody>
      </p:sp>
      <p:sp>
        <p:nvSpPr>
          <p:cNvPr id="13" name="edge-89"/>
          <p:cNvSpPr/>
          <p:nvPr/>
        </p:nvSpPr>
        <p:spPr>
          <a:xfrm>
            <a:off x="4078224" y="2240280"/>
            <a:ext cx="237744" cy="0"/>
          </a:xfrm>
          <a:prstGeom prst="line">
            <a:avLst/>
          </a:prstGeom>
          <a:noFill/>
          <a:ln w="19050">
            <a:solidFill>
              <a:srgbClr val="64748B"/>
            </a:solidFill>
            <a:prstDash val="solid"/>
            <a:tailEnd type="triangle"/>
          </a:ln>
        </p:spPr>
      </p:sp>
      <p:sp>
        <p:nvSpPr>
          <p:cNvPr id="14" name="node-90"/>
          <p:cNvSpPr/>
          <p:nvPr/>
        </p:nvSpPr>
        <p:spPr>
          <a:xfrm>
            <a:off x="4315968" y="1783080"/>
            <a:ext cx="1645920" cy="914400"/>
          </a:xfrm>
          <a:prstGeom prst="roundRect">
            <a:avLst>
              <a:gd name="adj" fmla="val 10000"/>
            </a:avLst>
          </a:prstGeom>
          <a:solidFill>
            <a:srgbClr val="EDE9FE"/>
          </a:solidFill>
          <a:ln w="19050">
            <a:solidFill>
              <a:srgbClr val="7C3AED"/>
            </a:solidFill>
            <a:prstDash val="solid"/>
          </a:ln>
        </p:spPr>
      </p:sp>
      <p:sp>
        <p:nvSpPr>
          <p:cNvPr id="15" name="node-text-91"/>
          <p:cNvSpPr txBox="1"/>
          <p:nvPr/>
        </p:nvSpPr>
        <p:spPr>
          <a:xfrm>
            <a:off x="4361688" y="1810512"/>
            <a:ext cx="1554480" cy="859536"/>
          </a:xfrm>
          <a:prstGeom prst="rect">
            <a:avLst/>
          </a:prstGeom>
          <a:noFill/>
          <a:ln/>
        </p:spPr>
        <p:txBody>
          <a:bodyPr wrap="square" lIns="635" tIns="635" rIns="635" bIns="635" rtlCol="0" anchor="ctr"/>
          <a:lstStyle/>
          <a:p>
            <a:pPr algn="ctr" indent="0" marL="0">
              <a:buNone/>
            </a:pPr>
            <a:r>
              <a:rPr lang="en-US" sz="1250" b="1" dirty="0">
                <a:solidFill>
                  <a:schemeClr val="tx1"/>
                </a:solidFill>
              </a:rPr>
              <a:t>Select test</a:t>
            </a:r>
            <a:endParaRPr lang="en-US" sz="1250" dirty="0"/>
          </a:p>
          <a:p>
            <a:pPr algn="ctr" indent="0" marL="0">
              <a:buNone/>
            </a:pPr>
            <a:r>
              <a:rPr lang="en-US" sz="1000" dirty="0">
                <a:solidFill>
                  <a:schemeClr val="tx2"/>
                </a:solidFill>
              </a:rPr>
              <a:t>max information gain</a:t>
            </a:r>
            <a:endParaRPr lang="en-US" sz="1250" dirty="0"/>
          </a:p>
          <a:p>
            <a:pPr algn="ctr" indent="0" marL="0">
              <a:buNone/>
            </a:pPr>
            <a:r>
              <a:rPr lang="en-US" sz="1000" dirty="0">
                <a:solidFill>
                  <a:schemeClr val="tx2"/>
                </a:solidFill>
              </a:rPr>
              <a:t>safety preconditions</a:t>
            </a:r>
            <a:endParaRPr lang="en-US" sz="1250" dirty="0"/>
          </a:p>
        </p:txBody>
      </p:sp>
      <p:sp>
        <p:nvSpPr>
          <p:cNvPr id="16" name="edge-92"/>
          <p:cNvSpPr/>
          <p:nvPr/>
        </p:nvSpPr>
        <p:spPr>
          <a:xfrm>
            <a:off x="5961888" y="2240280"/>
            <a:ext cx="237744" cy="0"/>
          </a:xfrm>
          <a:prstGeom prst="line">
            <a:avLst/>
          </a:prstGeom>
          <a:noFill/>
          <a:ln w="19050">
            <a:solidFill>
              <a:srgbClr val="64748B"/>
            </a:solidFill>
            <a:prstDash val="solid"/>
            <a:tailEnd type="triangle"/>
          </a:ln>
        </p:spPr>
      </p:sp>
      <p:sp>
        <p:nvSpPr>
          <p:cNvPr id="17" name="node-93"/>
          <p:cNvSpPr/>
          <p:nvPr/>
        </p:nvSpPr>
        <p:spPr>
          <a:xfrm>
            <a:off x="6199632" y="1783080"/>
            <a:ext cx="1645920" cy="914400"/>
          </a:xfrm>
          <a:prstGeom prst="roundRect">
            <a:avLst>
              <a:gd name="adj" fmla="val 10000"/>
            </a:avLst>
          </a:prstGeom>
          <a:solidFill>
            <a:srgbClr val="F3F4F6"/>
          </a:solidFill>
          <a:ln w="19050">
            <a:solidFill>
              <a:srgbClr val="64748B"/>
            </a:solidFill>
            <a:prstDash val="solid"/>
          </a:ln>
        </p:spPr>
      </p:sp>
      <p:sp>
        <p:nvSpPr>
          <p:cNvPr id="18" name="node-text-94"/>
          <p:cNvSpPr txBox="1"/>
          <p:nvPr/>
        </p:nvSpPr>
        <p:spPr>
          <a:xfrm>
            <a:off x="6245352" y="1810512"/>
            <a:ext cx="1554480" cy="859536"/>
          </a:xfrm>
          <a:prstGeom prst="rect">
            <a:avLst/>
          </a:prstGeom>
          <a:noFill/>
          <a:ln/>
        </p:spPr>
        <p:txBody>
          <a:bodyPr wrap="square" lIns="635" tIns="635" rIns="635" bIns="635" rtlCol="0" anchor="ctr"/>
          <a:lstStyle/>
          <a:p>
            <a:pPr algn="ctr" indent="0" marL="0">
              <a:buNone/>
            </a:pPr>
            <a:r>
              <a:rPr lang="en-US" sz="1250" b="1" dirty="0">
                <a:solidFill>
                  <a:schemeClr val="tx1"/>
                </a:solidFill>
              </a:rPr>
              <a:t>Run test</a:t>
            </a:r>
            <a:endParaRPr lang="en-US" sz="1250" dirty="0"/>
          </a:p>
          <a:p>
            <a:pPr algn="ctr" indent="0" marL="0">
              <a:buNone/>
            </a:pPr>
            <a:r>
              <a:rPr lang="en-US" sz="1000" dirty="0">
                <a:solidFill>
                  <a:schemeClr val="tx2"/>
                </a:solidFill>
              </a:rPr>
              <a:t>simulated PLC</a:t>
            </a:r>
            <a:endParaRPr lang="en-US" sz="1250" dirty="0"/>
          </a:p>
          <a:p>
            <a:pPr algn="ctr" indent="0" marL="0">
              <a:buNone/>
            </a:pPr>
            <a:r>
              <a:rPr lang="en-US" sz="1000" dirty="0">
                <a:solidFill>
                  <a:schemeClr val="tx2"/>
                </a:solidFill>
              </a:rPr>
              <a:t>real result returned</a:t>
            </a:r>
            <a:endParaRPr lang="en-US" sz="1250" dirty="0"/>
          </a:p>
        </p:txBody>
      </p:sp>
      <p:sp>
        <p:nvSpPr>
          <p:cNvPr id="19" name="edge-95"/>
          <p:cNvSpPr/>
          <p:nvPr/>
        </p:nvSpPr>
        <p:spPr>
          <a:xfrm>
            <a:off x="7845552" y="2240280"/>
            <a:ext cx="237744" cy="0"/>
          </a:xfrm>
          <a:prstGeom prst="line">
            <a:avLst/>
          </a:prstGeom>
          <a:noFill/>
          <a:ln w="19050">
            <a:solidFill>
              <a:srgbClr val="64748B"/>
            </a:solidFill>
            <a:prstDash val="solid"/>
            <a:tailEnd type="triangle"/>
          </a:ln>
        </p:spPr>
      </p:sp>
      <p:sp>
        <p:nvSpPr>
          <p:cNvPr id="20" name="node-96"/>
          <p:cNvSpPr/>
          <p:nvPr/>
        </p:nvSpPr>
        <p:spPr>
          <a:xfrm>
            <a:off x="8083296" y="1783080"/>
            <a:ext cx="1645920" cy="914400"/>
          </a:xfrm>
          <a:prstGeom prst="roundRect">
            <a:avLst>
              <a:gd name="adj" fmla="val 10000"/>
            </a:avLst>
          </a:prstGeom>
          <a:solidFill>
            <a:srgbClr val="EDE9FE"/>
          </a:solidFill>
          <a:ln w="19050">
            <a:solidFill>
              <a:srgbClr val="7C3AED"/>
            </a:solidFill>
            <a:prstDash val="solid"/>
          </a:ln>
        </p:spPr>
      </p:sp>
      <p:sp>
        <p:nvSpPr>
          <p:cNvPr id="21" name="node-text-97"/>
          <p:cNvSpPr txBox="1"/>
          <p:nvPr/>
        </p:nvSpPr>
        <p:spPr>
          <a:xfrm>
            <a:off x="8129016" y="1810512"/>
            <a:ext cx="1554480" cy="859536"/>
          </a:xfrm>
          <a:prstGeom prst="rect">
            <a:avLst/>
          </a:prstGeom>
          <a:noFill/>
          <a:ln/>
        </p:spPr>
        <p:txBody>
          <a:bodyPr wrap="square" lIns="635" tIns="635" rIns="635" bIns="635" rtlCol="0" anchor="ctr"/>
          <a:lstStyle/>
          <a:p>
            <a:pPr algn="ctr" indent="0" marL="0">
              <a:buNone/>
            </a:pPr>
            <a:r>
              <a:rPr lang="en-US" sz="1250" b="1" dirty="0">
                <a:solidFill>
                  <a:schemeClr val="tx1"/>
                </a:solidFill>
              </a:rPr>
              <a:t>Bayesian update</a:t>
            </a:r>
            <a:endParaRPr lang="en-US" sz="1250" dirty="0"/>
          </a:p>
          <a:p>
            <a:pPr algn="ctr" indent="0" marL="0">
              <a:buNone/>
            </a:pPr>
            <a:r>
              <a:rPr lang="en-US" sz="1000" dirty="0">
                <a:solidFill>
                  <a:schemeClr val="tx2"/>
                </a:solidFill>
              </a:rPr>
              <a:t>for / against</a:t>
            </a:r>
            <a:endParaRPr lang="en-US" sz="1250" dirty="0"/>
          </a:p>
          <a:p>
            <a:pPr algn="ctr" indent="0" marL="0">
              <a:buNone/>
            </a:pPr>
            <a:r>
              <a:rPr lang="en-US" sz="1000" dirty="0">
                <a:solidFill>
                  <a:schemeClr val="tx2"/>
                </a:solidFill>
              </a:rPr>
              <a:t>rule out &lt; 2 %</a:t>
            </a:r>
            <a:endParaRPr lang="en-US" sz="1250" dirty="0"/>
          </a:p>
        </p:txBody>
      </p:sp>
      <p:sp>
        <p:nvSpPr>
          <p:cNvPr id="22" name="edge-98"/>
          <p:cNvSpPr/>
          <p:nvPr/>
        </p:nvSpPr>
        <p:spPr>
          <a:xfrm>
            <a:off x="9729216" y="2240280"/>
            <a:ext cx="237744" cy="0"/>
          </a:xfrm>
          <a:prstGeom prst="line">
            <a:avLst/>
          </a:prstGeom>
          <a:noFill/>
          <a:ln w="19050">
            <a:solidFill>
              <a:srgbClr val="64748B"/>
            </a:solidFill>
            <a:prstDash val="solid"/>
            <a:tailEnd type="triangle"/>
          </a:ln>
        </p:spPr>
      </p:sp>
      <p:sp>
        <p:nvSpPr>
          <p:cNvPr id="23" name="node-99"/>
          <p:cNvSpPr/>
          <p:nvPr/>
        </p:nvSpPr>
        <p:spPr>
          <a:xfrm>
            <a:off x="9966960" y="1783080"/>
            <a:ext cx="1645920" cy="914400"/>
          </a:xfrm>
          <a:prstGeom prst="diamond">
            <a:avLst/>
          </a:prstGeom>
          <a:solidFill>
            <a:srgbClr val="FEF3C7"/>
          </a:solidFill>
          <a:ln w="19050">
            <a:solidFill>
              <a:srgbClr val="F59E0B"/>
            </a:solidFill>
            <a:prstDash val="solid"/>
          </a:ln>
        </p:spPr>
      </p:sp>
      <p:sp>
        <p:nvSpPr>
          <p:cNvPr id="24" name="node-text-100"/>
          <p:cNvSpPr txBox="1"/>
          <p:nvPr/>
        </p:nvSpPr>
        <p:spPr>
          <a:xfrm>
            <a:off x="10012680" y="1810512"/>
            <a:ext cx="1554480" cy="859536"/>
          </a:xfrm>
          <a:prstGeom prst="rect">
            <a:avLst/>
          </a:prstGeom>
          <a:noFill/>
          <a:ln/>
        </p:spPr>
        <p:txBody>
          <a:bodyPr wrap="square" lIns="635" tIns="635" rIns="635" bIns="635" rtlCol="0" anchor="ctr"/>
          <a:lstStyle/>
          <a:p>
            <a:pPr algn="ctr" indent="0" marL="0">
              <a:buNone/>
            </a:pPr>
            <a:r>
              <a:rPr lang="en-US" sz="1200" b="1" dirty="0">
                <a:solidFill>
                  <a:schemeClr val="tx1"/>
                </a:solidFill>
              </a:rPr>
              <a:t>Stop rule?</a:t>
            </a:r>
            <a:endParaRPr lang="en-US" sz="1200" dirty="0"/>
          </a:p>
        </p:txBody>
      </p:sp>
      <p:sp>
        <p:nvSpPr>
          <p:cNvPr id="25" name="edge-101"/>
          <p:cNvSpPr/>
          <p:nvPr/>
        </p:nvSpPr>
        <p:spPr>
          <a:xfrm>
            <a:off x="10789920" y="2697480"/>
            <a:ext cx="0" cy="365760"/>
          </a:xfrm>
          <a:prstGeom prst="line">
            <a:avLst/>
          </a:prstGeom>
          <a:noFill/>
          <a:ln w="19050">
            <a:solidFill>
              <a:srgbClr val="10B981"/>
            </a:solidFill>
            <a:prstDash val="solid"/>
            <a:tailEnd type="triangle"/>
          </a:ln>
        </p:spPr>
      </p:sp>
      <p:sp>
        <p:nvSpPr>
          <p:cNvPr id="26" name="text-102"/>
          <p:cNvSpPr txBox="1"/>
          <p:nvPr/>
        </p:nvSpPr>
        <p:spPr>
          <a:xfrm>
            <a:off x="10835640" y="2715768"/>
            <a:ext cx="457200" cy="274320"/>
          </a:xfrm>
          <a:prstGeom prst="rect">
            <a:avLst/>
          </a:prstGeom>
          <a:noFill/>
          <a:ln/>
        </p:spPr>
        <p:txBody>
          <a:bodyPr wrap="square" lIns="762" tIns="762" rIns="762" bIns="762" rtlCol="0" anchor="t"/>
          <a:lstStyle/>
          <a:p>
            <a:pPr algn="l" indent="0" marL="0">
              <a:buNone/>
            </a:pPr>
            <a:r>
              <a:rPr lang="en-US" sz="1050" b="1" dirty="0">
                <a:solidFill>
                  <a:schemeClr val="accent4"/>
                </a:solidFill>
              </a:rPr>
              <a:t>yes</a:t>
            </a:r>
            <a:endParaRPr lang="en-US" sz="1050" dirty="0"/>
          </a:p>
        </p:txBody>
      </p:sp>
      <p:sp>
        <p:nvSpPr>
          <p:cNvPr id="27" name="node-103"/>
          <p:cNvSpPr/>
          <p:nvPr/>
        </p:nvSpPr>
        <p:spPr>
          <a:xfrm>
            <a:off x="9418320" y="3063240"/>
            <a:ext cx="2194560" cy="822960"/>
          </a:xfrm>
          <a:prstGeom prst="roundRect">
            <a:avLst>
              <a:gd name="adj" fmla="val 11111"/>
            </a:avLst>
          </a:prstGeom>
          <a:solidFill>
            <a:srgbClr val="D1FAE5"/>
          </a:solidFill>
          <a:ln w="19050">
            <a:solidFill>
              <a:srgbClr val="10B981"/>
            </a:solidFill>
            <a:prstDash val="solid"/>
          </a:ln>
        </p:spPr>
      </p:sp>
      <p:sp>
        <p:nvSpPr>
          <p:cNvPr id="28" name="node-text-104"/>
          <p:cNvSpPr txBox="1"/>
          <p:nvPr/>
        </p:nvSpPr>
        <p:spPr>
          <a:xfrm>
            <a:off x="9464040" y="3090672"/>
            <a:ext cx="2103120" cy="768096"/>
          </a:xfrm>
          <a:prstGeom prst="rect">
            <a:avLst/>
          </a:prstGeom>
          <a:noFill/>
          <a:ln/>
        </p:spPr>
        <p:txBody>
          <a:bodyPr wrap="square" lIns="635" tIns="635" rIns="635" bIns="635" rtlCol="0" anchor="ctr"/>
          <a:lstStyle/>
          <a:p>
            <a:pPr algn="ctr" indent="0" marL="0">
              <a:buNone/>
            </a:pPr>
            <a:r>
              <a:rPr lang="en-US" sz="1200" b="1" dirty="0">
                <a:solidFill>
                  <a:schemeClr val="tx1"/>
                </a:solidFill>
              </a:rPr>
              <a:t>Write → verify → speak</a:t>
            </a:r>
            <a:endParaRPr lang="en-US" sz="1200" dirty="0"/>
          </a:p>
          <a:p>
            <a:pPr algn="ctr" indent="0" marL="0">
              <a:buNone/>
            </a:pPr>
            <a:r>
              <a:rPr lang="en-US" sz="1000" dirty="0">
                <a:solidFill>
                  <a:schemeClr val="tx2"/>
                </a:solidFill>
              </a:rPr>
              <a:t>refs · tests · confidence</a:t>
            </a:r>
            <a:endParaRPr lang="en-US" sz="1200" dirty="0"/>
          </a:p>
          <a:p>
            <a:pPr algn="ctr" indent="0" marL="0">
              <a:buNone/>
            </a:pPr>
            <a:r>
              <a:rPr lang="en-US" sz="1000" dirty="0">
                <a:solidFill>
                  <a:schemeClr val="tx2"/>
                </a:solidFill>
              </a:rPr>
              <a:t>+ luna grounding audit</a:t>
            </a:r>
            <a:endParaRPr lang="en-US" sz="1200" dirty="0"/>
          </a:p>
        </p:txBody>
      </p:sp>
      <p:sp>
        <p:nvSpPr>
          <p:cNvPr id="29" name="node-105"/>
          <p:cNvSpPr/>
          <p:nvPr/>
        </p:nvSpPr>
        <p:spPr>
          <a:xfrm>
            <a:off x="548640" y="3063240"/>
            <a:ext cx="8458200" cy="822960"/>
          </a:xfrm>
          <a:prstGeom prst="roundRect">
            <a:avLst>
              <a:gd name="adj" fmla="val 11111"/>
            </a:avLst>
          </a:prstGeom>
          <a:solidFill>
            <a:srgbClr val="FFFFFF"/>
          </a:solidFill>
          <a:ln w="19050">
            <a:solidFill>
              <a:srgbClr val="F59E0B"/>
            </a:solidFill>
            <a:prstDash val="solid"/>
          </a:ln>
        </p:spPr>
      </p:sp>
      <p:sp>
        <p:nvSpPr>
          <p:cNvPr id="30" name="node-text-106"/>
          <p:cNvSpPr txBox="1"/>
          <p:nvPr/>
        </p:nvSpPr>
        <p:spPr>
          <a:xfrm>
            <a:off x="594360" y="3090672"/>
            <a:ext cx="8366760" cy="768096"/>
          </a:xfrm>
          <a:prstGeom prst="rect">
            <a:avLst/>
          </a:prstGeom>
          <a:noFill/>
          <a:ln/>
        </p:spPr>
        <p:txBody>
          <a:bodyPr wrap="square" lIns="635" tIns="635" rIns="635" bIns="635" rtlCol="0" anchor="ctr"/>
          <a:lstStyle/>
          <a:p>
            <a:pPr algn="l" indent="0" marL="0">
              <a:buNone/>
            </a:pPr>
            <a:r>
              <a:rPr lang="en-US" sz="1300" b="1" dirty="0">
                <a:solidFill>
                  <a:schemeClr val="tx1"/>
                </a:solidFill>
              </a:rPr>
              <a:t>Engine rules (code, not prompt)</a:t>
            </a:r>
            <a:endParaRPr lang="en-US" sz="1300" dirty="0"/>
          </a:p>
          <a:p>
            <a:pPr algn="l" indent="0" marL="0">
              <a:buNone/>
            </a:pPr>
            <a:r>
              <a:rPr lang="en-US" sz="1100" dirty="0">
                <a:solidFill>
                  <a:schemeClr val="tx2"/>
                </a:solidFill>
              </a:rPr>
              <a:t>stop at ≥ 90 % with support and no contradiction · or no safe test left · or budget / timeout → “uncertain, call a technician” · operator remarks are capped evidence</a:t>
            </a:r>
            <a:endParaRPr lang="en-US" sz="1300" dirty="0"/>
          </a:p>
        </p:txBody>
      </p:sp>
      <p:sp>
        <p:nvSpPr>
          <p:cNvPr id="31" name="text-107"/>
          <p:cNvSpPr txBox="1"/>
          <p:nvPr/>
        </p:nvSpPr>
        <p:spPr>
          <a:xfrm>
            <a:off x="548640" y="4069080"/>
            <a:ext cx="5486400" cy="320040"/>
          </a:xfrm>
          <a:prstGeom prst="rect">
            <a:avLst/>
          </a:prstGeom>
          <a:noFill/>
          <a:ln/>
        </p:spPr>
        <p:txBody>
          <a:bodyPr wrap="square" lIns="0" tIns="0" rIns="0" bIns="0" rtlCol="0" anchor="t"/>
          <a:lstStyle/>
          <a:p>
            <a:pPr algn="l" indent="0" marL="0">
              <a:buNone/>
            </a:pPr>
            <a:r>
              <a:rPr lang="en-US" sz="1300" b="1" dirty="0">
                <a:solidFill>
                  <a:schemeClr val="accent6"/>
                </a:solidFill>
              </a:rPr>
              <a:t>Strict function tools the loop calls</a:t>
            </a:r>
            <a:endParaRPr lang="en-US" sz="1300" dirty="0"/>
          </a:p>
        </p:txBody>
      </p:sp>
      <p:sp>
        <p:nvSpPr>
          <p:cNvPr id="32" name="node-108"/>
          <p:cNvSpPr/>
          <p:nvPr/>
        </p:nvSpPr>
        <p:spPr>
          <a:xfrm>
            <a:off x="548640" y="4434840"/>
            <a:ext cx="2057400" cy="1691640"/>
          </a:xfrm>
          <a:prstGeom prst="roundRect">
            <a:avLst>
              <a:gd name="adj" fmla="val 5405"/>
            </a:avLst>
          </a:prstGeom>
          <a:solidFill>
            <a:srgbClr val="DBEAFE"/>
          </a:solidFill>
          <a:ln w="19050">
            <a:solidFill>
              <a:srgbClr val="2563EB"/>
            </a:solidFill>
            <a:prstDash val="solid"/>
          </a:ln>
        </p:spPr>
      </p:sp>
      <p:sp>
        <p:nvSpPr>
          <p:cNvPr id="33" name="node-text-109"/>
          <p:cNvSpPr txBox="1"/>
          <p:nvPr/>
        </p:nvSpPr>
        <p:spPr>
          <a:xfrm>
            <a:off x="594360" y="4462272"/>
            <a:ext cx="1965960" cy="1636776"/>
          </a:xfrm>
          <a:prstGeom prst="rect">
            <a:avLst/>
          </a:prstGeom>
          <a:noFill/>
          <a:ln/>
        </p:spPr>
        <p:txBody>
          <a:bodyPr wrap="square" lIns="635" tIns="635" rIns="635" bIns="635" rtlCol="0" anchor="ctr"/>
          <a:lstStyle/>
          <a:p>
            <a:pPr algn="ctr" indent="0" marL="0">
              <a:buNone/>
            </a:pPr>
            <a:r>
              <a:rPr lang="en-US" sz="1300" b="1" dirty="0">
                <a:solidFill>
                  <a:schemeClr val="tx1"/>
                </a:solidFill>
              </a:rPr>
              <a:t>Knowledge RAG</a:t>
            </a:r>
            <a:endParaRPr lang="en-US" sz="1300" dirty="0"/>
          </a:p>
          <a:p>
            <a:pPr algn="ctr" indent="0" marL="0">
              <a:buNone/>
            </a:pPr>
            <a:r>
              <a:rPr lang="en-US" sz="1050" dirty="0">
                <a:solidFill>
                  <a:schemeClr val="tx2"/>
                </a:solidFill>
              </a:rPr>
              <a:t>BM25 + embeddings</a:t>
            </a:r>
            <a:endParaRPr lang="en-US" sz="1300" dirty="0"/>
          </a:p>
          <a:p>
            <a:pPr algn="ctr" indent="0" marL="0">
              <a:buNone/>
            </a:pPr>
            <a:r>
              <a:rPr lang="en-US" sz="1050" dirty="0">
                <a:solidFill>
                  <a:schemeClr val="tx2"/>
                </a:solidFill>
              </a:rPr>
              <a:t>RRF fusion → luna rerank</a:t>
            </a:r>
            <a:endParaRPr lang="en-US" sz="1300" dirty="0"/>
          </a:p>
          <a:p>
            <a:pPr algn="ctr" indent="0" marL="0">
              <a:buNone/>
            </a:pPr>
            <a:r>
              <a:rPr lang="en-US" sz="1050" dirty="0">
                <a:solidFill>
                  <a:schemeClr val="tx2"/>
                </a:solidFill>
              </a:rPr>
              <a:t>section citations</a:t>
            </a:r>
            <a:endParaRPr lang="en-US" sz="1300" dirty="0"/>
          </a:p>
        </p:txBody>
      </p:sp>
      <p:sp>
        <p:nvSpPr>
          <p:cNvPr id="34" name="node-110"/>
          <p:cNvSpPr/>
          <p:nvPr/>
        </p:nvSpPr>
        <p:spPr>
          <a:xfrm>
            <a:off x="2788920" y="4434840"/>
            <a:ext cx="2057400" cy="1691640"/>
          </a:xfrm>
          <a:prstGeom prst="roundRect">
            <a:avLst>
              <a:gd name="adj" fmla="val 5405"/>
            </a:avLst>
          </a:prstGeom>
          <a:solidFill>
            <a:srgbClr val="EDE9FE"/>
          </a:solidFill>
          <a:ln w="19050">
            <a:solidFill>
              <a:srgbClr val="7C3AED"/>
            </a:solidFill>
            <a:prstDash val="solid"/>
          </a:ln>
        </p:spPr>
      </p:sp>
      <p:sp>
        <p:nvSpPr>
          <p:cNvPr id="35" name="node-text-111"/>
          <p:cNvSpPr txBox="1"/>
          <p:nvPr/>
        </p:nvSpPr>
        <p:spPr>
          <a:xfrm>
            <a:off x="2834640" y="4462272"/>
            <a:ext cx="1965960" cy="1636776"/>
          </a:xfrm>
          <a:prstGeom prst="rect">
            <a:avLst/>
          </a:prstGeom>
          <a:noFill/>
          <a:ln/>
        </p:spPr>
        <p:txBody>
          <a:bodyPr wrap="square" lIns="635" tIns="635" rIns="635" bIns="635" rtlCol="0" anchor="ctr"/>
          <a:lstStyle/>
          <a:p>
            <a:pPr algn="ctr" indent="0" marL="0">
              <a:buNone/>
            </a:pPr>
            <a:r>
              <a:rPr lang="en-US" sz="1300" b="1" dirty="0">
                <a:solidFill>
                  <a:schemeClr val="tx1"/>
                </a:solidFill>
              </a:rPr>
              <a:t>Temporal KB</a:t>
            </a:r>
            <a:endParaRPr lang="en-US" sz="1300" dirty="0"/>
          </a:p>
          <a:p>
            <a:pPr algn="ctr" indent="0" marL="0">
              <a:buNone/>
            </a:pPr>
            <a:r>
              <a:rPr lang="en-US" sz="1050" dirty="0">
                <a:solidFill>
                  <a:schemeClr val="tx2"/>
                </a:solidFill>
              </a:rPr>
              <a:t>incident timelines</a:t>
            </a:r>
            <a:endParaRPr lang="en-US" sz="1300" dirty="0"/>
          </a:p>
          <a:p>
            <a:pPr algn="ctr" indent="0" marL="0">
              <a:buNone/>
            </a:pPr>
            <a:r>
              <a:rPr lang="en-US" sz="1050" dirty="0">
                <a:solidFill>
                  <a:schemeClr val="tx2"/>
                </a:solidFill>
              </a:rPr>
              <a:t>facts: static · event · state</a:t>
            </a:r>
            <a:endParaRPr lang="en-US" sz="1300" dirty="0"/>
          </a:p>
          <a:p>
            <a:pPr algn="ctr" indent="0" marL="0">
              <a:buNone/>
            </a:pPr>
            <a:r>
              <a:rPr lang="en-US" sz="1050" dirty="0">
                <a:solidFill>
                  <a:schemeClr val="tx2"/>
                </a:solidFill>
              </a:rPr>
              <a:t>valid_from / valid_to</a:t>
            </a:r>
            <a:endParaRPr lang="en-US" sz="1300" dirty="0"/>
          </a:p>
        </p:txBody>
      </p:sp>
      <p:sp>
        <p:nvSpPr>
          <p:cNvPr id="36" name="node-112"/>
          <p:cNvSpPr/>
          <p:nvPr/>
        </p:nvSpPr>
        <p:spPr>
          <a:xfrm>
            <a:off x="5029200" y="4434840"/>
            <a:ext cx="2057400" cy="1691640"/>
          </a:xfrm>
          <a:prstGeom prst="roundRect">
            <a:avLst>
              <a:gd name="adj" fmla="val 5405"/>
            </a:avLst>
          </a:prstGeom>
          <a:solidFill>
            <a:srgbClr val="FEE2E2"/>
          </a:solidFill>
          <a:ln w="19050">
            <a:solidFill>
              <a:srgbClr val="DC2626"/>
            </a:solidFill>
            <a:prstDash val="solid"/>
          </a:ln>
        </p:spPr>
      </p:sp>
      <p:sp>
        <p:nvSpPr>
          <p:cNvPr id="37" name="node-text-113"/>
          <p:cNvSpPr txBox="1"/>
          <p:nvPr/>
        </p:nvSpPr>
        <p:spPr>
          <a:xfrm>
            <a:off x="5074920" y="4462272"/>
            <a:ext cx="1965960" cy="1636776"/>
          </a:xfrm>
          <a:prstGeom prst="rect">
            <a:avLst/>
          </a:prstGeom>
          <a:noFill/>
          <a:ln/>
        </p:spPr>
        <p:txBody>
          <a:bodyPr wrap="square" lIns="635" tIns="635" rIns="635" bIns="635" rtlCol="0" anchor="ctr"/>
          <a:lstStyle/>
          <a:p>
            <a:pPr algn="ctr" indent="0" marL="0">
              <a:buNone/>
            </a:pPr>
            <a:r>
              <a:rPr lang="en-US" sz="1300" b="1" dirty="0">
                <a:solidFill>
                  <a:schemeClr val="tx1"/>
                </a:solidFill>
              </a:rPr>
              <a:t>Safety policy</a:t>
            </a:r>
            <a:endParaRPr lang="en-US" sz="1300" dirty="0"/>
          </a:p>
          <a:p>
            <a:pPr algn="ctr" indent="0" marL="0">
              <a:buNone/>
            </a:pPr>
            <a:r>
              <a:rPr lang="en-US" sz="1050" dirty="0">
                <a:solidFill>
                  <a:schemeClr val="tx2"/>
                </a:solidFill>
              </a:rPr>
              <a:t>motion tests need robot home</a:t>
            </a:r>
            <a:endParaRPr lang="en-US" sz="1300" dirty="0"/>
          </a:p>
          <a:p>
            <a:pPr algn="ctr" indent="0" marL="0">
              <a:buNone/>
            </a:pPr>
            <a:r>
              <a:rPr lang="en-US" sz="1050" dirty="0">
                <a:solidFill>
                  <a:schemeClr val="tx2"/>
                </a:solidFill>
              </a:rPr>
              <a:t>no restart · reset · bypass</a:t>
            </a:r>
            <a:endParaRPr lang="en-US" sz="1300" dirty="0"/>
          </a:p>
          <a:p>
            <a:pPr algn="ctr" indent="0" marL="0">
              <a:buNone/>
            </a:pPr>
            <a:r>
              <a:rPr lang="en-US" sz="1050" dirty="0">
                <a:solidFill>
                  <a:schemeClr val="tx2"/>
                </a:solidFill>
              </a:rPr>
              <a:t>every request logged</a:t>
            </a:r>
            <a:endParaRPr lang="en-US" sz="1300" dirty="0"/>
          </a:p>
        </p:txBody>
      </p:sp>
      <p:sp>
        <p:nvSpPr>
          <p:cNvPr id="38" name="node-114"/>
          <p:cNvSpPr/>
          <p:nvPr/>
        </p:nvSpPr>
        <p:spPr>
          <a:xfrm>
            <a:off x="7269480" y="4434840"/>
            <a:ext cx="2057400" cy="1691640"/>
          </a:xfrm>
          <a:prstGeom prst="roundRect">
            <a:avLst>
              <a:gd name="adj" fmla="val 5405"/>
            </a:avLst>
          </a:prstGeom>
          <a:solidFill>
            <a:srgbClr val="F3F4F6"/>
          </a:solidFill>
          <a:ln w="19050">
            <a:solidFill>
              <a:srgbClr val="64748B"/>
            </a:solidFill>
            <a:prstDash val="solid"/>
          </a:ln>
        </p:spPr>
      </p:sp>
      <p:sp>
        <p:nvSpPr>
          <p:cNvPr id="39" name="node-text-115"/>
          <p:cNvSpPr txBox="1"/>
          <p:nvPr/>
        </p:nvSpPr>
        <p:spPr>
          <a:xfrm>
            <a:off x="7315200" y="4462272"/>
            <a:ext cx="1965960" cy="1636776"/>
          </a:xfrm>
          <a:prstGeom prst="rect">
            <a:avLst/>
          </a:prstGeom>
          <a:noFill/>
          <a:ln/>
        </p:spPr>
        <p:txBody>
          <a:bodyPr wrap="square" lIns="635" tIns="635" rIns="635" bIns="635" rtlCol="0" anchor="ctr"/>
          <a:lstStyle/>
          <a:p>
            <a:pPr algn="ctr" indent="0" marL="0">
              <a:buNone/>
            </a:pPr>
            <a:r>
              <a:rPr lang="en-US" sz="1300" b="1" dirty="0">
                <a:solidFill>
                  <a:schemeClr val="tx1"/>
                </a:solidFill>
              </a:rPr>
              <a:t>CMMS</a:t>
            </a:r>
            <a:endParaRPr lang="en-US" sz="1300" dirty="0"/>
          </a:p>
          <a:p>
            <a:pPr algn="ctr" indent="0" marL="0">
              <a:buNone/>
            </a:pPr>
            <a:r>
              <a:rPr lang="en-US" sz="1050" dirty="0">
                <a:solidFill>
                  <a:schemeClr val="tx2"/>
                </a:solidFill>
              </a:rPr>
              <a:t>maintenance plan</a:t>
            </a:r>
            <a:endParaRPr lang="en-US" sz="1300" dirty="0"/>
          </a:p>
          <a:p>
            <a:pPr algn="ctr" indent="0" marL="0">
              <a:buNone/>
            </a:pPr>
            <a:r>
              <a:rPr lang="en-US" sz="1050" dirty="0">
                <a:solidFill>
                  <a:schemeClr val="tx2"/>
                </a:solidFill>
              </a:rPr>
              <a:t>overdue tasks</a:t>
            </a:r>
            <a:endParaRPr lang="en-US" sz="1300" dirty="0"/>
          </a:p>
          <a:p>
            <a:pPr algn="ctr" indent="0" marL="0">
              <a:buNone/>
            </a:pPr>
            <a:r>
              <a:rPr lang="en-US" sz="1050" dirty="0">
                <a:solidFill>
                  <a:schemeClr val="tx2"/>
                </a:solidFill>
              </a:rPr>
              <a:t>work orders + evidence</a:t>
            </a:r>
            <a:endParaRPr lang="en-US" sz="1300" dirty="0"/>
          </a:p>
        </p:txBody>
      </p:sp>
      <p:sp>
        <p:nvSpPr>
          <p:cNvPr id="40" name="node-116"/>
          <p:cNvSpPr/>
          <p:nvPr/>
        </p:nvSpPr>
        <p:spPr>
          <a:xfrm>
            <a:off x="9509760" y="4434840"/>
            <a:ext cx="2057400" cy="1691640"/>
          </a:xfrm>
          <a:prstGeom prst="roundRect">
            <a:avLst>
              <a:gd name="adj" fmla="val 5405"/>
            </a:avLst>
          </a:prstGeom>
          <a:solidFill>
            <a:srgbClr val="FEF3C7"/>
          </a:solidFill>
          <a:ln w="19050">
            <a:solidFill>
              <a:srgbClr val="F59E0B"/>
            </a:solidFill>
            <a:prstDash val="solid"/>
          </a:ln>
        </p:spPr>
      </p:sp>
      <p:sp>
        <p:nvSpPr>
          <p:cNvPr id="41" name="node-text-117"/>
          <p:cNvSpPr txBox="1"/>
          <p:nvPr/>
        </p:nvSpPr>
        <p:spPr>
          <a:xfrm>
            <a:off x="9555480" y="4462272"/>
            <a:ext cx="1965960" cy="1636776"/>
          </a:xfrm>
          <a:prstGeom prst="rect">
            <a:avLst/>
          </a:prstGeom>
          <a:noFill/>
          <a:ln/>
        </p:spPr>
        <p:txBody>
          <a:bodyPr wrap="square" lIns="635" tIns="635" rIns="635" bIns="635" rtlCol="0" anchor="ctr"/>
          <a:lstStyle/>
          <a:p>
            <a:pPr algn="ctr" indent="0" marL="0">
              <a:buNone/>
            </a:pPr>
            <a:r>
              <a:rPr lang="en-US" sz="1300" b="1" dirty="0">
                <a:solidFill>
                  <a:schemeClr val="tx1"/>
                </a:solidFill>
              </a:rPr>
              <a:t>Generative UI</a:t>
            </a:r>
            <a:endParaRPr lang="en-US" sz="1300" dirty="0"/>
          </a:p>
          <a:p>
            <a:pPr algn="ctr" indent="0" marL="0">
              <a:buNone/>
            </a:pPr>
            <a:r>
              <a:rPr lang="en-US" sz="1050" dirty="0">
                <a:solidFill>
                  <a:schemeClr val="tx2"/>
                </a:solidFill>
              </a:rPr>
              <a:t>show_visual cards on ask</a:t>
            </a:r>
            <a:endParaRPr lang="en-US" sz="1300" dirty="0"/>
          </a:p>
          <a:p>
            <a:pPr algn="ctr" indent="0" marL="0">
              <a:buNone/>
            </a:pPr>
            <a:r>
              <a:rPr lang="en-US" sz="1050" dirty="0">
                <a:solidFill>
                  <a:schemeClr val="tx2"/>
                </a:solidFill>
              </a:rPr>
              <a:t>investigation card</a:t>
            </a:r>
            <a:endParaRPr lang="en-US" sz="1300" dirty="0"/>
          </a:p>
          <a:p>
            <a:pPr algn="ctr" indent="0" marL="0">
              <a:buNone/>
            </a:pPr>
            <a:r>
              <a:rPr lang="en-US" sz="1050" dirty="0">
                <a:solidFill>
                  <a:schemeClr val="tx2"/>
                </a:solidFill>
              </a:rPr>
              <a:t>debug timeline</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ARIA">
  <a:themeElements>
    <a:clrScheme name="ARIA">
      <a:dk1>
        <a:srgbClr val="111827"/>
      </a:dk1>
      <a:lt1>
        <a:srgbClr val="FFFFFF"/>
      </a:lt1>
      <a:dk2>
        <a:srgbClr val="1F2937"/>
      </a:dk2>
      <a:lt2>
        <a:srgbClr val="F3F4F6"/>
      </a:lt2>
      <a:accent1>
        <a:srgbClr val="7C3AED"/>
      </a:accent1>
      <a:accent2>
        <a:srgbClr val="2563EB"/>
      </a:accent2>
      <a:accent3>
        <a:srgbClr val="F59E0B"/>
      </a:accent3>
      <a:accent4>
        <a:srgbClr val="10B981"/>
      </a:accent4>
      <a:accent5>
        <a:srgbClr val="DC2626"/>
      </a:accent5>
      <a:accent6>
        <a:srgbClr val="64748B"/>
      </a:accent6>
      <a:hlink>
        <a:srgbClr val="2563EB"/>
      </a:hlink>
      <a:folHlink>
        <a:srgbClr val="7C3AED"/>
      </a:folHlink>
    </a:clrScheme>
    <a:fontScheme name="AR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 — technical overview</dc:title>
  <dc:subject>PptxGenJS Presentation</dc:subject>
  <dc:creator>ARIA team</dc:creator>
  <cp:lastModifiedBy>ARIA team</cp:lastModifiedBy>
  <cp:revision>1</cp:revision>
  <dcterms:created xsi:type="dcterms:W3CDTF">2026-10-16T03:39:40Z</dcterms:created>
  <dcterms:modified xsi:type="dcterms:W3CDTF">2026-10-16T03:39:40Z</dcterms:modified>
</cp:coreProperties>
</file>