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opportunity" id="{4e4af124-f837-5143-260d-68c2122c9e3b}">
          <p14:sldIdLst>
            <p14:sldId id="256"/>
            <p14:sldId id="257"/>
            <p14:sldId id="258"/>
          </p14:sldIdLst>
        </p14:section>
        <p14:section name="The solution" id="{793ac1ce-2323-8a44-e5cf-02b7c977df15}">
          <p14:sldIdLst>
            <p14:sldId id="259"/>
            <p14:sldId id="260"/>
            <p14:sldId id="261"/>
          </p14:sldIdLst>
        </p14:section>
        <p14:section name="How it works" id="{d2a46871-1da8-5aa8-d8ea-2f134a8d62bb}">
          <p14:sldIdLst>
            <p14:sldId id="262"/>
            <p14:sldId id="263"/>
            <p14:sldId id="264"/>
          </p14:sldIdLst>
        </p14:section>
        <p14:section name="Value" id="{3ef012be-3b47-d611-9002-4cd9bdc3ecb6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ARIA turns 'the machine stopped and nobody knows why' into a short spoken conversation that ends with the cause and the next safe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 is not the repair — it is the time spent finding the cause, and the dependence on a few experts.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familiar scramble. Right: the same job done in one spoken conversation, with evidence and a safe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by voice. The worker never has to open a screen — but can ask ARIA to show something when it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experience OpenAI GPT-Live makes possible: listening and speaking at the same time, with work delegated the moment it's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pieces: GPT-Live for the voice, a reasoning model for the investigation, and the plant's own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GPT-Live talks; the reasoning loop investigates using the tools on the right; results flow back into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 of truth: the documents the plant already has, and the line's own history — which grows with every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app's debug view, drawn as lanes. The point for the business: the conversation never stops while the work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buyer, trust is the gate. ARIA advises; people act. And everything is evidence-backed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outcomes a plant manager cares about. We measure them by comparing ARIA with a baseline assistant on the same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low-risk start: one cell, read-only connections, measured against today's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ARIA · industrial voice copilot · demo uses simulated plant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ARIA — get stopped lines running sooner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hands-free voice copilot for the plant floor. Workers talk to it like an experienced colleague; it finds out why a machine stopped, shows the evidence, and says the next safe step.</a:t>
            </a:r>
            <a:endParaRPr lang="en-US" sz="1800" dirty="0"/>
          </a:p>
        </p:txBody>
      </p:sp>
      <p:sp>
        <p:nvSpPr>
          <p:cNvPr id="4" name="card-1"/>
          <p:cNvSpPr/>
          <p:nvPr/>
        </p:nvSpPr>
        <p:spPr>
          <a:xfrm>
            <a:off x="548640" y="30175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dot-2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141732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Talk</a:t>
            </a:r>
            <a:endParaRPr lang="en-US" sz="2400" dirty="0"/>
          </a:p>
        </p:txBody>
      </p:sp>
      <p:sp>
        <p:nvSpPr>
          <p:cNvPr id="7" name="text-4"/>
          <p:cNvSpPr txBox="1"/>
          <p:nvPr/>
        </p:nvSpPr>
        <p:spPr>
          <a:xfrm>
            <a:off x="82296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no screens, no gloves off</a:t>
            </a:r>
            <a:endParaRPr lang="en-US" sz="1600" dirty="0"/>
          </a:p>
        </p:txBody>
      </p:sp>
      <p:sp>
        <p:nvSpPr>
          <p:cNvPr id="8" name="card-5"/>
          <p:cNvSpPr/>
          <p:nvPr/>
        </p:nvSpPr>
        <p:spPr>
          <a:xfrm>
            <a:off x="4297680" y="30175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dot-6"/>
          <p:cNvSpPr/>
          <p:nvPr/>
        </p:nvSpPr>
        <p:spPr>
          <a:xfrm>
            <a:off x="4572000" y="32918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-7"/>
          <p:cNvSpPr txBox="1"/>
          <p:nvPr/>
        </p:nvSpPr>
        <p:spPr>
          <a:xfrm>
            <a:off x="516636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Investigate</a:t>
            </a:r>
            <a:endParaRPr lang="en-US" sz="2400" dirty="0"/>
          </a:p>
        </p:txBody>
      </p:sp>
      <p:sp>
        <p:nvSpPr>
          <p:cNvPr id="11" name="text-8"/>
          <p:cNvSpPr txBox="1"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real machine evidence, not guesses</a:t>
            </a:r>
            <a:endParaRPr lang="en-US" sz="1600" dirty="0"/>
          </a:p>
        </p:txBody>
      </p:sp>
      <p:sp>
        <p:nvSpPr>
          <p:cNvPr id="12" name="card-9"/>
          <p:cNvSpPr/>
          <p:nvPr/>
        </p:nvSpPr>
        <p:spPr>
          <a:xfrm>
            <a:off x="8046720" y="30175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dot-10"/>
          <p:cNvSpPr/>
          <p:nvPr/>
        </p:nvSpPr>
        <p:spPr>
          <a:xfrm>
            <a:off x="8321040" y="3291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-11"/>
          <p:cNvSpPr txBox="1"/>
          <p:nvPr/>
        </p:nvSpPr>
        <p:spPr>
          <a:xfrm>
            <a:off x="891540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Act safely</a:t>
            </a:r>
            <a:endParaRPr lang="en-US" sz="2400" dirty="0"/>
          </a:p>
        </p:txBody>
      </p:sp>
      <p:sp>
        <p:nvSpPr>
          <p:cNvPr id="15" name="text-12"/>
          <p:cNvSpPr txBox="1"/>
          <p:nvPr/>
        </p:nvSpPr>
        <p:spPr>
          <a:xfrm>
            <a:off x="832104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next safe step, never a risky restart</a:t>
            </a:r>
            <a:endParaRPr lang="en-US" sz="1600" dirty="0"/>
          </a:p>
        </p:txBody>
      </p:sp>
      <p:sp>
        <p:nvSpPr>
          <p:cNvPr id="16" name="text-1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Use case: the robotic palletizing cell at the end of a packaging line — where a short stop can block the whole line.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a machine stops, finding out why is the slow part</a:t>
            </a:r>
            <a:endParaRPr lang="en-US" sz="3000" dirty="0"/>
          </a:p>
        </p:txBody>
      </p:sp>
      <p:sp>
        <p:nvSpPr>
          <p:cNvPr id="4" name="text-14"/>
          <p:cNvSpPr txBox="1"/>
          <p:nvPr/>
        </p:nvSpPr>
        <p:spPr>
          <a:xfrm>
            <a:off x="548640" y="1554480"/>
            <a:ext cx="557784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palletizing cell stacks cases onto pallets at the end of the packaging line. A controller (PLC) checks every step with sensors. If one check fails — say the gripper doesn't confirm it closed — the cell stops and raises an alarm. Everything upstream starts backing up.</a:t>
            </a:r>
            <a:endParaRPr lang="en-US" sz="1600" dirty="0"/>
          </a:p>
        </p:txBody>
      </p:sp>
      <p:sp>
        <p:nvSpPr>
          <p:cNvPr id="5" name="dot-15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-16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-17"/>
          <p:cNvSpPr txBox="1"/>
          <p:nvPr/>
        </p:nvSpPr>
        <p:spPr>
          <a:xfrm>
            <a:off x="118872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Operator sees the stop</a:t>
            </a:r>
            <a:endParaRPr lang="en-US" sz="1500" dirty="0"/>
          </a:p>
        </p:txBody>
      </p:sp>
      <p:sp>
        <p:nvSpPr>
          <p:cNvPr id="8" name="text-18"/>
          <p:cNvSpPr txBox="1"/>
          <p:nvPr/>
        </p:nvSpPr>
        <p:spPr>
          <a:xfrm>
            <a:off x="3566160" y="34930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…but not the reason</a:t>
            </a:r>
            <a:endParaRPr lang="en-US" sz="1400" dirty="0"/>
          </a:p>
        </p:txBody>
      </p:sp>
      <p:sp>
        <p:nvSpPr>
          <p:cNvPr id="9" name="dot-19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-20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-21"/>
          <p:cNvSpPr txBox="1"/>
          <p:nvPr/>
        </p:nvSpPr>
        <p:spPr>
          <a:xfrm>
            <a:off x="1188720" y="417880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Technician is called</a:t>
            </a:r>
            <a:endParaRPr lang="en-US" sz="1500" dirty="0"/>
          </a:p>
        </p:txBody>
      </p:sp>
      <p:sp>
        <p:nvSpPr>
          <p:cNvPr id="12" name="text-22"/>
          <p:cNvSpPr txBox="1"/>
          <p:nvPr/>
        </p:nvSpPr>
        <p:spPr>
          <a:xfrm>
            <a:off x="3566160" y="41788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walks to the cell, reads the alarm</a:t>
            </a:r>
            <a:endParaRPr lang="en-US" sz="1400" dirty="0"/>
          </a:p>
        </p:txBody>
      </p:sp>
      <p:sp>
        <p:nvSpPr>
          <p:cNvPr id="13" name="dot-23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-24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-25"/>
          <p:cNvSpPr txBox="1"/>
          <p:nvPr/>
        </p:nvSpPr>
        <p:spPr>
          <a:xfrm>
            <a:off x="118872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search begins</a:t>
            </a:r>
            <a:endParaRPr lang="en-US" sz="1500" dirty="0"/>
          </a:p>
        </p:txBody>
      </p:sp>
      <p:sp>
        <p:nvSpPr>
          <p:cNvPr id="16" name="text-26"/>
          <p:cNvSpPr txBox="1"/>
          <p:nvPr/>
        </p:nvSpPr>
        <p:spPr>
          <a:xfrm>
            <a:off x="356616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signals, manual, old incident notes</a:t>
            </a:r>
            <a:endParaRPr lang="en-US" sz="1400" dirty="0"/>
          </a:p>
        </p:txBody>
      </p:sp>
      <p:sp>
        <p:nvSpPr>
          <p:cNvPr id="17" name="dot-27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-28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-29"/>
          <p:cNvSpPr txBox="1"/>
          <p:nvPr/>
        </p:nvSpPr>
        <p:spPr>
          <a:xfrm>
            <a:off x="1188720" y="5550408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Then the fix</a:t>
            </a:r>
            <a:endParaRPr lang="en-US" sz="1500" dirty="0"/>
          </a:p>
        </p:txBody>
      </p:sp>
      <p:sp>
        <p:nvSpPr>
          <p:cNvPr id="20" name="text-30"/>
          <p:cNvSpPr txBox="1"/>
          <p:nvPr/>
        </p:nvSpPr>
        <p:spPr>
          <a:xfrm>
            <a:off x="3566160" y="55504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often a 5-minute job</a:t>
            </a:r>
            <a:endParaRPr lang="en-US" sz="1400" dirty="0"/>
          </a:p>
        </p:txBody>
      </p:sp>
      <p:sp>
        <p:nvSpPr>
          <p:cNvPr id="21" name="card-31"/>
          <p:cNvSpPr/>
          <p:nvPr/>
        </p:nvSpPr>
        <p:spPr>
          <a:xfrm>
            <a:off x="6537960" y="155448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2" name="text-32"/>
          <p:cNvSpPr txBox="1"/>
          <p:nvPr/>
        </p:nvSpPr>
        <p:spPr>
          <a:xfrm>
            <a:off x="681228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Where the time and money go</a:t>
            </a:r>
            <a:endParaRPr lang="en-US" sz="1800" dirty="0"/>
          </a:p>
        </p:txBody>
      </p:sp>
      <p:sp>
        <p:nvSpPr>
          <p:cNvPr id="23" name="text-33"/>
          <p:cNvSpPr txBox="1"/>
          <p:nvPr/>
        </p:nvSpPr>
        <p:spPr>
          <a:xfrm>
            <a:off x="68122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Downtime is mostly diagnosis</a:t>
            </a:r>
            <a:endParaRPr lang="en-US" sz="1500" dirty="0"/>
          </a:p>
        </p:txBody>
      </p:sp>
      <p:sp>
        <p:nvSpPr>
          <p:cNvPr id="24" name="text-34"/>
          <p:cNvSpPr txBox="1"/>
          <p:nvPr/>
        </p:nvSpPr>
        <p:spPr>
          <a:xfrm>
            <a:off x="6812280" y="2633472"/>
            <a:ext cx="4572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 repair is quick; working out what to repair is not.</a:t>
            </a:r>
            <a:endParaRPr lang="en-US" sz="1350" dirty="0"/>
          </a:p>
        </p:txBody>
      </p:sp>
      <p:sp>
        <p:nvSpPr>
          <p:cNvPr id="25" name="text-35"/>
          <p:cNvSpPr txBox="1"/>
          <p:nvPr/>
        </p:nvSpPr>
        <p:spPr>
          <a:xfrm>
            <a:off x="681228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Know-how sits with a few experts</a:t>
            </a:r>
            <a:endParaRPr lang="en-US" sz="1500" dirty="0"/>
          </a:p>
        </p:txBody>
      </p:sp>
      <p:sp>
        <p:nvSpPr>
          <p:cNvPr id="26" name="text-36"/>
          <p:cNvSpPr txBox="1"/>
          <p:nvPr/>
        </p:nvSpPr>
        <p:spPr>
          <a:xfrm>
            <a:off x="6812280" y="3575304"/>
            <a:ext cx="4572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Night shifts and new technicians wait for the one person who has seen it before.</a:t>
            </a:r>
            <a:endParaRPr lang="en-US" sz="1350" dirty="0"/>
          </a:p>
        </p:txBody>
      </p:sp>
      <p:sp>
        <p:nvSpPr>
          <p:cNvPr id="27" name="text-37"/>
          <p:cNvSpPr txBox="1"/>
          <p:nvPr/>
        </p:nvSpPr>
        <p:spPr>
          <a:xfrm>
            <a:off x="6812280" y="4169664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Trial-and-error testing</a:t>
            </a:r>
            <a:endParaRPr lang="en-US" sz="1500" dirty="0"/>
          </a:p>
        </p:txBody>
      </p:sp>
      <p:sp>
        <p:nvSpPr>
          <p:cNvPr id="28" name="text-38"/>
          <p:cNvSpPr txBox="1"/>
          <p:nvPr/>
        </p:nvSpPr>
        <p:spPr>
          <a:xfrm>
            <a:off x="6812280" y="4517136"/>
            <a:ext cx="4572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Parts get swapped and tests repeated 'just to check'.</a:t>
            </a:r>
            <a:endParaRPr lang="en-US" sz="1350" dirty="0"/>
          </a:p>
        </p:txBody>
      </p:sp>
      <p:sp>
        <p:nvSpPr>
          <p:cNvPr id="29" name="text-39"/>
          <p:cNvSpPr txBox="1"/>
          <p:nvPr/>
        </p:nvSpPr>
        <p:spPr>
          <a:xfrm>
            <a:off x="6812280" y="5111496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Pressure to restart early</a:t>
            </a:r>
            <a:endParaRPr lang="en-US" sz="1500" dirty="0"/>
          </a:p>
        </p:txBody>
      </p:sp>
      <p:sp>
        <p:nvSpPr>
          <p:cNvPr id="30" name="text-40"/>
          <p:cNvSpPr txBox="1"/>
          <p:nvPr/>
        </p:nvSpPr>
        <p:spPr>
          <a:xfrm>
            <a:off x="6812280" y="5458968"/>
            <a:ext cx="4572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Restarting without the cause brings the stop back — or creates a safety risk.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difference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a manual search to a short conversation</a:t>
            </a:r>
            <a:endParaRPr lang="en-US" sz="3000" dirty="0"/>
          </a:p>
        </p:txBody>
      </p:sp>
      <p:sp>
        <p:nvSpPr>
          <p:cNvPr id="4" name="card-41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-42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Today</a:t>
            </a:r>
            <a:endParaRPr lang="en-US" sz="2200" dirty="0"/>
          </a:p>
        </p:txBody>
      </p:sp>
      <p:sp>
        <p:nvSpPr>
          <p:cNvPr id="6" name="dot-43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-44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-45"/>
          <p:cNvSpPr txBox="1"/>
          <p:nvPr/>
        </p:nvSpPr>
        <p:spPr>
          <a:xfrm>
            <a:off x="1417320" y="2404872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Walk to the panel and read the alarm code</a:t>
            </a:r>
            <a:endParaRPr lang="en-US" sz="1500" dirty="0"/>
          </a:p>
        </p:txBody>
      </p:sp>
      <p:sp>
        <p:nvSpPr>
          <p:cNvPr id="9" name="dot-46"/>
          <p:cNvSpPr/>
          <p:nvPr/>
        </p:nvSpPr>
        <p:spPr>
          <a:xfrm>
            <a:off x="822960" y="3136392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-47"/>
          <p:cNvSpPr txBox="1"/>
          <p:nvPr/>
        </p:nvSpPr>
        <p:spPr>
          <a:xfrm>
            <a:off x="8229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-48"/>
          <p:cNvSpPr txBox="1"/>
          <p:nvPr/>
        </p:nvSpPr>
        <p:spPr>
          <a:xfrm>
            <a:off x="1417320" y="3118104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Look up the code in a binder or PDF</a:t>
            </a:r>
            <a:endParaRPr lang="en-US" sz="1500" dirty="0"/>
          </a:p>
        </p:txBody>
      </p:sp>
      <p:sp>
        <p:nvSpPr>
          <p:cNvPr id="12" name="dot-49"/>
          <p:cNvSpPr/>
          <p:nvPr/>
        </p:nvSpPr>
        <p:spPr>
          <a:xfrm>
            <a:off x="822960" y="3849624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-50"/>
          <p:cNvSpPr txBox="1"/>
          <p:nvPr/>
        </p:nvSpPr>
        <p:spPr>
          <a:xfrm>
            <a:off x="8229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-51"/>
          <p:cNvSpPr txBox="1"/>
          <p:nvPr/>
        </p:nvSpPr>
        <p:spPr>
          <a:xfrm>
            <a:off x="1417320" y="3831336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Ask around: has anyone seen this before?</a:t>
            </a:r>
            <a:endParaRPr lang="en-US" sz="1500" dirty="0"/>
          </a:p>
        </p:txBody>
      </p:sp>
      <p:sp>
        <p:nvSpPr>
          <p:cNvPr id="15" name="dot-52"/>
          <p:cNvSpPr/>
          <p:nvPr/>
        </p:nvSpPr>
        <p:spPr>
          <a:xfrm>
            <a:off x="822960" y="4562856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-53"/>
          <p:cNvSpPr txBox="1"/>
          <p:nvPr/>
        </p:nvSpPr>
        <p:spPr>
          <a:xfrm>
            <a:off x="82296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-54"/>
          <p:cNvSpPr txBox="1"/>
          <p:nvPr/>
        </p:nvSpPr>
        <p:spPr>
          <a:xfrm>
            <a:off x="1417320" y="4544568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signals one by one</a:t>
            </a:r>
            <a:endParaRPr lang="en-US" sz="1500" dirty="0"/>
          </a:p>
        </p:txBody>
      </p:sp>
      <p:sp>
        <p:nvSpPr>
          <p:cNvPr id="18" name="dot-55"/>
          <p:cNvSpPr/>
          <p:nvPr/>
        </p:nvSpPr>
        <p:spPr>
          <a:xfrm>
            <a:off x="822960" y="5276088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-56"/>
          <p:cNvSpPr txBox="1"/>
          <p:nvPr/>
        </p:nvSpPr>
        <p:spPr>
          <a:xfrm>
            <a:off x="82296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-57"/>
          <p:cNvSpPr txBox="1"/>
          <p:nvPr/>
        </p:nvSpPr>
        <p:spPr>
          <a:xfrm>
            <a:off x="1417320" y="5257800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Guess, swap a part, restart and hope</a:t>
            </a:r>
            <a:endParaRPr lang="en-US" sz="1500" dirty="0"/>
          </a:p>
        </p:txBody>
      </p:sp>
      <p:sp>
        <p:nvSpPr>
          <p:cNvPr id="21" name="card-58"/>
          <p:cNvSpPr/>
          <p:nvPr/>
        </p:nvSpPr>
        <p:spPr>
          <a:xfrm>
            <a:off x="6217920" y="16002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text-59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With ARIA</a:t>
            </a:r>
            <a:endParaRPr lang="en-US" sz="2200" dirty="0"/>
          </a:p>
        </p:txBody>
      </p:sp>
      <p:sp>
        <p:nvSpPr>
          <p:cNvPr id="23" name="dot-60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-61"/>
          <p:cNvSpPr txBox="1"/>
          <p:nvPr/>
        </p:nvSpPr>
        <p:spPr>
          <a:xfrm>
            <a:off x="6492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text-62"/>
          <p:cNvSpPr txBox="1"/>
          <p:nvPr/>
        </p:nvSpPr>
        <p:spPr>
          <a:xfrm>
            <a:off x="7086600" y="2404872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“ARIA, the palletizer stopped. Find the cause.”</a:t>
            </a:r>
            <a:endParaRPr lang="en-US" sz="1500" dirty="0"/>
          </a:p>
        </p:txBody>
      </p:sp>
      <p:sp>
        <p:nvSpPr>
          <p:cNvPr id="26" name="dot-63"/>
          <p:cNvSpPr/>
          <p:nvPr/>
        </p:nvSpPr>
        <p:spPr>
          <a:xfrm>
            <a:off x="6492240" y="31363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-64"/>
          <p:cNvSpPr txBox="1"/>
          <p:nvPr/>
        </p:nvSpPr>
        <p:spPr>
          <a:xfrm>
            <a:off x="64922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8" name="text-65"/>
          <p:cNvSpPr txBox="1"/>
          <p:nvPr/>
        </p:nvSpPr>
        <p:spPr>
          <a:xfrm>
            <a:off x="7086600" y="3118104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ARIA reads the alarms and signals itself</a:t>
            </a:r>
            <a:endParaRPr lang="en-US" sz="1500" dirty="0"/>
          </a:p>
        </p:txBody>
      </p:sp>
      <p:sp>
        <p:nvSpPr>
          <p:cNvPr id="29" name="dot-66"/>
          <p:cNvSpPr/>
          <p:nvPr/>
        </p:nvSpPr>
        <p:spPr>
          <a:xfrm>
            <a:off x="6492240" y="384962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-67"/>
          <p:cNvSpPr txBox="1"/>
          <p:nvPr/>
        </p:nvSpPr>
        <p:spPr>
          <a:xfrm>
            <a:off x="64922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1" name="text-68"/>
          <p:cNvSpPr txBox="1"/>
          <p:nvPr/>
        </p:nvSpPr>
        <p:spPr>
          <a:xfrm>
            <a:off x="7086600" y="3831336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checks the manual and the line's history</a:t>
            </a:r>
            <a:endParaRPr lang="en-US" sz="1500" dirty="0"/>
          </a:p>
        </p:txBody>
      </p:sp>
      <p:sp>
        <p:nvSpPr>
          <p:cNvPr id="32" name="dot-69"/>
          <p:cNvSpPr/>
          <p:nvPr/>
        </p:nvSpPr>
        <p:spPr>
          <a:xfrm>
            <a:off x="6492240" y="456285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-70"/>
          <p:cNvSpPr txBox="1"/>
          <p:nvPr/>
        </p:nvSpPr>
        <p:spPr>
          <a:xfrm>
            <a:off x="649224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-71"/>
          <p:cNvSpPr txBox="1"/>
          <p:nvPr/>
        </p:nvSpPr>
        <p:spPr>
          <a:xfrm>
            <a:off x="7086600" y="4544568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runs only safe tests and weighs the evidence</a:t>
            </a:r>
            <a:endParaRPr lang="en-US" sz="1500" dirty="0"/>
          </a:p>
        </p:txBody>
      </p:sp>
      <p:sp>
        <p:nvSpPr>
          <p:cNvPr id="35" name="dot-72"/>
          <p:cNvSpPr/>
          <p:nvPr/>
        </p:nvSpPr>
        <p:spPr>
          <a:xfrm>
            <a:off x="6492240" y="52760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-73"/>
          <p:cNvSpPr txBox="1"/>
          <p:nvPr/>
        </p:nvSpPr>
        <p:spPr>
          <a:xfrm>
            <a:off x="64922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7" name="text-74"/>
          <p:cNvSpPr txBox="1"/>
          <p:nvPr/>
        </p:nvSpPr>
        <p:spPr>
          <a:xfrm>
            <a:off x="7086600" y="5257800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says the cause and the next safe step — and logs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ARIA does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voice copilot, four everyday jobs</a:t>
            </a:r>
            <a:endParaRPr lang="en-US" sz="3000" dirty="0"/>
          </a:p>
        </p:txBody>
      </p:sp>
      <p:sp>
        <p:nvSpPr>
          <p:cNvPr id="4" name="card-75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-76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-77"/>
          <p:cNvSpPr txBox="1"/>
          <p:nvPr/>
        </p:nvSpPr>
        <p:spPr>
          <a:xfrm>
            <a:off x="141732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Answers questions</a:t>
            </a:r>
            <a:endParaRPr lang="en-US" sz="2000" dirty="0"/>
          </a:p>
        </p:txBody>
      </p:sp>
      <p:sp>
        <p:nvSpPr>
          <p:cNvPr id="7" name="text-78"/>
          <p:cNvSpPr txBox="1"/>
          <p:nvPr/>
        </p:nvSpPr>
        <p:spPr>
          <a:xfrm>
            <a:off x="822960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“What does alarm A-301 mean?” — answered straight from the equipment manuals, with the section it came from.</a:t>
            </a:r>
            <a:endParaRPr lang="en-US" sz="1500" dirty="0"/>
          </a:p>
        </p:txBody>
      </p:sp>
      <p:sp>
        <p:nvSpPr>
          <p:cNvPr id="8" name="card-79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dot-80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-81"/>
          <p:cNvSpPr txBox="1"/>
          <p:nvPr/>
        </p:nvSpPr>
        <p:spPr>
          <a:xfrm>
            <a:off x="708660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Remembers the line</a:t>
            </a:r>
            <a:endParaRPr lang="en-US" sz="2000" dirty="0"/>
          </a:p>
        </p:txBody>
      </p:sp>
      <p:sp>
        <p:nvSpPr>
          <p:cNvPr id="11" name="text-82"/>
          <p:cNvSpPr txBox="1"/>
          <p:nvPr/>
        </p:nvSpPr>
        <p:spPr>
          <a:xfrm>
            <a:off x="6492240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“Has this happened before?” — past incidents, what fixed them, and what has changed since.</a:t>
            </a:r>
            <a:endParaRPr lang="en-US" sz="1500" dirty="0"/>
          </a:p>
        </p:txBody>
      </p:sp>
      <p:sp>
        <p:nvSpPr>
          <p:cNvPr id="12" name="card-83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dot-84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-85"/>
          <p:cNvSpPr txBox="1"/>
          <p:nvPr/>
        </p:nvSpPr>
        <p:spPr>
          <a:xfrm>
            <a:off x="14173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Troubleshoots stops</a:t>
            </a:r>
            <a:endParaRPr lang="en-US" sz="2000" dirty="0"/>
          </a:p>
        </p:txBody>
      </p:sp>
      <p:sp>
        <p:nvSpPr>
          <p:cNvPr id="15" name="text-86"/>
          <p:cNvSpPr txBox="1"/>
          <p:nvPr/>
        </p:nvSpPr>
        <p:spPr>
          <a:xfrm>
            <a:off x="822960" y="4846320"/>
            <a:ext cx="4846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“It stopped — find the cause.” — reads the machine, runs safe tests, and names the cause with evidence.</a:t>
            </a:r>
            <a:endParaRPr lang="en-US" sz="1500" dirty="0"/>
          </a:p>
        </p:txBody>
      </p:sp>
      <p:sp>
        <p:nvSpPr>
          <p:cNvPr id="16" name="card-87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dot-88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-89"/>
          <p:cNvSpPr txBox="1"/>
          <p:nvPr/>
        </p:nvSpPr>
        <p:spPr>
          <a:xfrm>
            <a:off x="708660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Shows what matters</a:t>
            </a:r>
            <a:endParaRPr lang="en-US" sz="2000" dirty="0"/>
          </a:p>
        </p:txBody>
      </p:sp>
      <p:sp>
        <p:nvSpPr>
          <p:cNvPr id="19" name="text-90"/>
          <p:cNvSpPr txBox="1"/>
          <p:nvPr/>
        </p:nvSpPr>
        <p:spPr>
          <a:xfrm>
            <a:off x="6492240" y="4846320"/>
            <a:ext cx="48463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“Show me the line status.” — puts the right picture on screen, only when asked.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it works for the worker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Talk naturally — ARIA works while you talk</a:t>
            </a:r>
            <a:endParaRPr lang="en-US" sz="3000" dirty="0"/>
          </a:p>
        </p:txBody>
      </p:sp>
      <p:sp>
        <p:nvSpPr>
          <p:cNvPr id="4" name="card-91"/>
          <p:cNvSpPr/>
          <p:nvPr/>
        </p:nvSpPr>
        <p:spPr>
          <a:xfrm>
            <a:off x="548640" y="17830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-92"/>
          <p:cNvSpPr/>
          <p:nvPr/>
        </p:nvSpPr>
        <p:spPr>
          <a:xfrm>
            <a:off x="1325880" y="1965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-93"/>
          <p:cNvSpPr txBox="1"/>
          <p:nvPr/>
        </p:nvSpPr>
        <p:spPr>
          <a:xfrm>
            <a:off x="1325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-94"/>
          <p:cNvSpPr txBox="1"/>
          <p:nvPr/>
        </p:nvSpPr>
        <p:spPr>
          <a:xfrm>
            <a:off x="64008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speak</a:t>
            </a:r>
            <a:endParaRPr lang="en-US" sz="1600" dirty="0"/>
          </a:p>
        </p:txBody>
      </p:sp>
      <p:sp>
        <p:nvSpPr>
          <p:cNvPr id="8" name="text-95"/>
          <p:cNvSpPr txBox="1"/>
          <p:nvPr/>
        </p:nvSpPr>
        <p:spPr>
          <a:xfrm>
            <a:off x="658368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“The palletizer stopped. Find the cause.”</a:t>
            </a:r>
            <a:endParaRPr lang="en-US" sz="1300" dirty="0"/>
          </a:p>
        </p:txBody>
      </p:sp>
      <p:sp>
        <p:nvSpPr>
          <p:cNvPr id="9" name="arrow-96"/>
          <p:cNvSpPr/>
          <p:nvPr/>
        </p:nvSpPr>
        <p:spPr>
          <a:xfrm>
            <a:off x="2560320" y="297180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card-97"/>
          <p:cNvSpPr/>
          <p:nvPr/>
        </p:nvSpPr>
        <p:spPr>
          <a:xfrm>
            <a:off x="2807208" y="17830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dot-98"/>
          <p:cNvSpPr/>
          <p:nvPr/>
        </p:nvSpPr>
        <p:spPr>
          <a:xfrm>
            <a:off x="3584448" y="19659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-99"/>
          <p:cNvSpPr txBox="1"/>
          <p:nvPr/>
        </p:nvSpPr>
        <p:spPr>
          <a:xfrm>
            <a:off x="35844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-100"/>
          <p:cNvSpPr txBox="1"/>
          <p:nvPr/>
        </p:nvSpPr>
        <p:spPr>
          <a:xfrm>
            <a:off x="2898648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ARIA starts at once</a:t>
            </a:r>
            <a:endParaRPr lang="en-US" sz="1600" dirty="0"/>
          </a:p>
        </p:txBody>
      </p:sp>
      <p:sp>
        <p:nvSpPr>
          <p:cNvPr id="14" name="text-101"/>
          <p:cNvSpPr txBox="1"/>
          <p:nvPr/>
        </p:nvSpPr>
        <p:spPr>
          <a:xfrm>
            <a:off x="2916936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“Let me check.” Work begins immediately.</a:t>
            </a:r>
            <a:endParaRPr lang="en-US" sz="1300" dirty="0"/>
          </a:p>
        </p:txBody>
      </p:sp>
      <p:sp>
        <p:nvSpPr>
          <p:cNvPr id="15" name="arrow-102"/>
          <p:cNvSpPr/>
          <p:nvPr/>
        </p:nvSpPr>
        <p:spPr>
          <a:xfrm>
            <a:off x="4818888" y="297180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card-103"/>
          <p:cNvSpPr/>
          <p:nvPr/>
        </p:nvSpPr>
        <p:spPr>
          <a:xfrm>
            <a:off x="5065776" y="17830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dot-104"/>
          <p:cNvSpPr/>
          <p:nvPr/>
        </p:nvSpPr>
        <p:spPr>
          <a:xfrm>
            <a:off x="5843016" y="1965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-105"/>
          <p:cNvSpPr txBox="1"/>
          <p:nvPr/>
        </p:nvSpPr>
        <p:spPr>
          <a:xfrm>
            <a:off x="584301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-106"/>
          <p:cNvSpPr txBox="1"/>
          <p:nvPr/>
        </p:nvSpPr>
        <p:spPr>
          <a:xfrm>
            <a:off x="5157216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keep talking</a:t>
            </a:r>
            <a:endParaRPr lang="en-US" sz="1600" dirty="0"/>
          </a:p>
        </p:txBody>
      </p:sp>
      <p:sp>
        <p:nvSpPr>
          <p:cNvPr id="20" name="text-107"/>
          <p:cNvSpPr txBox="1"/>
          <p:nvPr/>
        </p:nvSpPr>
        <p:spPr>
          <a:xfrm>
            <a:off x="5175504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“The gripper was serviced this morning.” ARIA uses it.</a:t>
            </a:r>
            <a:endParaRPr lang="en-US" sz="1300" dirty="0"/>
          </a:p>
        </p:txBody>
      </p:sp>
      <p:sp>
        <p:nvSpPr>
          <p:cNvPr id="21" name="arrow-108"/>
          <p:cNvSpPr/>
          <p:nvPr/>
        </p:nvSpPr>
        <p:spPr>
          <a:xfrm>
            <a:off x="7077456" y="297180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card-109"/>
          <p:cNvSpPr/>
          <p:nvPr/>
        </p:nvSpPr>
        <p:spPr>
          <a:xfrm>
            <a:off x="7324344" y="17830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dot-110"/>
          <p:cNvSpPr/>
          <p:nvPr/>
        </p:nvSpPr>
        <p:spPr>
          <a:xfrm>
            <a:off x="8101584" y="1965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-111"/>
          <p:cNvSpPr txBox="1"/>
          <p:nvPr/>
        </p:nvSpPr>
        <p:spPr>
          <a:xfrm>
            <a:off x="810158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-112"/>
          <p:cNvSpPr txBox="1"/>
          <p:nvPr/>
        </p:nvSpPr>
        <p:spPr>
          <a:xfrm>
            <a:off x="7415784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ARIA gathers evidence</a:t>
            </a:r>
            <a:endParaRPr lang="en-US" sz="1600" dirty="0"/>
          </a:p>
        </p:txBody>
      </p:sp>
      <p:sp>
        <p:nvSpPr>
          <p:cNvPr id="26" name="text-113"/>
          <p:cNvSpPr txBox="1"/>
          <p:nvPr/>
        </p:nvSpPr>
        <p:spPr>
          <a:xfrm>
            <a:off x="7434072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alarms, signals, manual, history, safe tests</a:t>
            </a:r>
            <a:endParaRPr lang="en-US" sz="1300" dirty="0"/>
          </a:p>
        </p:txBody>
      </p:sp>
      <p:sp>
        <p:nvSpPr>
          <p:cNvPr id="27" name="arrow-114"/>
          <p:cNvSpPr/>
          <p:nvPr/>
        </p:nvSpPr>
        <p:spPr>
          <a:xfrm>
            <a:off x="9336024" y="2971800"/>
            <a:ext cx="24688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card-115"/>
          <p:cNvSpPr/>
          <p:nvPr/>
        </p:nvSpPr>
        <p:spPr>
          <a:xfrm>
            <a:off x="9582912" y="17830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dot-116"/>
          <p:cNvSpPr/>
          <p:nvPr/>
        </p:nvSpPr>
        <p:spPr>
          <a:xfrm>
            <a:off x="10360152" y="19659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-117"/>
          <p:cNvSpPr txBox="1"/>
          <p:nvPr/>
        </p:nvSpPr>
        <p:spPr>
          <a:xfrm>
            <a:off x="1036015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-118"/>
          <p:cNvSpPr txBox="1"/>
          <p:nvPr/>
        </p:nvSpPr>
        <p:spPr>
          <a:xfrm>
            <a:off x="9674352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ARIA answers</a:t>
            </a:r>
            <a:endParaRPr lang="en-US" sz="1600" dirty="0"/>
          </a:p>
        </p:txBody>
      </p:sp>
      <p:sp>
        <p:nvSpPr>
          <p:cNvPr id="32" name="text-119"/>
          <p:cNvSpPr txBox="1"/>
          <p:nvPr/>
        </p:nvSpPr>
        <p:spPr>
          <a:xfrm>
            <a:off x="9692640" y="3108960"/>
            <a:ext cx="1792224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cause, evidence, next safe step — and a work order</a:t>
            </a:r>
            <a:endParaRPr lang="en-US" sz="1300" dirty="0"/>
          </a:p>
        </p:txBody>
      </p:sp>
      <p:sp>
        <p:nvSpPr>
          <p:cNvPr id="33" name="card-120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4" name="text-121"/>
          <p:cNvSpPr txBox="1"/>
          <p:nvPr/>
        </p:nvSpPr>
        <p:spPr>
          <a:xfrm>
            <a:off x="82296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this matters</a:t>
            </a:r>
            <a:endParaRPr lang="en-US" sz="1700" dirty="0"/>
          </a:p>
        </p:txBody>
      </p:sp>
      <p:sp>
        <p:nvSpPr>
          <p:cNvPr id="35" name="text-122"/>
          <p:cNvSpPr txBox="1"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Most voice assistants make you wait: speak, pause, wait for an answer. ARIA keeps the conversation going while the work happens in the background — so it feels like a colleague, not a phone menu. The worker's hands and eyes stay on the machine.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Built on OpenAI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Proven OpenAI technology, assembled for the plant floor</a:t>
            </a:r>
            <a:endParaRPr lang="en-US" sz="3000" dirty="0"/>
          </a:p>
        </p:txBody>
      </p:sp>
      <p:sp>
        <p:nvSpPr>
          <p:cNvPr id="4" name="card-123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-124"/>
          <p:cNvSpPr txBox="1"/>
          <p:nvPr/>
        </p:nvSpPr>
        <p:spPr>
          <a:xfrm>
            <a:off x="82296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GPT-Live</a:t>
            </a:r>
            <a:endParaRPr lang="en-US" sz="2200" dirty="0"/>
          </a:p>
        </p:txBody>
      </p:sp>
      <p:sp>
        <p:nvSpPr>
          <p:cNvPr id="6" name="text-125"/>
          <p:cNvSpPr txBox="1"/>
          <p:nvPr/>
        </p:nvSpPr>
        <p:spPr>
          <a:xfrm>
            <a:off x="822960" y="2468880"/>
            <a:ext cx="3017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voice. Listens and speaks at the same time, handles interruptions, and hands work off the moment it's needed.</a:t>
            </a:r>
            <a:endParaRPr lang="en-US" sz="1500" dirty="0"/>
          </a:p>
        </p:txBody>
      </p:sp>
      <p:sp>
        <p:nvSpPr>
          <p:cNvPr id="7" name="card-126"/>
          <p:cNvSpPr/>
          <p:nvPr/>
        </p:nvSpPr>
        <p:spPr>
          <a:xfrm>
            <a:off x="429768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-127"/>
          <p:cNvSpPr txBox="1"/>
          <p:nvPr/>
        </p:nvSpPr>
        <p:spPr>
          <a:xfrm>
            <a:off x="457200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Reasoning model</a:t>
            </a:r>
            <a:endParaRPr lang="en-US" sz="2200" dirty="0"/>
          </a:p>
        </p:txBody>
      </p:sp>
      <p:sp>
        <p:nvSpPr>
          <p:cNvPr id="9" name="text-128"/>
          <p:cNvSpPr txBox="1"/>
          <p:nvPr/>
        </p:nvSpPr>
        <p:spPr>
          <a:xfrm>
            <a:off x="4572000" y="2468880"/>
            <a:ext cx="3017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investigator. Plans the investigation, calls the tools and weighs the evidence (gpt-5.6-terra on the OpenAI Agents SDK).</a:t>
            </a:r>
            <a:endParaRPr lang="en-US" sz="1500" dirty="0"/>
          </a:p>
        </p:txBody>
      </p:sp>
      <p:sp>
        <p:nvSpPr>
          <p:cNvPr id="10" name="card-129"/>
          <p:cNvSpPr/>
          <p:nvPr/>
        </p:nvSpPr>
        <p:spPr>
          <a:xfrm>
            <a:off x="8046720" y="16916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-130"/>
          <p:cNvSpPr txBox="1"/>
          <p:nvPr/>
        </p:nvSpPr>
        <p:spPr>
          <a:xfrm>
            <a:off x="832104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Knowledge</a:t>
            </a:r>
            <a:endParaRPr lang="en-US" sz="2200" dirty="0"/>
          </a:p>
        </p:txBody>
      </p:sp>
      <p:sp>
        <p:nvSpPr>
          <p:cNvPr id="12" name="text-131"/>
          <p:cNvSpPr txBox="1"/>
          <p:nvPr/>
        </p:nvSpPr>
        <p:spPr>
          <a:xfrm>
            <a:off x="8321040" y="2468880"/>
            <a:ext cx="3017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memory. Searches the plant's own manuals and a time-aware history of every past incident on the line.</a:t>
            </a:r>
            <a:endParaRPr lang="en-US" sz="1500" dirty="0"/>
          </a:p>
        </p:txBody>
      </p:sp>
      <p:sp>
        <p:nvSpPr>
          <p:cNvPr id="13" name="card-13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-13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the business this means: a natural hands-free experience, answers grounded in your own documents and history, and a clear audit trail of every check ARIA made. Models are configurable, so the stack can follow OpenAI's latest releases without rebuilding.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Under the hood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Inside one investigation</a:t>
            </a:r>
            <a:endParaRPr lang="en-US" sz="3000" dirty="0"/>
          </a:p>
        </p:txBody>
      </p:sp>
      <p:sp>
        <p:nvSpPr>
          <p:cNvPr id="4" name="text-134"/>
          <p:cNvSpPr txBox="1"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GPT-Live</a:t>
            </a:r>
            <a:endParaRPr lang="en-US" sz="1600" dirty="0"/>
          </a:p>
        </p:txBody>
      </p:sp>
      <p:sp>
        <p:nvSpPr>
          <p:cNvPr id="5" name="card-135"/>
          <p:cNvSpPr/>
          <p:nvPr/>
        </p:nvSpPr>
        <p:spPr>
          <a:xfrm>
            <a:off x="548640" y="2103120"/>
            <a:ext cx="2011680" cy="361188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-136"/>
          <p:cNvSpPr txBox="1"/>
          <p:nvPr/>
        </p:nvSpPr>
        <p:spPr>
          <a:xfrm>
            <a:off x="640080" y="2286000"/>
            <a:ext cx="182880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listens · speaks · delegates · relays results back into the call</a:t>
            </a:r>
            <a:endParaRPr lang="en-US" sz="1400" dirty="0"/>
          </a:p>
        </p:txBody>
      </p:sp>
      <p:sp>
        <p:nvSpPr>
          <p:cNvPr id="7" name="arrow-137"/>
          <p:cNvSpPr/>
          <p:nvPr/>
        </p:nvSpPr>
        <p:spPr>
          <a:xfrm>
            <a:off x="2560320" y="3904488"/>
            <a:ext cx="4114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card-138"/>
          <p:cNvSpPr/>
          <p:nvPr/>
        </p:nvSpPr>
        <p:spPr>
          <a:xfrm>
            <a:off x="2971800" y="164592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9" name="text-139"/>
          <p:cNvSpPr txBox="1"/>
          <p:nvPr/>
        </p:nvSpPr>
        <p:spPr>
          <a:xfrm>
            <a:off x="32004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ARIA reasoning loop</a:t>
            </a:r>
            <a:endParaRPr lang="en-US" sz="1600" dirty="0"/>
          </a:p>
        </p:txBody>
      </p:sp>
      <p:sp>
        <p:nvSpPr>
          <p:cNvPr id="10" name="dot-140"/>
          <p:cNvSpPr/>
          <p:nvPr/>
        </p:nvSpPr>
        <p:spPr>
          <a:xfrm>
            <a:off x="3200400" y="22402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-141"/>
          <p:cNvSpPr txBox="1"/>
          <p:nvPr/>
        </p:nvSpPr>
        <p:spPr>
          <a:xfrm>
            <a:off x="3200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-142"/>
          <p:cNvSpPr txBox="1"/>
          <p:nvPr/>
        </p:nvSpPr>
        <p:spPr>
          <a:xfrm>
            <a:off x="3794760" y="2221992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machine state and alarms</a:t>
            </a:r>
            <a:endParaRPr lang="en-US" sz="1400" dirty="0"/>
          </a:p>
        </p:txBody>
      </p:sp>
      <p:sp>
        <p:nvSpPr>
          <p:cNvPr id="13" name="dot-143"/>
          <p:cNvSpPr/>
          <p:nvPr/>
        </p:nvSpPr>
        <p:spPr>
          <a:xfrm>
            <a:off x="3200400" y="27157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-144"/>
          <p:cNvSpPr txBox="1"/>
          <p:nvPr/>
        </p:nvSpPr>
        <p:spPr>
          <a:xfrm>
            <a:off x="3200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-145"/>
          <p:cNvSpPr txBox="1"/>
          <p:nvPr/>
        </p:nvSpPr>
        <p:spPr>
          <a:xfrm>
            <a:off x="3794760" y="2697480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Propose possible causes</a:t>
            </a:r>
            <a:endParaRPr lang="en-US" sz="1400" dirty="0"/>
          </a:p>
        </p:txBody>
      </p:sp>
      <p:sp>
        <p:nvSpPr>
          <p:cNvPr id="16" name="dot-146"/>
          <p:cNvSpPr/>
          <p:nvPr/>
        </p:nvSpPr>
        <p:spPr>
          <a:xfrm>
            <a:off x="3200400" y="319125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-147"/>
          <p:cNvSpPr txBox="1"/>
          <p:nvPr/>
        </p:nvSpPr>
        <p:spPr>
          <a:xfrm>
            <a:off x="3200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-148"/>
          <p:cNvSpPr txBox="1"/>
          <p:nvPr/>
        </p:nvSpPr>
        <p:spPr>
          <a:xfrm>
            <a:off x="3794760" y="3172968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 out causes that contradict the machine's logic</a:t>
            </a:r>
            <a:endParaRPr lang="en-US" sz="1400" dirty="0"/>
          </a:p>
        </p:txBody>
      </p:sp>
      <p:sp>
        <p:nvSpPr>
          <p:cNvPr id="19" name="dot-149"/>
          <p:cNvSpPr/>
          <p:nvPr/>
        </p:nvSpPr>
        <p:spPr>
          <a:xfrm>
            <a:off x="3200400" y="366674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-150"/>
          <p:cNvSpPr txBox="1"/>
          <p:nvPr/>
        </p:nvSpPr>
        <p:spPr>
          <a:xfrm>
            <a:off x="320040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-151"/>
          <p:cNvSpPr txBox="1"/>
          <p:nvPr/>
        </p:nvSpPr>
        <p:spPr>
          <a:xfrm>
            <a:off x="3794760" y="3648456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most useful safe test</a:t>
            </a:r>
            <a:endParaRPr lang="en-US" sz="1400" dirty="0"/>
          </a:p>
        </p:txBody>
      </p:sp>
      <p:sp>
        <p:nvSpPr>
          <p:cNvPr id="22" name="dot-152"/>
          <p:cNvSpPr/>
          <p:nvPr/>
        </p:nvSpPr>
        <p:spPr>
          <a:xfrm>
            <a:off x="3200400" y="414223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-153"/>
          <p:cNvSpPr txBox="1"/>
          <p:nvPr/>
        </p:nvSpPr>
        <p:spPr>
          <a:xfrm>
            <a:off x="320040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-154"/>
          <p:cNvSpPr txBox="1"/>
          <p:nvPr/>
        </p:nvSpPr>
        <p:spPr>
          <a:xfrm>
            <a:off x="3794760" y="4123944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it and read the real result</a:t>
            </a:r>
            <a:endParaRPr lang="en-US" sz="1400" dirty="0"/>
          </a:p>
        </p:txBody>
      </p:sp>
      <p:sp>
        <p:nvSpPr>
          <p:cNvPr id="25" name="dot-155"/>
          <p:cNvSpPr/>
          <p:nvPr/>
        </p:nvSpPr>
        <p:spPr>
          <a:xfrm>
            <a:off x="3200400" y="4617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-156"/>
          <p:cNvSpPr txBox="1"/>
          <p:nvPr/>
        </p:nvSpPr>
        <p:spPr>
          <a:xfrm>
            <a:off x="32004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-157"/>
          <p:cNvSpPr txBox="1"/>
          <p:nvPr/>
        </p:nvSpPr>
        <p:spPr>
          <a:xfrm>
            <a:off x="3794760" y="4599432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the ranking — repeat until sure</a:t>
            </a:r>
            <a:endParaRPr lang="en-US" sz="1400" dirty="0"/>
          </a:p>
        </p:txBody>
      </p:sp>
      <p:sp>
        <p:nvSpPr>
          <p:cNvPr id="28" name="dot-158"/>
          <p:cNvSpPr/>
          <p:nvPr/>
        </p:nvSpPr>
        <p:spPr>
          <a:xfrm>
            <a:off x="3200400" y="50932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-159"/>
          <p:cNvSpPr txBox="1"/>
          <p:nvPr/>
        </p:nvSpPr>
        <p:spPr>
          <a:xfrm>
            <a:off x="320040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-160"/>
          <p:cNvSpPr txBox="1"/>
          <p:nvPr/>
        </p:nvSpPr>
        <p:spPr>
          <a:xfrm>
            <a:off x="3794760" y="5074920"/>
            <a:ext cx="4069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report, re-check it, then speak</a:t>
            </a:r>
            <a:endParaRPr lang="en-US" sz="1400" dirty="0"/>
          </a:p>
        </p:txBody>
      </p:sp>
      <p:sp>
        <p:nvSpPr>
          <p:cNvPr id="31" name="arrow-161"/>
          <p:cNvSpPr/>
          <p:nvPr/>
        </p:nvSpPr>
        <p:spPr>
          <a:xfrm>
            <a:off x="8001000" y="3657600"/>
            <a:ext cx="4114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card-162"/>
          <p:cNvSpPr/>
          <p:nvPr/>
        </p:nvSpPr>
        <p:spPr>
          <a:xfrm>
            <a:off x="8412480" y="1645920"/>
            <a:ext cx="3230575" cy="713232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-163"/>
          <p:cNvSpPr txBox="1"/>
          <p:nvPr/>
        </p:nvSpPr>
        <p:spPr>
          <a:xfrm>
            <a:off x="8549640" y="1682496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Equipment manuals</a:t>
            </a:r>
            <a:endParaRPr lang="en-US" sz="1400" dirty="0"/>
          </a:p>
        </p:txBody>
      </p:sp>
      <p:sp>
        <p:nvSpPr>
          <p:cNvPr id="34" name="text-164"/>
          <p:cNvSpPr txBox="1"/>
          <p:nvPr/>
        </p:nvSpPr>
        <p:spPr>
          <a:xfrm>
            <a:off x="854964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searched by meaning and keywords</a:t>
            </a:r>
            <a:endParaRPr lang="en-US" sz="1200" dirty="0"/>
          </a:p>
        </p:txBody>
      </p:sp>
      <p:sp>
        <p:nvSpPr>
          <p:cNvPr id="35" name="card-165"/>
          <p:cNvSpPr/>
          <p:nvPr/>
        </p:nvSpPr>
        <p:spPr>
          <a:xfrm>
            <a:off x="8412480" y="2468880"/>
            <a:ext cx="3230575" cy="713232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-166"/>
          <p:cNvSpPr txBox="1"/>
          <p:nvPr/>
        </p:nvSpPr>
        <p:spPr>
          <a:xfrm>
            <a:off x="854964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 history</a:t>
            </a:r>
            <a:endParaRPr lang="en-US" sz="1400" dirty="0"/>
          </a:p>
        </p:txBody>
      </p:sp>
      <p:sp>
        <p:nvSpPr>
          <p:cNvPr id="37" name="text-167"/>
          <p:cNvSpPr txBox="1"/>
          <p:nvPr/>
        </p:nvSpPr>
        <p:spPr>
          <a:xfrm>
            <a:off x="854964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incidents, repairs, what changed</a:t>
            </a:r>
            <a:endParaRPr lang="en-US" sz="1200" dirty="0"/>
          </a:p>
        </p:txBody>
      </p:sp>
      <p:sp>
        <p:nvSpPr>
          <p:cNvPr id="38" name="card-168"/>
          <p:cNvSpPr/>
          <p:nvPr/>
        </p:nvSpPr>
        <p:spPr>
          <a:xfrm>
            <a:off x="8412480" y="3291840"/>
            <a:ext cx="3230575" cy="713232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-169"/>
          <p:cNvSpPr txBox="1"/>
          <p:nvPr/>
        </p:nvSpPr>
        <p:spPr>
          <a:xfrm>
            <a:off x="854964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Machine signals</a:t>
            </a:r>
            <a:endParaRPr lang="en-US" sz="1400" dirty="0"/>
          </a:p>
        </p:txBody>
      </p:sp>
      <p:sp>
        <p:nvSpPr>
          <p:cNvPr id="40" name="text-170"/>
          <p:cNvSpPr txBox="1"/>
          <p:nvPr/>
        </p:nvSpPr>
        <p:spPr>
          <a:xfrm>
            <a:off x="854964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alarms, sensors, sequence step</a:t>
            </a:r>
            <a:endParaRPr lang="en-US" sz="1200" dirty="0"/>
          </a:p>
        </p:txBody>
      </p:sp>
      <p:sp>
        <p:nvSpPr>
          <p:cNvPr id="41" name="card-171"/>
          <p:cNvSpPr/>
          <p:nvPr/>
        </p:nvSpPr>
        <p:spPr>
          <a:xfrm>
            <a:off x="8412480" y="4114800"/>
            <a:ext cx="3230575" cy="713232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-172"/>
          <p:cNvSpPr txBox="1"/>
          <p:nvPr/>
        </p:nvSpPr>
        <p:spPr>
          <a:xfrm>
            <a:off x="8549640" y="4151376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 diagnostic tests</a:t>
            </a:r>
            <a:endParaRPr lang="en-US" sz="1400" dirty="0"/>
          </a:p>
        </p:txBody>
      </p:sp>
      <p:sp>
        <p:nvSpPr>
          <p:cNvPr id="43" name="text-173"/>
          <p:cNvSpPr txBox="1"/>
          <p:nvPr/>
        </p:nvSpPr>
        <p:spPr>
          <a:xfrm>
            <a:off x="8549640" y="4462272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only tests that are allowed</a:t>
            </a:r>
            <a:endParaRPr lang="en-US" sz="1200" dirty="0"/>
          </a:p>
        </p:txBody>
      </p:sp>
      <p:sp>
        <p:nvSpPr>
          <p:cNvPr id="44" name="card-174"/>
          <p:cNvSpPr/>
          <p:nvPr/>
        </p:nvSpPr>
        <p:spPr>
          <a:xfrm>
            <a:off x="8412480" y="4937760"/>
            <a:ext cx="3230575" cy="713232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-175"/>
          <p:cNvSpPr txBox="1"/>
          <p:nvPr/>
        </p:nvSpPr>
        <p:spPr>
          <a:xfrm>
            <a:off x="8549640" y="4974336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Maintenance system</a:t>
            </a:r>
            <a:endParaRPr lang="en-US" sz="1400" dirty="0"/>
          </a:p>
        </p:txBody>
      </p:sp>
      <p:sp>
        <p:nvSpPr>
          <p:cNvPr id="46" name="text-176"/>
          <p:cNvSpPr txBox="1"/>
          <p:nvPr/>
        </p:nvSpPr>
        <p:spPr>
          <a:xfrm>
            <a:off x="8549640" y="5285232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PM plan and work orders</a:t>
            </a:r>
            <a:endParaRPr lang="en-US" sz="1200" dirty="0"/>
          </a:p>
        </p:txBody>
      </p:sp>
      <p:sp>
        <p:nvSpPr>
          <p:cNvPr id="47" name="text-177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The model proposes; a rule engine decides. Every belief is updated only from real test results, unsafe tests are blocked, and the loop has a test budget and a time limit.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Knowledge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 from your manuals and your line's history</a:t>
            </a:r>
            <a:endParaRPr lang="en-US" sz="3000" dirty="0"/>
          </a:p>
        </p:txBody>
      </p:sp>
      <p:sp>
        <p:nvSpPr>
          <p:cNvPr id="4" name="card-178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-179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Equipment manuals</a:t>
            </a:r>
            <a:endParaRPr lang="en-US" sz="2100" dirty="0"/>
          </a:p>
        </p:txBody>
      </p:sp>
      <p:sp>
        <p:nvSpPr>
          <p:cNvPr id="6" name="bullet-180"/>
          <p:cNvSpPr/>
          <p:nvPr/>
        </p:nvSpPr>
        <p:spPr>
          <a:xfrm>
            <a:off x="868680" y="25328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-181"/>
          <p:cNvSpPr txBox="1"/>
          <p:nvPr/>
        </p:nvSpPr>
        <p:spPr>
          <a:xfrm>
            <a:off x="1143000" y="237744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PDFs: operator guides, sensor and safety manuals, alarm lists</a:t>
            </a:r>
            <a:endParaRPr lang="en-US" sz="1500" dirty="0"/>
          </a:p>
        </p:txBody>
      </p:sp>
      <p:sp>
        <p:nvSpPr>
          <p:cNvPr id="8" name="bullet-182"/>
          <p:cNvSpPr/>
          <p:nvPr/>
        </p:nvSpPr>
        <p:spPr>
          <a:xfrm>
            <a:off x="868680" y="317296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-183"/>
          <p:cNvSpPr txBox="1"/>
          <p:nvPr/>
        </p:nvSpPr>
        <p:spPr>
          <a:xfrm>
            <a:off x="1143000" y="301752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Searched by meaning, not just keywords</a:t>
            </a:r>
            <a:endParaRPr lang="en-US" sz="1500" dirty="0"/>
          </a:p>
        </p:txBody>
      </p:sp>
      <p:sp>
        <p:nvSpPr>
          <p:cNvPr id="10" name="bullet-184"/>
          <p:cNvSpPr/>
          <p:nvPr/>
        </p:nvSpPr>
        <p:spPr>
          <a:xfrm>
            <a:off x="868680" y="381304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-185"/>
          <p:cNvSpPr txBox="1"/>
          <p:nvPr/>
        </p:nvSpPr>
        <p:spPr>
          <a:xfrm>
            <a:off x="1143000" y="365760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answer cites the document and section</a:t>
            </a:r>
            <a:endParaRPr lang="en-US" sz="1500" dirty="0"/>
          </a:p>
        </p:txBody>
      </p:sp>
      <p:sp>
        <p:nvSpPr>
          <p:cNvPr id="12" name="bullet-186"/>
          <p:cNvSpPr/>
          <p:nvPr/>
        </p:nvSpPr>
        <p:spPr>
          <a:xfrm>
            <a:off x="868680" y="44531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-187"/>
          <p:cNvSpPr txBox="1"/>
          <p:nvPr/>
        </p:nvSpPr>
        <p:spPr>
          <a:xfrm>
            <a:off x="1143000" y="429768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it's not in the manual, ARIA says so</a:t>
            </a:r>
            <a:endParaRPr lang="en-US" sz="1500" dirty="0"/>
          </a:p>
        </p:txBody>
      </p:sp>
      <p:sp>
        <p:nvSpPr>
          <p:cNvPr id="14" name="card-188"/>
          <p:cNvSpPr/>
          <p:nvPr/>
        </p:nvSpPr>
        <p:spPr>
          <a:xfrm>
            <a:off x="6217920" y="16459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-189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C3AED"/>
                </a:solidFill>
              </a:rPr>
              <a:t>Line memory</a:t>
            </a:r>
            <a:endParaRPr lang="en-US" sz="2100" dirty="0"/>
          </a:p>
        </p:txBody>
      </p:sp>
      <p:sp>
        <p:nvSpPr>
          <p:cNvPr id="16" name="bullet-190"/>
          <p:cNvSpPr/>
          <p:nvPr/>
        </p:nvSpPr>
        <p:spPr>
          <a:xfrm>
            <a:off x="6537960" y="253288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-191"/>
          <p:cNvSpPr txBox="1"/>
          <p:nvPr/>
        </p:nvSpPr>
        <p:spPr>
          <a:xfrm>
            <a:off x="6812280" y="237744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incident stored as a timeline: alarm → test → repair → result</a:t>
            </a:r>
            <a:endParaRPr lang="en-US" sz="1500" dirty="0"/>
          </a:p>
        </p:txBody>
      </p:sp>
      <p:sp>
        <p:nvSpPr>
          <p:cNvPr id="18" name="bullet-192"/>
          <p:cNvSpPr/>
          <p:nvPr/>
        </p:nvSpPr>
        <p:spPr>
          <a:xfrm>
            <a:off x="6537960" y="317296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-193"/>
          <p:cNvSpPr txBox="1"/>
          <p:nvPr/>
        </p:nvSpPr>
        <p:spPr>
          <a:xfrm>
            <a:off x="6812280" y="301752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Facts carry dates, so ARIA knows what is true today</a:t>
            </a:r>
            <a:endParaRPr lang="en-US" sz="1500" dirty="0"/>
          </a:p>
        </p:txBody>
      </p:sp>
      <p:sp>
        <p:nvSpPr>
          <p:cNvPr id="20" name="bullet-194"/>
          <p:cNvSpPr/>
          <p:nvPr/>
        </p:nvSpPr>
        <p:spPr>
          <a:xfrm>
            <a:off x="6537960" y="381304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-195"/>
          <p:cNvSpPr txBox="1"/>
          <p:nvPr/>
        </p:nvSpPr>
        <p:spPr>
          <a:xfrm>
            <a:off x="6812280" y="365760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Changes are tracked: “bracket ordered, not yet fitted”</a:t>
            </a:r>
            <a:endParaRPr lang="en-US" sz="1500" dirty="0"/>
          </a:p>
        </p:txBody>
      </p:sp>
      <p:sp>
        <p:nvSpPr>
          <p:cNvPr id="22" name="bullet-196"/>
          <p:cNvSpPr/>
          <p:nvPr/>
        </p:nvSpPr>
        <p:spPr>
          <a:xfrm>
            <a:off x="6537960" y="44531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-197"/>
          <p:cNvSpPr txBox="1"/>
          <p:nvPr/>
        </p:nvSpPr>
        <p:spPr>
          <a:xfrm>
            <a:off x="6812280" y="4297680"/>
            <a:ext cx="4617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new fix is added automatically</a:t>
            </a:r>
            <a:endParaRPr lang="en-US" sz="1500" dirty="0"/>
          </a:p>
        </p:txBody>
      </p:sp>
      <p:sp>
        <p:nvSpPr>
          <p:cNvPr id="24" name="card-198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-199"/>
          <p:cNvSpPr txBox="1"/>
          <p:nvPr/>
        </p:nvSpPr>
        <p:spPr>
          <a:xfrm>
            <a:off x="822960" y="5376672"/>
            <a:ext cx="10515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 effect: a new technician on night shift gets the same context as a 20-year veteran — and the knowledge stays when people move 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Proof in real time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happens inside one 30-second call</a:t>
            </a:r>
            <a:endParaRPr lang="en-US" sz="3000" dirty="0"/>
          </a:p>
        </p:txBody>
      </p:sp>
      <p:pic>
        <p:nvPicPr>
          <p:cNvPr id="4" name="image-timeline" descr="C:\Users\Rahul H P\Desktop\hackthon\aria\docs\aria_call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463040"/>
            <a:ext cx="9509760" cy="4398264"/>
          </a:xfrm>
          <a:prstGeom prst="rect">
            <a:avLst/>
          </a:prstGeom>
        </p:spPr>
      </p:pic>
      <p:sp>
        <p:nvSpPr>
          <p:cNvPr id="5" name="text-200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Read left to right: the worker speaks, ARIA hands off the work and says “let me check”, the investigation runs in the background (purple), the worker adds a detail mid-way, and ARIA speaks the verified answer — then safely declines a restart.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Safety and trust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so a plant can trust it</a:t>
            </a:r>
            <a:endParaRPr lang="en-US" sz="3000" dirty="0"/>
          </a:p>
        </p:txBody>
      </p:sp>
      <p:sp>
        <p:nvSpPr>
          <p:cNvPr id="4" name="card-201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dot-202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-203"/>
          <p:cNvSpPr txBox="1"/>
          <p:nvPr/>
        </p:nvSpPr>
        <p:spPr>
          <a:xfrm>
            <a:off x="1417320" y="1719072"/>
            <a:ext cx="32918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 touches the machine</a:t>
            </a:r>
            <a:endParaRPr lang="en-US" sz="1600" dirty="0"/>
          </a:p>
        </p:txBody>
      </p:sp>
      <p:sp>
        <p:nvSpPr>
          <p:cNvPr id="7" name="text-204"/>
          <p:cNvSpPr txBox="1"/>
          <p:nvPr/>
        </p:nvSpPr>
        <p:spPr>
          <a:xfrm>
            <a:off x="4754880" y="1719072"/>
            <a:ext cx="66751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ARIA cannot restart, reset, bypass or move equipment. People do the physical work.</a:t>
            </a:r>
            <a:endParaRPr lang="en-US" sz="1500" dirty="0"/>
          </a:p>
        </p:txBody>
      </p:sp>
      <p:sp>
        <p:nvSpPr>
          <p:cNvPr id="8" name="card-205"/>
          <p:cNvSpPr/>
          <p:nvPr/>
        </p:nvSpPr>
        <p:spPr>
          <a:xfrm>
            <a:off x="548640" y="2542032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dot-206"/>
          <p:cNvSpPr/>
          <p:nvPr/>
        </p:nvSpPr>
        <p:spPr>
          <a:xfrm>
            <a:off x="777240" y="270662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-207"/>
          <p:cNvSpPr txBox="1"/>
          <p:nvPr/>
        </p:nvSpPr>
        <p:spPr>
          <a:xfrm>
            <a:off x="1417320" y="2615184"/>
            <a:ext cx="32918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Only safe tests</a:t>
            </a:r>
            <a:endParaRPr lang="en-US" sz="1600" dirty="0"/>
          </a:p>
        </p:txBody>
      </p:sp>
      <p:sp>
        <p:nvSpPr>
          <p:cNvPr id="11" name="text-208"/>
          <p:cNvSpPr txBox="1"/>
          <p:nvPr/>
        </p:nvSpPr>
        <p:spPr>
          <a:xfrm>
            <a:off x="4754880" y="2615184"/>
            <a:ext cx="66751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Tests that would move equipment are blocked unless conditions allow them.</a:t>
            </a:r>
            <a:endParaRPr lang="en-US" sz="1500" dirty="0"/>
          </a:p>
        </p:txBody>
      </p:sp>
      <p:sp>
        <p:nvSpPr>
          <p:cNvPr id="12" name="card-209"/>
          <p:cNvSpPr/>
          <p:nvPr/>
        </p:nvSpPr>
        <p:spPr>
          <a:xfrm>
            <a:off x="548640" y="343814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dot-210"/>
          <p:cNvSpPr/>
          <p:nvPr/>
        </p:nvSpPr>
        <p:spPr>
          <a:xfrm>
            <a:off x="777240" y="360273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-211"/>
          <p:cNvSpPr txBox="1"/>
          <p:nvPr/>
        </p:nvSpPr>
        <p:spPr>
          <a:xfrm>
            <a:off x="1417320" y="3511296"/>
            <a:ext cx="32918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Evidence, not guesses</a:t>
            </a:r>
            <a:endParaRPr lang="en-US" sz="1600" dirty="0"/>
          </a:p>
        </p:txBody>
      </p:sp>
      <p:sp>
        <p:nvSpPr>
          <p:cNvPr id="15" name="text-212"/>
          <p:cNvSpPr txBox="1"/>
          <p:nvPr/>
        </p:nvSpPr>
        <p:spPr>
          <a:xfrm>
            <a:off x="4754880" y="3511296"/>
            <a:ext cx="66751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cause is backed by real readings; if evidence is unclear, it says so and asks for a technician.</a:t>
            </a:r>
            <a:endParaRPr lang="en-US" sz="1500" dirty="0"/>
          </a:p>
        </p:txBody>
      </p:sp>
      <p:sp>
        <p:nvSpPr>
          <p:cNvPr id="16" name="card-213"/>
          <p:cNvSpPr/>
          <p:nvPr/>
        </p:nvSpPr>
        <p:spPr>
          <a:xfrm>
            <a:off x="548640" y="4334256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dot-214"/>
          <p:cNvSpPr/>
          <p:nvPr/>
        </p:nvSpPr>
        <p:spPr>
          <a:xfrm>
            <a:off x="777240" y="449884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-215"/>
          <p:cNvSpPr txBox="1"/>
          <p:nvPr/>
        </p:nvSpPr>
        <p:spPr>
          <a:xfrm>
            <a:off x="1417320" y="4407408"/>
            <a:ext cx="32918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Checked before spoken</a:t>
            </a:r>
            <a:endParaRPr lang="en-US" sz="1600" dirty="0"/>
          </a:p>
        </p:txBody>
      </p:sp>
      <p:sp>
        <p:nvSpPr>
          <p:cNvPr id="19" name="text-216"/>
          <p:cNvSpPr txBox="1"/>
          <p:nvPr/>
        </p:nvSpPr>
        <p:spPr>
          <a:xfrm>
            <a:off x="4754880" y="4407408"/>
            <a:ext cx="66751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report is written, re-read and verified against the evidence before ARIA says it is done.</a:t>
            </a:r>
            <a:endParaRPr lang="en-US" sz="1500" dirty="0"/>
          </a:p>
        </p:txBody>
      </p:sp>
      <p:sp>
        <p:nvSpPr>
          <p:cNvPr id="20" name="card-217"/>
          <p:cNvSpPr/>
          <p:nvPr/>
        </p:nvSpPr>
        <p:spPr>
          <a:xfrm>
            <a:off x="548640" y="523036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dot-218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-219"/>
          <p:cNvSpPr txBox="1"/>
          <p:nvPr/>
        </p:nvSpPr>
        <p:spPr>
          <a:xfrm>
            <a:off x="141732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Full audit trail</a:t>
            </a:r>
            <a:endParaRPr lang="en-US" sz="1600" dirty="0"/>
          </a:p>
        </p:txBody>
      </p:sp>
      <p:sp>
        <p:nvSpPr>
          <p:cNvPr id="23" name="text-220"/>
          <p:cNvSpPr txBox="1"/>
          <p:nvPr/>
        </p:nvSpPr>
        <p:spPr>
          <a:xfrm>
            <a:off x="4754880" y="5303520"/>
            <a:ext cx="66751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question, check, result and decision is recorded for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Business outcomes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Diagnosis time is downtime. ARIA shrinks it, keeps people safe and keeps the knowledge in the plant.</a:t>
            </a:r>
            <a:endParaRPr lang="en-US" sz="1800" dirty="0"/>
          </a:p>
        </p:txBody>
      </p:sp>
      <p:sp>
        <p:nvSpPr>
          <p:cNvPr id="4" name="card-221"/>
          <p:cNvSpPr/>
          <p:nvPr/>
        </p:nvSpPr>
        <p:spPr>
          <a:xfrm>
            <a:off x="548640" y="26974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dot-222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-223"/>
          <p:cNvSpPr txBox="1"/>
          <p:nvPr/>
        </p:nvSpPr>
        <p:spPr>
          <a:xfrm>
            <a:off x="137160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Faster recovery</a:t>
            </a:r>
            <a:endParaRPr lang="en-US" sz="1800" dirty="0"/>
          </a:p>
        </p:txBody>
      </p:sp>
      <p:sp>
        <p:nvSpPr>
          <p:cNvPr id="7" name="text-224"/>
          <p:cNvSpPr txBox="1"/>
          <p:nvPr/>
        </p:nvSpPr>
        <p:spPr>
          <a:xfrm>
            <a:off x="77724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Shorter time from stop to known cause (MTTR) — the evidence comes to the worker in one call.</a:t>
            </a:r>
            <a:endParaRPr lang="en-US" sz="1350" dirty="0"/>
          </a:p>
        </p:txBody>
      </p:sp>
      <p:sp>
        <p:nvSpPr>
          <p:cNvPr id="8" name="card-225"/>
          <p:cNvSpPr/>
          <p:nvPr/>
        </p:nvSpPr>
        <p:spPr>
          <a:xfrm>
            <a:off x="4297680" y="26974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dot-226"/>
          <p:cNvSpPr/>
          <p:nvPr/>
        </p:nvSpPr>
        <p:spPr>
          <a:xfrm>
            <a:off x="4526280" y="29260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-227"/>
          <p:cNvSpPr txBox="1"/>
          <p:nvPr/>
        </p:nvSpPr>
        <p:spPr>
          <a:xfrm>
            <a:off x="512064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Fewer wasted checks</a:t>
            </a:r>
            <a:endParaRPr lang="en-US" sz="1800" dirty="0"/>
          </a:p>
        </p:txBody>
      </p:sp>
      <p:sp>
        <p:nvSpPr>
          <p:cNvPr id="11" name="text-228"/>
          <p:cNvSpPr txBox="1"/>
          <p:nvPr/>
        </p:nvSpPr>
        <p:spPr>
          <a:xfrm>
            <a:off x="452628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Each test is chosen for what it reveals, so fewer parts are swapped on a hunch.</a:t>
            </a:r>
            <a:endParaRPr lang="en-US" sz="1350" dirty="0"/>
          </a:p>
        </p:txBody>
      </p:sp>
      <p:sp>
        <p:nvSpPr>
          <p:cNvPr id="12" name="card-229"/>
          <p:cNvSpPr/>
          <p:nvPr/>
        </p:nvSpPr>
        <p:spPr>
          <a:xfrm>
            <a:off x="8046720" y="26974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dot-230"/>
          <p:cNvSpPr/>
          <p:nvPr/>
        </p:nvSpPr>
        <p:spPr>
          <a:xfrm>
            <a:off x="8275320" y="2926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-231"/>
          <p:cNvSpPr txBox="1"/>
          <p:nvPr/>
        </p:nvSpPr>
        <p:spPr>
          <a:xfrm>
            <a:off x="886968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Fewer repeat stops</a:t>
            </a:r>
            <a:endParaRPr lang="en-US" sz="1800" dirty="0"/>
          </a:p>
        </p:txBody>
      </p:sp>
      <p:sp>
        <p:nvSpPr>
          <p:cNvPr id="15" name="text-232"/>
          <p:cNvSpPr txBox="1"/>
          <p:nvPr/>
        </p:nvSpPr>
        <p:spPr>
          <a:xfrm>
            <a:off x="827532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Fixing the real cause instead of restarting blindly stops the same alarm coming back.</a:t>
            </a:r>
            <a:endParaRPr lang="en-US" sz="1350" dirty="0"/>
          </a:p>
        </p:txBody>
      </p:sp>
      <p:sp>
        <p:nvSpPr>
          <p:cNvPr id="16" name="card-233"/>
          <p:cNvSpPr/>
          <p:nvPr/>
        </p:nvSpPr>
        <p:spPr>
          <a:xfrm>
            <a:off x="548640" y="45262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dot-234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-235"/>
          <p:cNvSpPr txBox="1"/>
          <p:nvPr/>
        </p:nvSpPr>
        <p:spPr>
          <a:xfrm>
            <a:off x="1371600" y="47091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Safer decisions</a:t>
            </a:r>
            <a:endParaRPr lang="en-US" sz="1800" dirty="0"/>
          </a:p>
        </p:txBody>
      </p:sp>
      <p:sp>
        <p:nvSpPr>
          <p:cNvPr id="19" name="text-236"/>
          <p:cNvSpPr txBox="1"/>
          <p:nvPr/>
        </p:nvSpPr>
        <p:spPr>
          <a:xfrm>
            <a:off x="77724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No risky remote restarts; every recommendation is backed by evidence.</a:t>
            </a:r>
            <a:endParaRPr lang="en-US" sz="1350" dirty="0"/>
          </a:p>
        </p:txBody>
      </p:sp>
      <p:sp>
        <p:nvSpPr>
          <p:cNvPr id="20" name="card-237"/>
          <p:cNvSpPr/>
          <p:nvPr/>
        </p:nvSpPr>
        <p:spPr>
          <a:xfrm>
            <a:off x="4297680" y="45262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dot-238"/>
          <p:cNvSpPr/>
          <p:nvPr/>
        </p:nvSpPr>
        <p:spPr>
          <a:xfrm>
            <a:off x="4526280" y="47548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-239"/>
          <p:cNvSpPr txBox="1"/>
          <p:nvPr/>
        </p:nvSpPr>
        <p:spPr>
          <a:xfrm>
            <a:off x="5120640" y="47091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Experts, scaled</a:t>
            </a:r>
            <a:endParaRPr lang="en-US" sz="1800" dirty="0"/>
          </a:p>
        </p:txBody>
      </p:sp>
      <p:sp>
        <p:nvSpPr>
          <p:cNvPr id="23" name="text-240"/>
          <p:cNvSpPr txBox="1"/>
          <p:nvPr/>
        </p:nvSpPr>
        <p:spPr>
          <a:xfrm>
            <a:off x="452628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Every shift and every new hire gets veteran-level guidance, hands-free.</a:t>
            </a:r>
            <a:endParaRPr lang="en-US" sz="1350" dirty="0"/>
          </a:p>
        </p:txBody>
      </p:sp>
      <p:sp>
        <p:nvSpPr>
          <p:cNvPr id="24" name="card-241"/>
          <p:cNvSpPr/>
          <p:nvPr/>
        </p:nvSpPr>
        <p:spPr>
          <a:xfrm>
            <a:off x="8046720" y="45262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dot-242"/>
          <p:cNvSpPr/>
          <p:nvPr/>
        </p:nvSpPr>
        <p:spPr>
          <a:xfrm>
            <a:off x="8275320" y="475488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-243"/>
          <p:cNvSpPr txBox="1"/>
          <p:nvPr/>
        </p:nvSpPr>
        <p:spPr>
          <a:xfrm>
            <a:off x="8869680" y="4709160"/>
            <a:ext cx="2606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Knowledge that stays</a:t>
            </a:r>
            <a:endParaRPr lang="en-US" sz="1800" dirty="0"/>
          </a:p>
        </p:txBody>
      </p:sp>
      <p:sp>
        <p:nvSpPr>
          <p:cNvPr id="27" name="text-244"/>
          <p:cNvSpPr txBox="1"/>
          <p:nvPr/>
        </p:nvSpPr>
        <p:spPr>
          <a:xfrm>
            <a:off x="827532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Each diagnosis and logged fix makes the next one faster.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Proof and next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prove it, and how a plant starts</a:t>
            </a:r>
            <a:endParaRPr lang="en-US" sz="3000" dirty="0"/>
          </a:p>
        </p:txBody>
      </p:sp>
      <p:sp>
        <p:nvSpPr>
          <p:cNvPr id="4" name="card-24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" name="text-246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we measure</a:t>
            </a:r>
            <a:endParaRPr lang="en-US" sz="2000" dirty="0"/>
          </a:p>
        </p:txBody>
      </p:sp>
      <p:sp>
        <p:nvSpPr>
          <p:cNvPr id="6" name="bullet-247"/>
          <p:cNvSpPr/>
          <p:nvPr/>
        </p:nvSpPr>
        <p:spPr>
          <a:xfrm>
            <a:off x="868680" y="244144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-248"/>
          <p:cNvSpPr txBox="1"/>
          <p:nvPr/>
        </p:nvSpPr>
        <p:spPr>
          <a:xfrm>
            <a:off x="1143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Right cause found (diagnostic accuracy)</a:t>
            </a:r>
            <a:endParaRPr lang="en-US" sz="1500" dirty="0"/>
          </a:p>
        </p:txBody>
      </p:sp>
      <p:sp>
        <p:nvSpPr>
          <p:cNvPr id="8" name="bullet-249"/>
          <p:cNvSpPr/>
          <p:nvPr/>
        </p:nvSpPr>
        <p:spPr>
          <a:xfrm>
            <a:off x="868680" y="295351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-250"/>
          <p:cNvSpPr txBox="1"/>
          <p:nvPr/>
        </p:nvSpPr>
        <p:spPr>
          <a:xfrm>
            <a:off x="1143000" y="2798064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claim backed by evidence</a:t>
            </a:r>
            <a:endParaRPr lang="en-US" sz="1500" dirty="0"/>
          </a:p>
        </p:txBody>
      </p:sp>
      <p:sp>
        <p:nvSpPr>
          <p:cNvPr id="10" name="bullet-251"/>
          <p:cNvSpPr/>
          <p:nvPr/>
        </p:nvSpPr>
        <p:spPr>
          <a:xfrm>
            <a:off x="868680" y="346557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-252"/>
          <p:cNvSpPr txBox="1"/>
          <p:nvPr/>
        </p:nvSpPr>
        <p:spPr>
          <a:xfrm>
            <a:off x="1143000" y="331012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Number of unnecessary tests</a:t>
            </a:r>
            <a:endParaRPr lang="en-US" sz="1500" dirty="0"/>
          </a:p>
        </p:txBody>
      </p:sp>
      <p:sp>
        <p:nvSpPr>
          <p:cNvPr id="12" name="bullet-253"/>
          <p:cNvSpPr/>
          <p:nvPr/>
        </p:nvSpPr>
        <p:spPr>
          <a:xfrm>
            <a:off x="868680" y="397764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-254"/>
          <p:cNvSpPr txBox="1"/>
          <p:nvPr/>
        </p:nvSpPr>
        <p:spPr>
          <a:xfrm>
            <a:off x="1143000" y="3822192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 completed and verified</a:t>
            </a:r>
            <a:endParaRPr lang="en-US" sz="1500" dirty="0"/>
          </a:p>
        </p:txBody>
      </p:sp>
      <p:sp>
        <p:nvSpPr>
          <p:cNvPr id="14" name="bullet-255"/>
          <p:cNvSpPr/>
          <p:nvPr/>
        </p:nvSpPr>
        <p:spPr>
          <a:xfrm>
            <a:off x="868680" y="448970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-256"/>
          <p:cNvSpPr txBox="1"/>
          <p:nvPr/>
        </p:nvSpPr>
        <p:spPr>
          <a:xfrm>
            <a:off x="1143000" y="4334256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Safety: zero unsafe actions</a:t>
            </a:r>
            <a:endParaRPr lang="en-US" sz="1500" dirty="0"/>
          </a:p>
        </p:txBody>
      </p:sp>
      <p:sp>
        <p:nvSpPr>
          <p:cNvPr id="16" name="bullet-257"/>
          <p:cNvSpPr/>
          <p:nvPr/>
        </p:nvSpPr>
        <p:spPr>
          <a:xfrm>
            <a:off x="868680" y="500176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-258"/>
          <p:cNvSpPr txBox="1"/>
          <p:nvPr/>
        </p:nvSpPr>
        <p:spPr>
          <a:xfrm>
            <a:off x="1143000" y="4846320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Time from stop to cause</a:t>
            </a:r>
            <a:endParaRPr lang="en-US" sz="1500" dirty="0"/>
          </a:p>
        </p:txBody>
      </p:sp>
      <p:sp>
        <p:nvSpPr>
          <p:cNvPr id="18" name="text-259"/>
          <p:cNvSpPr txBox="1"/>
          <p:nvPr/>
        </p:nvSpPr>
        <p:spPr>
          <a:xfrm>
            <a:off x="82296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ARIA vs a baseline assistant on the same hidden faults, scored automatically.</a:t>
            </a:r>
            <a:endParaRPr lang="en-US" sz="1250" dirty="0"/>
          </a:p>
        </p:txBody>
      </p:sp>
      <p:sp>
        <p:nvSpPr>
          <p:cNvPr id="19" name="text-260"/>
          <p:cNvSpPr txBox="1"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Pilot on one cell</a:t>
            </a:r>
            <a:endParaRPr lang="en-US" sz="2000" dirty="0"/>
          </a:p>
        </p:txBody>
      </p:sp>
      <p:sp>
        <p:nvSpPr>
          <p:cNvPr id="20" name="card-261"/>
          <p:cNvSpPr/>
          <p:nvPr/>
        </p:nvSpPr>
        <p:spPr>
          <a:xfrm>
            <a:off x="6217920" y="23317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-262"/>
          <p:cNvSpPr txBox="1"/>
          <p:nvPr/>
        </p:nvSpPr>
        <p:spPr>
          <a:xfrm>
            <a:off x="640080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 1</a:t>
            </a:r>
            <a:endParaRPr lang="en-US" sz="1500" dirty="0"/>
          </a:p>
        </p:txBody>
      </p:sp>
      <p:sp>
        <p:nvSpPr>
          <p:cNvPr id="22" name="text-263"/>
          <p:cNvSpPr txBox="1"/>
          <p:nvPr/>
        </p:nvSpPr>
        <p:spPr>
          <a:xfrm>
            <a:off x="7680960" y="2423160"/>
            <a:ext cx="3794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cell's manuals and past incident notes</a:t>
            </a:r>
            <a:endParaRPr lang="en-US" sz="1400" dirty="0"/>
          </a:p>
        </p:txBody>
      </p:sp>
      <p:sp>
        <p:nvSpPr>
          <p:cNvPr id="23" name="card-264"/>
          <p:cNvSpPr/>
          <p:nvPr/>
        </p:nvSpPr>
        <p:spPr>
          <a:xfrm>
            <a:off x="6217920" y="32918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-265"/>
          <p:cNvSpPr txBox="1"/>
          <p:nvPr/>
        </p:nvSpPr>
        <p:spPr>
          <a:xfrm>
            <a:off x="6400800" y="33832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 2</a:t>
            </a:r>
            <a:endParaRPr lang="en-US" sz="1500" dirty="0"/>
          </a:p>
        </p:txBody>
      </p:sp>
      <p:sp>
        <p:nvSpPr>
          <p:cNvPr id="25" name="text-266"/>
          <p:cNvSpPr txBox="1"/>
          <p:nvPr/>
        </p:nvSpPr>
        <p:spPr>
          <a:xfrm>
            <a:off x="7680960" y="3383280"/>
            <a:ext cx="3794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read-only to the PLC alarms and signals and the maintenance system</a:t>
            </a:r>
            <a:endParaRPr lang="en-US" sz="1400" dirty="0"/>
          </a:p>
        </p:txBody>
      </p:sp>
      <p:sp>
        <p:nvSpPr>
          <p:cNvPr id="26" name="card-267"/>
          <p:cNvSpPr/>
          <p:nvPr/>
        </p:nvSpPr>
        <p:spPr>
          <a:xfrm>
            <a:off x="6217920" y="425196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-268"/>
          <p:cNvSpPr txBox="1"/>
          <p:nvPr/>
        </p:nvSpPr>
        <p:spPr>
          <a:xfrm>
            <a:off x="640080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Weeks 3–6</a:t>
            </a:r>
            <a:endParaRPr lang="en-US" sz="1500" dirty="0"/>
          </a:p>
        </p:txBody>
      </p:sp>
      <p:sp>
        <p:nvSpPr>
          <p:cNvPr id="28" name="text-269"/>
          <p:cNvSpPr txBox="1"/>
          <p:nvPr/>
        </p:nvSpPr>
        <p:spPr>
          <a:xfrm>
            <a:off x="7680960" y="4343400"/>
            <a:ext cx="3794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on one cell with the maintenance team, alongside today's process</a:t>
            </a:r>
            <a:endParaRPr lang="en-US" sz="1400" dirty="0"/>
          </a:p>
        </p:txBody>
      </p:sp>
      <p:sp>
        <p:nvSpPr>
          <p:cNvPr id="29" name="card-270"/>
          <p:cNvSpPr/>
          <p:nvPr/>
        </p:nvSpPr>
        <p:spPr>
          <a:xfrm>
            <a:off x="6217920" y="521208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-271"/>
          <p:cNvSpPr txBox="1"/>
          <p:nvPr/>
        </p:nvSpPr>
        <p:spPr>
          <a:xfrm>
            <a:off x="640080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Week 7</a:t>
            </a:r>
            <a:endParaRPr lang="en-US" sz="1500" dirty="0"/>
          </a:p>
        </p:txBody>
      </p:sp>
      <p:sp>
        <p:nvSpPr>
          <p:cNvPr id="31" name="text-272"/>
          <p:cNvSpPr txBox="1"/>
          <p:nvPr/>
        </p:nvSpPr>
        <p:spPr>
          <a:xfrm>
            <a:off x="7680960" y="5303520"/>
            <a:ext cx="3794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time-to-cause, repeat stops and wasted tests against the baseline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IA">
  <a:themeElements>
    <a:clrScheme name="ARIA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7C3AED"/>
      </a:accent1>
      <a:accent2>
        <a:srgbClr val="2563EB"/>
      </a:accent2>
      <a:accent3>
        <a:srgbClr val="F59E0B"/>
      </a:accent3>
      <a:accent4>
        <a:srgbClr val="10B981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the voice copilot that gets stopped lines running sooner</dc:title>
  <dc:subject>PptxGenJS Presentation</dc:subject>
  <dc:creator>ARIA team</dc:creator>
  <cp:lastModifiedBy>ARIA team</cp:lastModifiedBy>
  <cp:revision>1</cp:revision>
  <dcterms:created xsi:type="dcterms:W3CDTF">2026-10-16T00:59:38Z</dcterms:created>
  <dcterms:modified xsi:type="dcterms:W3CDTF">2026-10-16T00:59:38Z</dcterms:modified>
</cp:coreProperties>
</file>